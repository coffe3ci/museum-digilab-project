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e" id="{D40EE416-FE64-89AC-879D-BFD081F2BB7C}">
          <p14:sldIdLst>
            <p14:sldId id="256"/>
            <p14:sldId id="257"/>
            <p14:sldId id="258"/>
          </p14:sldIdLst>
        </p14:section>
        <p14:section name="Demo" id="{56DE84DB-A704-BD20-69DE-FA0B679624A3}">
          <p14:sldIdLst>
            <p14:sldId id="259"/>
            <p14:sldId id="260"/>
          </p14:sldIdLst>
        </p14:section>
        <p14:section name="Afgelopen 10 weken" id="{8B2BC0AB-822C-F91B-3AA4-1CDA72D2133A}">
          <p14:sldIdLst>
            <p14:sldId id="261"/>
            <p14:sldId id="262"/>
            <p14:sldId id="263"/>
            <p14:sldId id="264"/>
          </p14:sldIdLst>
        </p14:section>
        <p14:section name="Wat we geleerd" id="{C9AC60EA-D348-0AEA-8E7B-B3EA0A4560F8}">
          <p14:sldIdLst>
            <p14:sldId id="265"/>
          </p14:sldIdLst>
        </p14:section>
        <p14:section name="Samenwerking" id="{7DE2CCC7-F5C6-EE79-1482-AE5C7A71BFB5}">
          <p14:sldIdLst>
            <p14:sldId id="266"/>
          </p14:sldIdLst>
        </p14:section>
        <p14:section name="Vragen aan het museum" id="{6CD6AC64-98F6-B19D-5686-B78BB97554E6}">
          <p14:sldIdLst>
            <p14:sldId id="267"/>
          </p14:sldIdLst>
        </p14:section>
        <p14:section name="Afsluiting" id="{766B7C05-1A09-8F94-658D-F6FE4914865B}">
          <p14:sldIdLst>
            <p14:sldId id="268"/>
          </p14:sldIdLst>
        </p14:section>
        <p14:section name="Reserve" id="{26468304-507E-D7AD-4BD7-B8515D02E4D2}">
          <p14:sldIdLst>
            <p14:sldId id="269"/>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8C0C23-3370-420D-B1A5-8376C0FD1B60}" v="19" dt="2026-10-30T12:34:20.0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fuk Durmus" userId="7d441b5d4635a11d" providerId="LiveId" clId="{79795152-2496-42A6-A717-B62A21BD09D0}"/>
    <pc:docChg chg="modSld">
      <pc:chgData name="Ufuk Durmus" userId="7d441b5d4635a11d" providerId="LiveId" clId="{79795152-2496-42A6-A717-B62A21BD09D0}" dt="2026-10-30T12:34:20.009" v="18"/>
      <pc:docMkLst>
        <pc:docMk/>
      </pc:docMkLst>
      <pc:sldChg chg="modTransition">
        <pc:chgData name="Ufuk Durmus" userId="7d441b5d4635a11d" providerId="LiveId" clId="{79795152-2496-42A6-A717-B62A21BD09D0}" dt="2026-10-30T12:32:53.813" v="1"/>
        <pc:sldMkLst>
          <pc:docMk/>
          <pc:sldMk cId="0" sldId="256"/>
        </pc:sldMkLst>
      </pc:sldChg>
      <pc:sldChg chg="modTransition">
        <pc:chgData name="Ufuk Durmus" userId="7d441b5d4635a11d" providerId="LiveId" clId="{79795152-2496-42A6-A717-B62A21BD09D0}" dt="2026-10-30T12:32:55.513" v="2"/>
        <pc:sldMkLst>
          <pc:docMk/>
          <pc:sldMk cId="0" sldId="257"/>
        </pc:sldMkLst>
      </pc:sldChg>
      <pc:sldChg chg="modTransition">
        <pc:chgData name="Ufuk Durmus" userId="7d441b5d4635a11d" providerId="LiveId" clId="{79795152-2496-42A6-A717-B62A21BD09D0}" dt="2026-10-30T12:33:00.382" v="3"/>
        <pc:sldMkLst>
          <pc:docMk/>
          <pc:sldMk cId="0" sldId="258"/>
        </pc:sldMkLst>
      </pc:sldChg>
      <pc:sldChg chg="modTransition">
        <pc:chgData name="Ufuk Durmus" userId="7d441b5d4635a11d" providerId="LiveId" clId="{79795152-2496-42A6-A717-B62A21BD09D0}" dt="2026-10-30T12:33:04.825" v="4"/>
        <pc:sldMkLst>
          <pc:docMk/>
          <pc:sldMk cId="0" sldId="259"/>
        </pc:sldMkLst>
      </pc:sldChg>
      <pc:sldChg chg="modTransition">
        <pc:chgData name="Ufuk Durmus" userId="7d441b5d4635a11d" providerId="LiveId" clId="{79795152-2496-42A6-A717-B62A21BD09D0}" dt="2026-10-30T12:33:10.469" v="5"/>
        <pc:sldMkLst>
          <pc:docMk/>
          <pc:sldMk cId="0" sldId="260"/>
        </pc:sldMkLst>
      </pc:sldChg>
      <pc:sldChg chg="modTransition">
        <pc:chgData name="Ufuk Durmus" userId="7d441b5d4635a11d" providerId="LiveId" clId="{79795152-2496-42A6-A717-B62A21BD09D0}" dt="2026-10-30T12:33:14.886" v="6"/>
        <pc:sldMkLst>
          <pc:docMk/>
          <pc:sldMk cId="0" sldId="261"/>
        </pc:sldMkLst>
      </pc:sldChg>
      <pc:sldChg chg="modTransition">
        <pc:chgData name="Ufuk Durmus" userId="7d441b5d4635a11d" providerId="LiveId" clId="{79795152-2496-42A6-A717-B62A21BD09D0}" dt="2026-10-30T12:33:19.661" v="7"/>
        <pc:sldMkLst>
          <pc:docMk/>
          <pc:sldMk cId="0" sldId="262"/>
        </pc:sldMkLst>
      </pc:sldChg>
      <pc:sldChg chg="modTransition">
        <pc:chgData name="Ufuk Durmus" userId="7d441b5d4635a11d" providerId="LiveId" clId="{79795152-2496-42A6-A717-B62A21BD09D0}" dt="2026-10-30T12:33:27.053" v="8"/>
        <pc:sldMkLst>
          <pc:docMk/>
          <pc:sldMk cId="0" sldId="263"/>
        </pc:sldMkLst>
      </pc:sldChg>
      <pc:sldChg chg="modTransition">
        <pc:chgData name="Ufuk Durmus" userId="7d441b5d4635a11d" providerId="LiveId" clId="{79795152-2496-42A6-A717-B62A21BD09D0}" dt="2026-10-30T12:33:32.184" v="9"/>
        <pc:sldMkLst>
          <pc:docMk/>
          <pc:sldMk cId="0" sldId="264"/>
        </pc:sldMkLst>
      </pc:sldChg>
      <pc:sldChg chg="modTransition">
        <pc:chgData name="Ufuk Durmus" userId="7d441b5d4635a11d" providerId="LiveId" clId="{79795152-2496-42A6-A717-B62A21BD09D0}" dt="2026-10-30T12:33:38.472" v="10"/>
        <pc:sldMkLst>
          <pc:docMk/>
          <pc:sldMk cId="0" sldId="265"/>
        </pc:sldMkLst>
      </pc:sldChg>
      <pc:sldChg chg="modTransition">
        <pc:chgData name="Ufuk Durmus" userId="7d441b5d4635a11d" providerId="LiveId" clId="{79795152-2496-42A6-A717-B62A21BD09D0}" dt="2026-10-30T12:33:44.115" v="11"/>
        <pc:sldMkLst>
          <pc:docMk/>
          <pc:sldMk cId="0" sldId="266"/>
        </pc:sldMkLst>
      </pc:sldChg>
      <pc:sldChg chg="modTransition">
        <pc:chgData name="Ufuk Durmus" userId="7d441b5d4635a11d" providerId="LiveId" clId="{79795152-2496-42A6-A717-B62A21BD09D0}" dt="2026-10-30T12:33:49.652" v="12"/>
        <pc:sldMkLst>
          <pc:docMk/>
          <pc:sldMk cId="0" sldId="267"/>
        </pc:sldMkLst>
      </pc:sldChg>
      <pc:sldChg chg="modTransition">
        <pc:chgData name="Ufuk Durmus" userId="7d441b5d4635a11d" providerId="LiveId" clId="{79795152-2496-42A6-A717-B62A21BD09D0}" dt="2026-10-30T12:33:55.409" v="13"/>
        <pc:sldMkLst>
          <pc:docMk/>
          <pc:sldMk cId="0" sldId="268"/>
        </pc:sldMkLst>
      </pc:sldChg>
      <pc:sldChg chg="modTransition">
        <pc:chgData name="Ufuk Durmus" userId="7d441b5d4635a11d" providerId="LiveId" clId="{79795152-2496-42A6-A717-B62A21BD09D0}" dt="2026-10-30T12:34:03.006" v="14"/>
        <pc:sldMkLst>
          <pc:docMk/>
          <pc:sldMk cId="0" sldId="269"/>
        </pc:sldMkLst>
      </pc:sldChg>
      <pc:sldChg chg="modTransition">
        <pc:chgData name="Ufuk Durmus" userId="7d441b5d4635a11d" providerId="LiveId" clId="{79795152-2496-42A6-A717-B62A21BD09D0}" dt="2026-10-30T12:34:06.983" v="15"/>
        <pc:sldMkLst>
          <pc:docMk/>
          <pc:sldMk cId="0" sldId="270"/>
        </pc:sldMkLst>
      </pc:sldChg>
      <pc:sldChg chg="modTransition">
        <pc:chgData name="Ufuk Durmus" userId="7d441b5d4635a11d" providerId="LiveId" clId="{79795152-2496-42A6-A717-B62A21BD09D0}" dt="2026-10-30T12:34:10.835" v="16"/>
        <pc:sldMkLst>
          <pc:docMk/>
          <pc:sldMk cId="0" sldId="271"/>
        </pc:sldMkLst>
      </pc:sldChg>
      <pc:sldChg chg="modTransition">
        <pc:chgData name="Ufuk Durmus" userId="7d441b5d4635a11d" providerId="LiveId" clId="{79795152-2496-42A6-A717-B62A21BD09D0}" dt="2026-10-30T12:34:15.373" v="17"/>
        <pc:sldMkLst>
          <pc:docMk/>
          <pc:sldMk cId="0" sldId="272"/>
        </pc:sldMkLst>
      </pc:sldChg>
      <pc:sldChg chg="modTransition">
        <pc:chgData name="Ufuk Durmus" userId="7d441b5d4635a11d" providerId="LiveId" clId="{79795152-2496-42A6-A717-B62A21BD09D0}" dt="2026-10-30T12:34:20.009" v="18"/>
        <pc:sldMkLst>
          <pc:docMk/>
          <pc:sldMk cId="0" sldId="2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5163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Welkom. Wij zijn Efe en Ufuk uit klas TID24D4A. Voor DigiLab hebben we een interactieve app gemaakt voor de objectenwand van Stadsmuseum Veenendaal. De foto's rechts zijn echte objecten uit de collectie die nu in onze app staan.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zijn de vijf onderdelen van vandaag. We beginnen met een demo van de app, daarna vertellen we wat we de afgelopen tien weken gedaan hebben, wat we geleerd hebben, hoe de samenwerking ging, en we sluiten af met vragen aan het museum.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museum gebruikt nu papieren informatie bij de objecten. Bezoekers moeten zelf zoeken en de papieren raken door elkaar. Onze oplossing: één tablet aan de muur waarop je een object kiest en meteen de foto en het verhaal ziet. Rechts zie je het echte overzichtsscherm van onze app.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hier de app live zien; deze screenshots zijn een back-up als de demo niet werkt. Dit zijn echte screenshots van onze app. De bezoeker begint op het startscherm en tikt op 'Bekijk de objecten'. Daarna ziet hij negen objecten per pagina en kan hij bladeren met de paginanummers. Tikt hij op een object, dan opent de detailpagina met foto's en het verhaal.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in de demo zien hoe je met een dubbeltik rechtsboven inlogt en een object toevoegt. Het museum moet zelf objecten kunnen beheren zonder ons. Een medewerker dubbeltikt rechtsboven op een onzichtbare knop en logt in. In het beheerpaneel kun je objecten toevoegen, bewerken en verwijderen. In ons ontwerpdocument stond dit nog als toekomstige uitbreiding, maar we hebben het al gebouwd.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week 1 hebben we contact gezocht met het museum. Daarna hebben we het ontwerpdocument en het moodboard gemaakt en zijn we op 16 september in het museum geweest. Vanaf week 3 hebben we gebouwd: eerst de database en het beheer, op 9 oktober was sprint 1 af. Daarna hebben we de app afgewerkt en nu staan alle 34 objecten erin. In totaal staan er 45 commits op GitHub.</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het moodboard gebruikten we de huisstijl van het museum: turkoois en zwart uit het logo. De warme kleuren komen uit de collectie zelf, zoals veen, wol en sigaren. We lieten zes formats zien en kozen voor format 01: een staand raster met negen objecten per pagina.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Voordat we gingen programmeren hebben we wireframes gemaakt van alle schermen: de startpagina, de objectpagina, het inlogscherm, het beheerscherm en het scherm om een object toe te voegen.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app is gemaakt in Python met het framework Kivy, dat goed werkt met touchscreens. De code is opgedeeld in drie lagen: de frontend met de schermen, de backend die objecten en de inlog beheert, en een SQLite-database met drie tabellen. Tijdens het bouwen gebruikten we dev.py, waarmee wijzigingen in de vormgeving direct zichtbaar worden.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hadden allebei drie leerdoelen. Het eerste, Kivy leren, hebben we behaald: we hadden nog nooit een app met Python gemaakt en nu staat er een werkende app. Aan betere Python-code werken we nog; we hebben de code de afgelopen weken opgeruimd. Systematisch testen met een checklist doen we in de testfase. Lastig was vooral het begin met een nieuw framework. Volgende keer scheiden we de projectbestanden eerder.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hebben de taken duidelijk verdeeld. Efe deed vooral het ontwerpdocument, de database en het beheer; Ufuk de projectstructuur, de objectpagina's en de afwerking. We plannen samen, geven elkaar feedback en vragen elkaar om hulp als we vastlopen. Wat beter kan: het werk nog verzorgder opleveren, feedback sneller toepassen en ons strakker aan afspraken en werktijden houden.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 slot hebben we een paar vragen voor het museum. Hebben jullie nog foto's van de objecten zonder afbeelding, en mogen we die gebruiken? Wanneer kunnen we in het museum testen? En wat vinden jullie er tot nu toe van?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app werkt, maar er zijn nog een paar stappen voordat hij aan de wand hangt: de laatste teksten en foto's toevoegen, testen op een Android-tablet en met echte bezoekers, en de inlog beter beveiligen. Dit is een tussentijdse presentatie; de oplevering is op 4 december. Bedankt voor jullie aandacht. Zijn er vragen?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Deze slides laten we alleen zien als er vragen over komen.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app is voor alle bezoekers: jongeren, volwassenen, ouderen en gezinnen. Omdat iedereen andere digitale vaardigheden heeft, moeten de knoppen groot zijn, de tekst goed leesbaar en moet je de app zonder uitleg kunnen gebruiken.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 de detailpagina staat de hoofdfoto in een lijst, net als een schilderij in het museum. Objecten kunnen extra foto's hebben, die naast de tekst staan. De beheerder kan het formaat van de hoofdfoto kiezen: klein, normaal, groot of origineel. Met de terugknop ga je terug naar het overzicht.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het diagram voor de bezoeker: van het startscherm naar de objectenlijst, een object kiezen, de informatie bekijken en terug. Rechts het diagram voor de beheerder: inloggen, als dat lukt een actie kiezen, toevoegen, bewerken of verwijderen, opslaan en terug naar het startscherm.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 staan nu 34 objecten in de database, van een kaart uit 1705 tot de collectie van de Canadese piloot Wakeman. Er zijn 46 foto's gekoppeld en 33 objecten hebben al een eigen tekst. Alleen bij het Treintje van de oorlogswand staat nog tijdelijke tekst.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houd">
    <p:bg>
      <p:bgPr>
        <a:solidFill>
          <a:srgbClr val="EFE8DC"/>
        </a:solidFill>
        <a:effectLst/>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chemeClr val="accent4"/>
                </a:solidFill>
                <a:latin typeface="Calibri" pitchFamily="34" charset="0"/>
                <a:ea typeface="Calibri" pitchFamily="34" charset="-122"/>
                <a:cs typeface="Calibri" pitchFamily="34" charset="-120"/>
              </a:rPr>
              <a:t>Stadsmuseum Veenendaal · DigiLab</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5D52"/>
                </a:solidFill>
                <a:latin typeface="Calibri"/>
                <a:ea typeface="Calibri"/>
                <a:cs typeface="Calibri"/>
              </a:defRPr>
            </a:lvl1pPr>
          </a:lstStyle>
          <a:p>
            <a:pPr algn="r"/>
            <a:fld id="{F7021451-1387-4CA6-816F-3879F97B5CBC}" type="slidenum">
              <a:rPr lang="en-US" b="0"/>
              <a:t>‹nr.›</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el en inhoud">
    <p:bg>
      <p:bgPr>
        <a:solidFill>
          <a:srgbClr val="EFE8DC"/>
        </a:solidFill>
        <a:effectLst/>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chemeClr val="accent4"/>
                </a:solidFill>
                <a:latin typeface="Calibri" pitchFamily="34" charset="0"/>
                <a:ea typeface="Calibri" pitchFamily="34" charset="-122"/>
                <a:cs typeface="Calibri" pitchFamily="34" charset="-120"/>
              </a:rPr>
              <a:t>Stadsmuseum Veenendaal · DigiLab</a:t>
            </a:r>
            <a:endParaRPr lang="en-US" sz="1000" dirty="0"/>
          </a:p>
        </p:txBody>
      </p:sp>
      <p:sp>
        <p:nvSpPr>
          <p:cNvPr id="3" name="Text 1"/>
          <p:cNvSpPr>
            <a:spLocks noGrp="1"/>
          </p:cNvSpPr>
          <p:nvPr>
            <p:ph type="title" idx="101" hasCustomPrompt="1"/>
          </p:nvPr>
        </p:nvSpPr>
        <p:spPr>
          <a:xfrm>
            <a:off x="548640" y="411480"/>
            <a:ext cx="11091672" cy="777240"/>
          </a:xfrm>
          <a:prstGeom prst="rect">
            <a:avLst/>
          </a:prstGeom>
          <a:noFill/>
          <a:ln/>
        </p:spPr>
        <p:txBody>
          <a:bodyPr wrap="square" rtlCol="0"/>
          <a:lstStyle>
            <a:lvl1pPr marL="0" indent="0" algn="l">
              <a:buNone/>
              <a:defRPr lang="en-US" sz="34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5D52"/>
                </a:solidFill>
                <a:latin typeface="Calibri"/>
                <a:ea typeface="Calibri"/>
                <a:cs typeface="Calibri"/>
              </a:defRPr>
            </a:lvl1pPr>
          </a:lstStyle>
          <a:p>
            <a:pPr algn="r"/>
            <a:fld id="{F7021451-1387-4CA6-816F-3879F97B5CBC}" type="slidenum">
              <a:rPr lang="en-US" b="0"/>
              <a:t>‹nr.›</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nker">
    <p:bg>
      <p:bgPr>
        <a:solidFill>
          <a:srgbClr val="4A3728"/>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5D52"/>
                </a:solidFill>
                <a:latin typeface="Calibri"/>
                <a:ea typeface="Calibri"/>
                <a:cs typeface="Calibri"/>
              </a:defRPr>
            </a:lvl1pPr>
          </a:lstStyle>
          <a:p>
            <a:pPr algn="r"/>
            <a:fld id="{F7021451-1387-4CA6-816F-3879F97B5CBC}" type="slidenum">
              <a:rPr lang="en-US" b="0"/>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4.jpe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jpe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6.jpe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42.png"/><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23.png"/><Relationship Id="rId7"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7.png"/><Relationship Id="rId7" Type="http://schemas.openxmlformats.org/officeDocument/2006/relationships/image" Target="../media/image50.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49.png"/><Relationship Id="rId5" Type="http://schemas.openxmlformats.org/officeDocument/2006/relationships/image" Target="../media/image48.png"/><Relationship Id="rId10" Type="http://schemas.openxmlformats.org/officeDocument/2006/relationships/image" Target="../media/image53.jpeg"/><Relationship Id="rId4" Type="http://schemas.openxmlformats.org/officeDocument/2006/relationships/image" Target="../media/image40.png"/><Relationship Id="rId9" Type="http://schemas.openxmlformats.org/officeDocument/2006/relationships/image" Target="../media/image52.png"/></Relationships>
</file>

<file path=ppt/slides/_rels/slide16.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jpeg"/><Relationship Id="rId7" Type="http://schemas.openxmlformats.org/officeDocument/2006/relationships/image" Target="../media/image58.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jpeg"/></Relationships>
</file>

<file path=ppt/slides/_rels/slide1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61.png"/></Relationships>
</file>

<file path=ppt/slides/_rels/slide18.xml.rels><?xml version="1.0" encoding="UTF-8" standalone="yes"?>
<Relationships xmlns="http://schemas.openxmlformats.org/package/2006/relationships"><Relationship Id="rId8" Type="http://schemas.openxmlformats.org/officeDocument/2006/relationships/image" Target="../media/image67.jpeg"/><Relationship Id="rId3" Type="http://schemas.openxmlformats.org/officeDocument/2006/relationships/image" Target="../media/image62.jpeg"/><Relationship Id="rId7" Type="http://schemas.openxmlformats.org/officeDocument/2006/relationships/image" Target="../media/image66.jpe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65.jpeg"/><Relationship Id="rId5" Type="http://schemas.openxmlformats.org/officeDocument/2006/relationships/image" Target="../media/image64.jpeg"/><Relationship Id="rId10" Type="http://schemas.openxmlformats.org/officeDocument/2006/relationships/image" Target="../media/image69.jpeg"/><Relationship Id="rId4" Type="http://schemas.openxmlformats.org/officeDocument/2006/relationships/image" Target="../media/image63.jpeg"/><Relationship Id="rId9" Type="http://schemas.openxmlformats.org/officeDocument/2006/relationships/image" Target="../media/image68.jpe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914400"/>
            <a:ext cx="5943600" cy="274320"/>
          </a:xfrm>
          <a:prstGeom prst="rect">
            <a:avLst/>
          </a:prstGeom>
          <a:noFill/>
          <a:ln/>
        </p:spPr>
        <p:txBody>
          <a:bodyPr wrap="square" lIns="0" tIns="0" rIns="0" bIns="0" rtlCol="0" anchor="t"/>
          <a:lstStyle/>
          <a:p>
            <a:pPr marL="0" indent="0">
              <a:buNone/>
            </a:pPr>
            <a:r>
              <a:rPr lang="en-US" sz="1100" b="1" kern="0" spc="200" dirty="0">
                <a:solidFill>
                  <a:srgbClr val="C9A66B"/>
                </a:solidFill>
                <a:latin typeface="Calibri" pitchFamily="34" charset="0"/>
                <a:ea typeface="Calibri" pitchFamily="34" charset="-122"/>
                <a:cs typeface="Calibri" pitchFamily="34" charset="-120"/>
              </a:rPr>
              <a:t>DIGILAB  ·  TID24D4A  ·  TUSSENTIJDSE PRESENTATIE  ·  4 NOVEMBER</a:t>
            </a:r>
            <a:endParaRPr lang="en-US" sz="1100" dirty="0"/>
          </a:p>
        </p:txBody>
      </p:sp>
      <p:sp>
        <p:nvSpPr>
          <p:cNvPr id="3" name="Text 1"/>
          <p:cNvSpPr txBox="1"/>
          <p:nvPr/>
        </p:nvSpPr>
        <p:spPr>
          <a:xfrm>
            <a:off x="640080" y="1325880"/>
            <a:ext cx="5669280" cy="1737360"/>
          </a:xfrm>
          <a:prstGeom prst="rect">
            <a:avLst/>
          </a:prstGeom>
          <a:noFill/>
          <a:ln/>
        </p:spPr>
        <p:txBody>
          <a:bodyPr wrap="square" lIns="0" tIns="0" rIns="0" bIns="0" rtlCol="0" anchor="t"/>
          <a:lstStyle/>
          <a:p>
            <a:pPr marL="0" indent="0">
              <a:buNone/>
            </a:pPr>
            <a:r>
              <a:rPr lang="en-US" sz="4800" b="1" dirty="0">
                <a:solidFill>
                  <a:schemeClr val="bg1"/>
                </a:solidFill>
                <a:latin typeface="Cambria" pitchFamily="34" charset="0"/>
                <a:ea typeface="Cambria" pitchFamily="34" charset="-122"/>
                <a:cs typeface="Cambria" pitchFamily="34" charset="-120"/>
              </a:rPr>
              <a:t>Interactieve objectenwand</a:t>
            </a:r>
            <a:endParaRPr lang="en-US" sz="4800" dirty="0"/>
          </a:p>
        </p:txBody>
      </p:sp>
      <p:sp>
        <p:nvSpPr>
          <p:cNvPr id="4" name="Text 2"/>
          <p:cNvSpPr txBox="1"/>
          <p:nvPr/>
        </p:nvSpPr>
        <p:spPr>
          <a:xfrm>
            <a:off x="640080" y="3154680"/>
            <a:ext cx="5303520" cy="822960"/>
          </a:xfrm>
          <a:prstGeom prst="rect">
            <a:avLst/>
          </a:prstGeom>
          <a:noFill/>
          <a:ln/>
        </p:spPr>
        <p:txBody>
          <a:bodyPr wrap="square" lIns="0" tIns="0" rIns="0" bIns="0" rtlCol="0" anchor="t"/>
          <a:lstStyle/>
          <a:p>
            <a:pPr marL="0" indent="0">
              <a:buNone/>
            </a:pPr>
            <a:r>
              <a:rPr lang="en-US" sz="1800" dirty="0">
                <a:solidFill>
                  <a:schemeClr val="bg2"/>
                </a:solidFill>
                <a:latin typeface="Calibri" pitchFamily="34" charset="0"/>
                <a:ea typeface="Calibri" pitchFamily="34" charset="-122"/>
                <a:cs typeface="Calibri" pitchFamily="34" charset="-120"/>
              </a:rPr>
              <a:t>Een tablet-app die de verhalen achter de objecten van Stadsmuseum Veenendaal vertelt</a:t>
            </a:r>
            <a:endParaRPr lang="en-US" sz="1800" dirty="0"/>
          </a:p>
        </p:txBody>
      </p:sp>
      <p:sp>
        <p:nvSpPr>
          <p:cNvPr id="5" name="Text 3"/>
          <p:cNvSpPr txBox="1"/>
          <p:nvPr/>
        </p:nvSpPr>
        <p:spPr>
          <a:xfrm>
            <a:off x="640080" y="4160520"/>
            <a:ext cx="5303520" cy="365760"/>
          </a:xfrm>
          <a:prstGeom prst="rect">
            <a:avLst/>
          </a:prstGeom>
          <a:noFill/>
          <a:ln/>
        </p:spPr>
        <p:txBody>
          <a:bodyPr wrap="square" lIns="0" tIns="0" rIns="0" bIns="0" rtlCol="0" anchor="t"/>
          <a:lstStyle/>
          <a:p>
            <a:pPr marL="0" indent="0">
              <a:buNone/>
            </a:pPr>
            <a:r>
              <a:rPr lang="en-US" sz="1600" b="1" dirty="0">
                <a:solidFill>
                  <a:schemeClr val="bg1"/>
                </a:solidFill>
                <a:latin typeface="Calibri" pitchFamily="34" charset="0"/>
                <a:ea typeface="Calibri" pitchFamily="34" charset="-122"/>
                <a:cs typeface="Calibri" pitchFamily="34" charset="-120"/>
              </a:rPr>
              <a:t>Efe Kahveci &amp; Ufuk Durmus</a:t>
            </a:r>
            <a:endParaRPr lang="en-US" sz="1600" dirty="0"/>
          </a:p>
        </p:txBody>
      </p:sp>
      <p:sp>
        <p:nvSpPr>
          <p:cNvPr id="6" name="Logo kaart"/>
          <p:cNvSpPr/>
          <p:nvPr/>
        </p:nvSpPr>
        <p:spPr>
          <a:xfrm>
            <a:off x="640080" y="4983480"/>
            <a:ext cx="3291840" cy="1097280"/>
          </a:xfrm>
          <a:prstGeom prst="rect">
            <a:avLst/>
          </a:prstGeom>
          <a:solidFill>
            <a:schemeClr val="bg1"/>
          </a:solidFill>
          <a:ln/>
        </p:spPr>
        <p:txBody>
          <a:bodyPr/>
          <a:lstStyle/>
          <a:p>
            <a:endParaRPr lang="nl-NL"/>
          </a:p>
        </p:txBody>
      </p:sp>
      <p:pic>
        <p:nvPicPr>
          <p:cNvPr id="7" name="Logo" descr="Logo Stadsmuseum Veenendaal"/>
          <p:cNvPicPr>
            <a:picLocks noChangeAspect="1"/>
          </p:cNvPicPr>
          <p:nvPr/>
        </p:nvPicPr>
        <p:blipFill>
          <a:blip r:embed="rId3"/>
          <a:stretch>
            <a:fillRect/>
          </a:stretch>
        </p:blipFill>
        <p:spPr>
          <a:xfrm>
            <a:off x="822960" y="5129784"/>
            <a:ext cx="2926080" cy="804672"/>
          </a:xfrm>
          <a:prstGeom prst="rect">
            <a:avLst/>
          </a:prstGeom>
        </p:spPr>
      </p:pic>
      <p:sp>
        <p:nvSpPr>
          <p:cNvPr id="8" name="Spaanse kanonskogel lijst"/>
          <p:cNvSpPr/>
          <p:nvPr/>
        </p:nvSpPr>
        <p:spPr>
          <a:xfrm>
            <a:off x="6766560" y="731520"/>
            <a:ext cx="2377440" cy="237744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9" name="Spaanse kanonskogel" descr="Spaanse kanonskogel"/>
          <p:cNvPicPr>
            <a:picLocks noChangeAspect="1"/>
          </p:cNvPicPr>
          <p:nvPr/>
        </p:nvPicPr>
        <p:blipFill>
          <a:blip r:embed="rId4"/>
          <a:stretch>
            <a:fillRect/>
          </a:stretch>
        </p:blipFill>
        <p:spPr>
          <a:xfrm>
            <a:off x="6839712" y="804672"/>
            <a:ext cx="2231136" cy="2231136"/>
          </a:xfrm>
          <a:prstGeom prst="rect">
            <a:avLst/>
          </a:prstGeom>
        </p:spPr>
      </p:pic>
      <p:sp>
        <p:nvSpPr>
          <p:cNvPr id="10" name="Kruis op de Berg lijst"/>
          <p:cNvSpPr/>
          <p:nvPr/>
        </p:nvSpPr>
        <p:spPr>
          <a:xfrm>
            <a:off x="9326880" y="731520"/>
            <a:ext cx="2377440" cy="237744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11" name="Kruis op de Berg" descr="Foto uit de collectie Kruis op de Berg"/>
          <p:cNvPicPr>
            <a:picLocks noChangeAspect="1"/>
          </p:cNvPicPr>
          <p:nvPr/>
        </p:nvPicPr>
        <p:blipFill>
          <a:blip r:embed="rId5"/>
          <a:stretch>
            <a:fillRect/>
          </a:stretch>
        </p:blipFill>
        <p:spPr>
          <a:xfrm>
            <a:off x="9400032" y="804672"/>
            <a:ext cx="2231136" cy="2231136"/>
          </a:xfrm>
          <a:prstGeom prst="rect">
            <a:avLst/>
          </a:prstGeom>
        </p:spPr>
      </p:pic>
      <p:sp>
        <p:nvSpPr>
          <p:cNvPr id="12" name="Soldatenkist lijst"/>
          <p:cNvSpPr/>
          <p:nvPr/>
        </p:nvSpPr>
        <p:spPr>
          <a:xfrm>
            <a:off x="6766560" y="3291840"/>
            <a:ext cx="2377440" cy="237744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13" name="Soldatenkist" descr="Soldatenkist van Willem de Kaste"/>
          <p:cNvPicPr>
            <a:picLocks noChangeAspect="1"/>
          </p:cNvPicPr>
          <p:nvPr/>
        </p:nvPicPr>
        <p:blipFill>
          <a:blip r:embed="rId6"/>
          <a:stretch>
            <a:fillRect/>
          </a:stretch>
        </p:blipFill>
        <p:spPr>
          <a:xfrm>
            <a:off x="6839712" y="3364992"/>
            <a:ext cx="2231136" cy="2231136"/>
          </a:xfrm>
          <a:prstGeom prst="rect">
            <a:avLst/>
          </a:prstGeom>
        </p:spPr>
      </p:pic>
      <p:sp>
        <p:nvSpPr>
          <p:cNvPr id="14" name="Grebbelinie lijst"/>
          <p:cNvSpPr/>
          <p:nvPr/>
        </p:nvSpPr>
        <p:spPr>
          <a:xfrm>
            <a:off x="9326880" y="3291840"/>
            <a:ext cx="2377440" cy="237744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15" name="Grebbelinie" descr="Verwoeste kerk, mei 1940"/>
          <p:cNvPicPr>
            <a:picLocks noChangeAspect="1"/>
          </p:cNvPicPr>
          <p:nvPr/>
        </p:nvPicPr>
        <p:blipFill>
          <a:blip r:embed="rId7"/>
          <a:stretch>
            <a:fillRect/>
          </a:stretch>
        </p:blipFill>
        <p:spPr>
          <a:xfrm>
            <a:off x="9400032" y="3364992"/>
            <a:ext cx="2231136" cy="22311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latin typeface="Calibri" pitchFamily="34" charset="0"/>
                <a:ea typeface="Calibri" pitchFamily="34" charset="-122"/>
                <a:cs typeface="Calibri" pitchFamily="34" charset="-120"/>
              </a:rPr>
              <a:t>AGENDA</a:t>
            </a:r>
            <a:endParaRPr lang="en-US" sz="1100" dirty="0"/>
          </a:p>
        </p:txBody>
      </p:sp>
      <p:sp>
        <p:nvSpPr>
          <p:cNvPr id="3" name="Text 1"/>
          <p:cNvSpPr>
            <a:spLocks noGrp="1"/>
          </p:cNvSpPr>
          <p:nvPr>
            <p:ph type="title" idx="101" hasCustomPrompt="1"/>
          </p:nvPr>
        </p:nvSpPr>
        <p:spPr>
          <a:xfrm>
            <a:off x="548640" y="411480"/>
            <a:ext cx="11091672"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Wat we vandaag laten zien</a:t>
            </a:r>
            <a:endParaRPr lang="en-US" sz="3400" dirty="0"/>
          </a:p>
        </p:txBody>
      </p:sp>
      <p:sp>
        <p:nvSpPr>
          <p:cNvPr id="4" name="Kaart"/>
          <p:cNvSpPr/>
          <p:nvPr/>
        </p:nvSpPr>
        <p:spPr>
          <a:xfrm>
            <a:off x="548640" y="1417320"/>
            <a:ext cx="7040880" cy="749808"/>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5" name="Text 3"/>
          <p:cNvSpPr txBox="1"/>
          <p:nvPr/>
        </p:nvSpPr>
        <p:spPr>
          <a:xfrm>
            <a:off x="731520" y="1517904"/>
            <a:ext cx="457200" cy="548640"/>
          </a:xfrm>
          <a:prstGeom prst="rect">
            <a:avLst/>
          </a:prstGeom>
          <a:noFill/>
          <a:ln/>
        </p:spPr>
        <p:txBody>
          <a:bodyPr wrap="square" lIns="0" tIns="0" rIns="0" bIns="0" rtlCol="0" anchor="ctr"/>
          <a:lstStyle/>
          <a:p>
            <a:pPr marL="0" indent="0">
              <a:buNone/>
            </a:pPr>
            <a:r>
              <a:rPr lang="en-US" sz="2800" b="1" dirty="0">
                <a:solidFill>
                  <a:schemeClr val="accent3"/>
                </a:solidFill>
                <a:latin typeface="Cambria" pitchFamily="34" charset="0"/>
                <a:ea typeface="Cambria" pitchFamily="34" charset="-122"/>
                <a:cs typeface="Cambria" pitchFamily="34" charset="-120"/>
              </a:rPr>
              <a:t>1</a:t>
            </a:r>
            <a:endParaRPr lang="en-US" sz="2800" dirty="0"/>
          </a:p>
        </p:txBody>
      </p:sp>
      <p:sp>
        <p:nvSpPr>
          <p:cNvPr id="6" name="Icoon FaPlay"/>
          <p:cNvSpPr/>
          <p:nvPr/>
        </p:nvSpPr>
        <p:spPr>
          <a:xfrm>
            <a:off x="1234440" y="1536192"/>
            <a:ext cx="512064" cy="512064"/>
          </a:xfrm>
          <a:prstGeom prst="ellipse">
            <a:avLst/>
          </a:prstGeom>
          <a:solidFill>
            <a:schemeClr val="accent2"/>
          </a:solidFill>
          <a:ln/>
        </p:spPr>
        <p:txBody>
          <a:bodyPr/>
          <a:lstStyle/>
          <a:p>
            <a:endParaRPr lang="nl-NL"/>
          </a:p>
        </p:txBody>
      </p:sp>
      <p:pic>
        <p:nvPicPr>
          <p:cNvPr id="7" name="Icoon FaPlay beeld" descr="preencoded.png"/>
          <p:cNvPicPr>
            <a:picLocks noChangeAspect="1"/>
          </p:cNvPicPr>
          <p:nvPr/>
        </p:nvPicPr>
        <p:blipFill>
          <a:blip r:embed="rId3"/>
          <a:stretch>
            <a:fillRect/>
          </a:stretch>
        </p:blipFill>
        <p:spPr>
          <a:xfrm>
            <a:off x="1362456" y="1664208"/>
            <a:ext cx="256032" cy="256032"/>
          </a:xfrm>
          <a:prstGeom prst="rect">
            <a:avLst/>
          </a:prstGeom>
        </p:spPr>
      </p:pic>
      <p:sp>
        <p:nvSpPr>
          <p:cNvPr id="8" name="Text 5"/>
          <p:cNvSpPr txBox="1"/>
          <p:nvPr/>
        </p:nvSpPr>
        <p:spPr>
          <a:xfrm>
            <a:off x="1965960" y="1490472"/>
            <a:ext cx="5486400" cy="329184"/>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Demo van de app</a:t>
            </a:r>
            <a:endParaRPr lang="en-US" sz="1700" dirty="0"/>
          </a:p>
        </p:txBody>
      </p:sp>
      <p:sp>
        <p:nvSpPr>
          <p:cNvPr id="9" name="Text 6"/>
          <p:cNvSpPr txBox="1"/>
          <p:nvPr/>
        </p:nvSpPr>
        <p:spPr>
          <a:xfrm>
            <a:off x="1965960" y="1819656"/>
            <a:ext cx="5486400" cy="274320"/>
          </a:xfrm>
          <a:prstGeom prst="rect">
            <a:avLst/>
          </a:prstGeom>
          <a:noFill/>
          <a:ln/>
        </p:spPr>
        <p:txBody>
          <a:bodyPr wrap="square" lIns="0" tIns="0" rIns="0" bIns="0" rtlCol="0" anchor="t"/>
          <a:lstStyle/>
          <a:p>
            <a:pPr marL="0" indent="0">
              <a:buNone/>
            </a:pPr>
            <a:r>
              <a:rPr lang="en-US" sz="1300" dirty="0">
                <a:solidFill>
                  <a:schemeClr val="accent4"/>
                </a:solidFill>
                <a:latin typeface="Calibri" pitchFamily="34" charset="0"/>
                <a:ea typeface="Calibri" pitchFamily="34" charset="-122"/>
                <a:cs typeface="Calibri" pitchFamily="34" charset="-120"/>
              </a:rPr>
              <a:t>Live laten zien hoe bezoekers en het museum de app gebruiken</a:t>
            </a:r>
            <a:endParaRPr lang="en-US" sz="1300" dirty="0"/>
          </a:p>
        </p:txBody>
      </p:sp>
      <p:sp>
        <p:nvSpPr>
          <p:cNvPr id="10" name="Kaart"/>
          <p:cNvSpPr/>
          <p:nvPr/>
        </p:nvSpPr>
        <p:spPr>
          <a:xfrm>
            <a:off x="548640" y="2304288"/>
            <a:ext cx="7040880" cy="749808"/>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11" name="Text 8"/>
          <p:cNvSpPr txBox="1"/>
          <p:nvPr/>
        </p:nvSpPr>
        <p:spPr>
          <a:xfrm>
            <a:off x="731520" y="2404872"/>
            <a:ext cx="457200" cy="548640"/>
          </a:xfrm>
          <a:prstGeom prst="rect">
            <a:avLst/>
          </a:prstGeom>
          <a:noFill/>
          <a:ln/>
        </p:spPr>
        <p:txBody>
          <a:bodyPr wrap="square" lIns="0" tIns="0" rIns="0" bIns="0" rtlCol="0" anchor="ctr"/>
          <a:lstStyle/>
          <a:p>
            <a:pPr marL="0" indent="0">
              <a:buNone/>
            </a:pPr>
            <a:r>
              <a:rPr lang="en-US" sz="2800" b="1" dirty="0">
                <a:solidFill>
                  <a:schemeClr val="accent3"/>
                </a:solidFill>
                <a:latin typeface="Cambria" pitchFamily="34" charset="0"/>
                <a:ea typeface="Cambria" pitchFamily="34" charset="-122"/>
                <a:cs typeface="Cambria" pitchFamily="34" charset="-120"/>
              </a:rPr>
              <a:t>2</a:t>
            </a:r>
            <a:endParaRPr lang="en-US" sz="2800" dirty="0"/>
          </a:p>
        </p:txBody>
      </p:sp>
      <p:sp>
        <p:nvSpPr>
          <p:cNvPr id="12" name="Icoon FaCalendarAlt"/>
          <p:cNvSpPr/>
          <p:nvPr/>
        </p:nvSpPr>
        <p:spPr>
          <a:xfrm>
            <a:off x="1234440" y="2423160"/>
            <a:ext cx="512064" cy="512064"/>
          </a:xfrm>
          <a:prstGeom prst="ellipse">
            <a:avLst/>
          </a:prstGeom>
          <a:solidFill>
            <a:schemeClr val="accent1"/>
          </a:solidFill>
          <a:ln/>
        </p:spPr>
        <p:txBody>
          <a:bodyPr/>
          <a:lstStyle/>
          <a:p>
            <a:endParaRPr lang="nl-NL"/>
          </a:p>
        </p:txBody>
      </p:sp>
      <p:pic>
        <p:nvPicPr>
          <p:cNvPr id="13" name="Icoon FaCalendarAlt beeld" descr="preencoded.png"/>
          <p:cNvPicPr>
            <a:picLocks noChangeAspect="1"/>
          </p:cNvPicPr>
          <p:nvPr/>
        </p:nvPicPr>
        <p:blipFill>
          <a:blip r:embed="rId4"/>
          <a:stretch>
            <a:fillRect/>
          </a:stretch>
        </p:blipFill>
        <p:spPr>
          <a:xfrm>
            <a:off x="1362456" y="2551176"/>
            <a:ext cx="256032" cy="256032"/>
          </a:xfrm>
          <a:prstGeom prst="rect">
            <a:avLst/>
          </a:prstGeom>
        </p:spPr>
      </p:pic>
      <p:sp>
        <p:nvSpPr>
          <p:cNvPr id="14" name="Text 10"/>
          <p:cNvSpPr txBox="1"/>
          <p:nvPr/>
        </p:nvSpPr>
        <p:spPr>
          <a:xfrm>
            <a:off x="1965960" y="2377440"/>
            <a:ext cx="5486400" cy="329184"/>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Wat we in 10 weken gedaan hebben</a:t>
            </a:r>
            <a:endParaRPr lang="en-US" sz="1700" dirty="0"/>
          </a:p>
        </p:txBody>
      </p:sp>
      <p:sp>
        <p:nvSpPr>
          <p:cNvPr id="15" name="Text 11"/>
          <p:cNvSpPr txBox="1"/>
          <p:nvPr/>
        </p:nvSpPr>
        <p:spPr>
          <a:xfrm>
            <a:off x="1965960" y="2706624"/>
            <a:ext cx="5486400" cy="274320"/>
          </a:xfrm>
          <a:prstGeom prst="rect">
            <a:avLst/>
          </a:prstGeom>
          <a:noFill/>
          <a:ln/>
        </p:spPr>
        <p:txBody>
          <a:bodyPr wrap="square" lIns="0" tIns="0" rIns="0" bIns="0" rtlCol="0" anchor="t"/>
          <a:lstStyle/>
          <a:p>
            <a:pPr marL="0" indent="0">
              <a:buNone/>
            </a:pPr>
            <a:r>
              <a:rPr lang="en-US" sz="1300" dirty="0">
                <a:solidFill>
                  <a:schemeClr val="accent4"/>
                </a:solidFill>
                <a:latin typeface="Calibri" pitchFamily="34" charset="0"/>
                <a:ea typeface="Calibri" pitchFamily="34" charset="-122"/>
                <a:cs typeface="Calibri" pitchFamily="34" charset="-120"/>
              </a:rPr>
              <a:t>Van eerste e-mail tot werkende app</a:t>
            </a:r>
            <a:endParaRPr lang="en-US" sz="1300" dirty="0"/>
          </a:p>
        </p:txBody>
      </p:sp>
      <p:sp>
        <p:nvSpPr>
          <p:cNvPr id="16" name="Kaart"/>
          <p:cNvSpPr/>
          <p:nvPr/>
        </p:nvSpPr>
        <p:spPr>
          <a:xfrm>
            <a:off x="548640" y="3191256"/>
            <a:ext cx="7040880" cy="749808"/>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17" name="Text 13"/>
          <p:cNvSpPr txBox="1"/>
          <p:nvPr/>
        </p:nvSpPr>
        <p:spPr>
          <a:xfrm>
            <a:off x="731520" y="3291840"/>
            <a:ext cx="457200" cy="548640"/>
          </a:xfrm>
          <a:prstGeom prst="rect">
            <a:avLst/>
          </a:prstGeom>
          <a:noFill/>
          <a:ln/>
        </p:spPr>
        <p:txBody>
          <a:bodyPr wrap="square" lIns="0" tIns="0" rIns="0" bIns="0" rtlCol="0" anchor="ctr"/>
          <a:lstStyle/>
          <a:p>
            <a:pPr marL="0" indent="0">
              <a:buNone/>
            </a:pPr>
            <a:r>
              <a:rPr lang="en-US" sz="2800" b="1" dirty="0">
                <a:solidFill>
                  <a:schemeClr val="accent3"/>
                </a:solidFill>
                <a:latin typeface="Cambria" pitchFamily="34" charset="0"/>
                <a:ea typeface="Cambria" pitchFamily="34" charset="-122"/>
                <a:cs typeface="Cambria" pitchFamily="34" charset="-120"/>
              </a:rPr>
              <a:t>3</a:t>
            </a:r>
            <a:endParaRPr lang="en-US" sz="2800" dirty="0"/>
          </a:p>
        </p:txBody>
      </p:sp>
      <p:sp>
        <p:nvSpPr>
          <p:cNvPr id="18" name="Icoon FaGraduationCap"/>
          <p:cNvSpPr/>
          <p:nvPr/>
        </p:nvSpPr>
        <p:spPr>
          <a:xfrm>
            <a:off x="1234440" y="3310128"/>
            <a:ext cx="512064" cy="512064"/>
          </a:xfrm>
          <a:prstGeom prst="ellipse">
            <a:avLst/>
          </a:prstGeom>
          <a:solidFill>
            <a:schemeClr val="accent1"/>
          </a:solidFill>
          <a:ln/>
        </p:spPr>
        <p:txBody>
          <a:bodyPr/>
          <a:lstStyle/>
          <a:p>
            <a:endParaRPr lang="nl-NL"/>
          </a:p>
        </p:txBody>
      </p:sp>
      <p:pic>
        <p:nvPicPr>
          <p:cNvPr id="19" name="Icoon FaGraduationCap beeld" descr="preencoded.png"/>
          <p:cNvPicPr>
            <a:picLocks noChangeAspect="1"/>
          </p:cNvPicPr>
          <p:nvPr/>
        </p:nvPicPr>
        <p:blipFill>
          <a:blip r:embed="rId5"/>
          <a:stretch>
            <a:fillRect/>
          </a:stretch>
        </p:blipFill>
        <p:spPr>
          <a:xfrm>
            <a:off x="1362456" y="3438144"/>
            <a:ext cx="256032" cy="256032"/>
          </a:xfrm>
          <a:prstGeom prst="rect">
            <a:avLst/>
          </a:prstGeom>
        </p:spPr>
      </p:pic>
      <p:sp>
        <p:nvSpPr>
          <p:cNvPr id="20" name="Text 15"/>
          <p:cNvSpPr txBox="1"/>
          <p:nvPr/>
        </p:nvSpPr>
        <p:spPr>
          <a:xfrm>
            <a:off x="1965960" y="3264408"/>
            <a:ext cx="5486400" cy="329184"/>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Wat we geleerd hebben</a:t>
            </a:r>
            <a:endParaRPr lang="en-US" sz="1700" dirty="0"/>
          </a:p>
        </p:txBody>
      </p:sp>
      <p:sp>
        <p:nvSpPr>
          <p:cNvPr id="21" name="Text 16"/>
          <p:cNvSpPr txBox="1"/>
          <p:nvPr/>
        </p:nvSpPr>
        <p:spPr>
          <a:xfrm>
            <a:off x="1965960" y="3593592"/>
            <a:ext cx="5486400" cy="274320"/>
          </a:xfrm>
          <a:prstGeom prst="rect">
            <a:avLst/>
          </a:prstGeom>
          <a:noFill/>
          <a:ln/>
        </p:spPr>
        <p:txBody>
          <a:bodyPr wrap="square" lIns="0" tIns="0" rIns="0" bIns="0" rtlCol="0" anchor="t"/>
          <a:lstStyle/>
          <a:p>
            <a:pPr marL="0" indent="0">
              <a:buNone/>
            </a:pPr>
            <a:r>
              <a:rPr lang="en-US" sz="1300" dirty="0">
                <a:solidFill>
                  <a:schemeClr val="accent4"/>
                </a:solidFill>
                <a:latin typeface="Calibri" pitchFamily="34" charset="0"/>
                <a:ea typeface="Calibri" pitchFamily="34" charset="-122"/>
                <a:cs typeface="Calibri" pitchFamily="34" charset="-120"/>
              </a:rPr>
              <a:t>Onze leerdoelen en wat lastig was</a:t>
            </a:r>
            <a:endParaRPr lang="en-US" sz="1300" dirty="0"/>
          </a:p>
        </p:txBody>
      </p:sp>
      <p:sp>
        <p:nvSpPr>
          <p:cNvPr id="22" name="Kaart"/>
          <p:cNvSpPr/>
          <p:nvPr/>
        </p:nvSpPr>
        <p:spPr>
          <a:xfrm>
            <a:off x="548640" y="4078224"/>
            <a:ext cx="7040880" cy="749808"/>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23" name="Text 18"/>
          <p:cNvSpPr txBox="1"/>
          <p:nvPr/>
        </p:nvSpPr>
        <p:spPr>
          <a:xfrm>
            <a:off x="731520" y="4178808"/>
            <a:ext cx="457200" cy="548640"/>
          </a:xfrm>
          <a:prstGeom prst="rect">
            <a:avLst/>
          </a:prstGeom>
          <a:noFill/>
          <a:ln/>
        </p:spPr>
        <p:txBody>
          <a:bodyPr wrap="square" lIns="0" tIns="0" rIns="0" bIns="0" rtlCol="0" anchor="ctr"/>
          <a:lstStyle/>
          <a:p>
            <a:pPr marL="0" indent="0">
              <a:buNone/>
            </a:pPr>
            <a:r>
              <a:rPr lang="en-US" sz="2800" b="1" dirty="0">
                <a:solidFill>
                  <a:schemeClr val="accent3"/>
                </a:solidFill>
                <a:latin typeface="Cambria" pitchFamily="34" charset="0"/>
                <a:ea typeface="Cambria" pitchFamily="34" charset="-122"/>
                <a:cs typeface="Cambria" pitchFamily="34" charset="-120"/>
              </a:rPr>
              <a:t>4</a:t>
            </a:r>
            <a:endParaRPr lang="en-US" sz="2800" dirty="0"/>
          </a:p>
        </p:txBody>
      </p:sp>
      <p:sp>
        <p:nvSpPr>
          <p:cNvPr id="24" name="Icoon FaHandshake"/>
          <p:cNvSpPr/>
          <p:nvPr/>
        </p:nvSpPr>
        <p:spPr>
          <a:xfrm>
            <a:off x="1234440" y="4197096"/>
            <a:ext cx="512064" cy="512064"/>
          </a:xfrm>
          <a:prstGeom prst="ellipse">
            <a:avLst/>
          </a:prstGeom>
          <a:solidFill>
            <a:schemeClr val="accent1"/>
          </a:solidFill>
          <a:ln/>
        </p:spPr>
        <p:txBody>
          <a:bodyPr/>
          <a:lstStyle/>
          <a:p>
            <a:endParaRPr lang="nl-NL"/>
          </a:p>
        </p:txBody>
      </p:sp>
      <p:pic>
        <p:nvPicPr>
          <p:cNvPr id="25" name="Icoon FaHandshake beeld" descr="preencoded.png"/>
          <p:cNvPicPr>
            <a:picLocks noChangeAspect="1"/>
          </p:cNvPicPr>
          <p:nvPr/>
        </p:nvPicPr>
        <p:blipFill>
          <a:blip r:embed="rId6"/>
          <a:stretch>
            <a:fillRect/>
          </a:stretch>
        </p:blipFill>
        <p:spPr>
          <a:xfrm>
            <a:off x="1362456" y="4325112"/>
            <a:ext cx="256032" cy="256032"/>
          </a:xfrm>
          <a:prstGeom prst="rect">
            <a:avLst/>
          </a:prstGeom>
        </p:spPr>
      </p:pic>
      <p:sp>
        <p:nvSpPr>
          <p:cNvPr id="26" name="Text 20"/>
          <p:cNvSpPr txBox="1"/>
          <p:nvPr/>
        </p:nvSpPr>
        <p:spPr>
          <a:xfrm>
            <a:off x="1965960" y="4151376"/>
            <a:ext cx="5486400" cy="329184"/>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Hoe de samenwerking ging</a:t>
            </a:r>
            <a:endParaRPr lang="en-US" sz="1700" dirty="0"/>
          </a:p>
        </p:txBody>
      </p:sp>
      <p:sp>
        <p:nvSpPr>
          <p:cNvPr id="27" name="Text 21"/>
          <p:cNvSpPr txBox="1"/>
          <p:nvPr/>
        </p:nvSpPr>
        <p:spPr>
          <a:xfrm>
            <a:off x="1965960" y="4480560"/>
            <a:ext cx="5486400" cy="274320"/>
          </a:xfrm>
          <a:prstGeom prst="rect">
            <a:avLst/>
          </a:prstGeom>
          <a:noFill/>
          <a:ln/>
        </p:spPr>
        <p:txBody>
          <a:bodyPr wrap="square" lIns="0" tIns="0" rIns="0" bIns="0" rtlCol="0" anchor="t"/>
          <a:lstStyle/>
          <a:p>
            <a:pPr marL="0" indent="0">
              <a:buNone/>
            </a:pPr>
            <a:r>
              <a:rPr lang="en-US" sz="1300" dirty="0">
                <a:solidFill>
                  <a:schemeClr val="accent4"/>
                </a:solidFill>
                <a:latin typeface="Calibri" pitchFamily="34" charset="0"/>
                <a:ea typeface="Calibri" pitchFamily="34" charset="-122"/>
                <a:cs typeface="Calibri" pitchFamily="34" charset="-120"/>
              </a:rPr>
              <a:t>Taakverdeling, wat goed ging en wat beter kan</a:t>
            </a:r>
            <a:endParaRPr lang="en-US" sz="1300" dirty="0"/>
          </a:p>
        </p:txBody>
      </p:sp>
      <p:sp>
        <p:nvSpPr>
          <p:cNvPr id="28" name="Kaart"/>
          <p:cNvSpPr/>
          <p:nvPr/>
        </p:nvSpPr>
        <p:spPr>
          <a:xfrm>
            <a:off x="548640" y="4965192"/>
            <a:ext cx="7040880" cy="749808"/>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29" name="Text 23"/>
          <p:cNvSpPr txBox="1"/>
          <p:nvPr/>
        </p:nvSpPr>
        <p:spPr>
          <a:xfrm>
            <a:off x="731520" y="5065776"/>
            <a:ext cx="457200" cy="548640"/>
          </a:xfrm>
          <a:prstGeom prst="rect">
            <a:avLst/>
          </a:prstGeom>
          <a:noFill/>
          <a:ln/>
        </p:spPr>
        <p:txBody>
          <a:bodyPr wrap="square" lIns="0" tIns="0" rIns="0" bIns="0" rtlCol="0" anchor="ctr"/>
          <a:lstStyle/>
          <a:p>
            <a:pPr marL="0" indent="0">
              <a:buNone/>
            </a:pPr>
            <a:r>
              <a:rPr lang="en-US" sz="2800" b="1" dirty="0">
                <a:solidFill>
                  <a:schemeClr val="accent3"/>
                </a:solidFill>
                <a:latin typeface="Cambria" pitchFamily="34" charset="0"/>
                <a:ea typeface="Cambria" pitchFamily="34" charset="-122"/>
                <a:cs typeface="Cambria" pitchFamily="34" charset="-120"/>
              </a:rPr>
              <a:t>5</a:t>
            </a:r>
            <a:endParaRPr lang="en-US" sz="2800" dirty="0"/>
          </a:p>
        </p:txBody>
      </p:sp>
      <p:sp>
        <p:nvSpPr>
          <p:cNvPr id="30" name="Icoon FaQuestion"/>
          <p:cNvSpPr/>
          <p:nvPr/>
        </p:nvSpPr>
        <p:spPr>
          <a:xfrm>
            <a:off x="1234440" y="5084064"/>
            <a:ext cx="512064" cy="512064"/>
          </a:xfrm>
          <a:prstGeom prst="ellipse">
            <a:avLst/>
          </a:prstGeom>
          <a:solidFill>
            <a:schemeClr val="accent1"/>
          </a:solidFill>
          <a:ln/>
        </p:spPr>
        <p:txBody>
          <a:bodyPr/>
          <a:lstStyle/>
          <a:p>
            <a:endParaRPr lang="nl-NL"/>
          </a:p>
        </p:txBody>
      </p:sp>
      <p:pic>
        <p:nvPicPr>
          <p:cNvPr id="31" name="Icoon FaQuestion beeld" descr="preencoded.png"/>
          <p:cNvPicPr>
            <a:picLocks noChangeAspect="1"/>
          </p:cNvPicPr>
          <p:nvPr/>
        </p:nvPicPr>
        <p:blipFill>
          <a:blip r:embed="rId7"/>
          <a:stretch>
            <a:fillRect/>
          </a:stretch>
        </p:blipFill>
        <p:spPr>
          <a:xfrm>
            <a:off x="1362456" y="5212080"/>
            <a:ext cx="256032" cy="256032"/>
          </a:xfrm>
          <a:prstGeom prst="rect">
            <a:avLst/>
          </a:prstGeom>
        </p:spPr>
      </p:pic>
      <p:sp>
        <p:nvSpPr>
          <p:cNvPr id="32" name="Text 25"/>
          <p:cNvSpPr txBox="1"/>
          <p:nvPr/>
        </p:nvSpPr>
        <p:spPr>
          <a:xfrm>
            <a:off x="1965960" y="5038344"/>
            <a:ext cx="5486400" cy="329184"/>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Vragen aan het museum</a:t>
            </a:r>
            <a:endParaRPr lang="en-US" sz="1700" dirty="0"/>
          </a:p>
        </p:txBody>
      </p:sp>
      <p:sp>
        <p:nvSpPr>
          <p:cNvPr id="33" name="Text 26"/>
          <p:cNvSpPr txBox="1"/>
          <p:nvPr/>
        </p:nvSpPr>
        <p:spPr>
          <a:xfrm>
            <a:off x="1965960" y="5367528"/>
            <a:ext cx="5486400" cy="274320"/>
          </a:xfrm>
          <a:prstGeom prst="rect">
            <a:avLst/>
          </a:prstGeom>
          <a:noFill/>
          <a:ln/>
        </p:spPr>
        <p:txBody>
          <a:bodyPr wrap="square" lIns="0" tIns="0" rIns="0" bIns="0" rtlCol="0" anchor="t"/>
          <a:lstStyle/>
          <a:p>
            <a:pPr marL="0" indent="0">
              <a:buNone/>
            </a:pPr>
            <a:r>
              <a:rPr lang="en-US" sz="1300" dirty="0">
                <a:solidFill>
                  <a:schemeClr val="accent4"/>
                </a:solidFill>
                <a:latin typeface="Calibri" pitchFamily="34" charset="0"/>
                <a:ea typeface="Calibri" pitchFamily="34" charset="-122"/>
                <a:cs typeface="Calibri" pitchFamily="34" charset="-120"/>
              </a:rPr>
              <a:t>Wat we nog van jullie nodig hebben</a:t>
            </a:r>
            <a:endParaRPr lang="en-US" sz="1300" dirty="0"/>
          </a:p>
        </p:txBody>
      </p:sp>
      <p:sp>
        <p:nvSpPr>
          <p:cNvPr id="34" name="Text 27"/>
          <p:cNvSpPr txBox="1"/>
          <p:nvPr/>
        </p:nvSpPr>
        <p:spPr>
          <a:xfrm>
            <a:off x="548640" y="5897880"/>
            <a:ext cx="7040880" cy="320040"/>
          </a:xfrm>
          <a:prstGeom prst="rect">
            <a:avLst/>
          </a:prstGeom>
          <a:noFill/>
          <a:ln/>
        </p:spPr>
        <p:txBody>
          <a:bodyPr wrap="square" lIns="0" tIns="0" rIns="0" bIns="0" rtlCol="0" anchor="t"/>
          <a:lstStyle/>
          <a:p>
            <a:pPr marL="0" indent="0">
              <a:buNone/>
            </a:pPr>
            <a:r>
              <a:rPr lang="en-US" sz="1300" i="1" dirty="0">
                <a:solidFill>
                  <a:schemeClr val="accent4"/>
                </a:solidFill>
                <a:latin typeface="Calibri" pitchFamily="34" charset="0"/>
                <a:ea typeface="Calibri" pitchFamily="34" charset="-122"/>
                <a:cs typeface="Calibri" pitchFamily="34" charset="-120"/>
              </a:rPr>
              <a:t>± 15 minuten, daarna is er tijd voor vragen en feedback.</a:t>
            </a:r>
            <a:endParaRPr lang="en-US" sz="1300" dirty="0"/>
          </a:p>
        </p:txBody>
      </p:sp>
      <p:sp>
        <p:nvSpPr>
          <p:cNvPr id="35" name="Collectie Wakeman lijst"/>
          <p:cNvSpPr/>
          <p:nvPr/>
        </p:nvSpPr>
        <p:spPr>
          <a:xfrm>
            <a:off x="8138160" y="1417320"/>
            <a:ext cx="3502152" cy="457200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36" name="Collectie Wakeman" descr="Vitrine met de collectie Harold Wakeman"/>
          <p:cNvPicPr>
            <a:picLocks noChangeAspect="1"/>
          </p:cNvPicPr>
          <p:nvPr/>
        </p:nvPicPr>
        <p:blipFill>
          <a:blip r:embed="rId8"/>
          <a:stretch>
            <a:fillRect/>
          </a:stretch>
        </p:blipFill>
        <p:spPr>
          <a:xfrm>
            <a:off x="8211312" y="1490472"/>
            <a:ext cx="3355848" cy="4425696"/>
          </a:xfrm>
          <a:prstGeom prst="rect">
            <a:avLst/>
          </a:prstGeom>
        </p:spPr>
      </p:pic>
      <p:sp>
        <p:nvSpPr>
          <p:cNvPr id="37" name="Text 29"/>
          <p:cNvSpPr txBox="1"/>
          <p:nvPr/>
        </p:nvSpPr>
        <p:spPr>
          <a:xfrm>
            <a:off x="8138160" y="6035040"/>
            <a:ext cx="3502152" cy="274320"/>
          </a:xfrm>
          <a:prstGeom prst="rect">
            <a:avLst/>
          </a:prstGeom>
          <a:noFill/>
          <a:ln/>
        </p:spPr>
        <p:txBody>
          <a:bodyPr wrap="square" lIns="0" tIns="0" rIns="0" bIns="0" rtlCol="0" anchor="t"/>
          <a:lstStyle/>
          <a:p>
            <a:pPr marL="0" indent="0">
              <a:buNone/>
            </a:pPr>
            <a:r>
              <a:rPr lang="en-US" sz="1000" i="1" dirty="0">
                <a:solidFill>
                  <a:schemeClr val="accent4"/>
                </a:solidFill>
                <a:latin typeface="Calibri" pitchFamily="34" charset="0"/>
                <a:ea typeface="Calibri" pitchFamily="34" charset="-122"/>
                <a:cs typeface="Calibri" pitchFamily="34" charset="-120"/>
              </a:rPr>
              <a:t>Vitrine met de collectie Harold Wakeman</a:t>
            </a:r>
            <a:endParaRPr lang="en-US" sz="1000" dirty="0"/>
          </a:p>
        </p:txBody>
      </p:sp>
      <p:sp>
        <p:nvSpPr>
          <p:cNvPr id="38"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5D52"/>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latin typeface="Calibri" pitchFamily="34" charset="0"/>
                <a:ea typeface="Calibri" pitchFamily="34" charset="-122"/>
                <a:cs typeface="Calibri" pitchFamily="34" charset="-120"/>
              </a:rPr>
              <a:t>HET PROBLEEM</a:t>
            </a:r>
            <a:endParaRPr lang="en-US" sz="1100" dirty="0"/>
          </a:p>
        </p:txBody>
      </p:sp>
      <p:sp>
        <p:nvSpPr>
          <p:cNvPr id="3" name="Text 1"/>
          <p:cNvSpPr>
            <a:spLocks noGrp="1"/>
          </p:cNvSpPr>
          <p:nvPr>
            <p:ph type="title" idx="101" hasCustomPrompt="1"/>
          </p:nvPr>
        </p:nvSpPr>
        <p:spPr>
          <a:xfrm>
            <a:off x="548640" y="411480"/>
            <a:ext cx="11091672"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Losse papieren geven bezoekers weinig overzicht</a:t>
            </a:r>
            <a:endParaRPr lang="en-US" sz="3400" dirty="0"/>
          </a:p>
        </p:txBody>
      </p:sp>
      <p:sp>
        <p:nvSpPr>
          <p:cNvPr id="4" name="Kaart"/>
          <p:cNvSpPr/>
          <p:nvPr/>
        </p:nvSpPr>
        <p:spPr>
          <a:xfrm>
            <a:off x="548640" y="1463040"/>
            <a:ext cx="3611880" cy="320040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5" name="Icoon FaFileAlt"/>
          <p:cNvSpPr/>
          <p:nvPr/>
        </p:nvSpPr>
        <p:spPr>
          <a:xfrm>
            <a:off x="822960" y="1737360"/>
            <a:ext cx="685800" cy="685800"/>
          </a:xfrm>
          <a:prstGeom prst="ellipse">
            <a:avLst/>
          </a:prstGeom>
          <a:solidFill>
            <a:schemeClr val="accent4"/>
          </a:solidFill>
          <a:ln/>
        </p:spPr>
        <p:txBody>
          <a:bodyPr/>
          <a:lstStyle/>
          <a:p>
            <a:endParaRPr lang="nl-NL"/>
          </a:p>
        </p:txBody>
      </p:sp>
      <p:pic>
        <p:nvPicPr>
          <p:cNvPr id="6" name="Icoon FaFileAlt beeld" descr="preencoded.png"/>
          <p:cNvPicPr>
            <a:picLocks noChangeAspect="1"/>
          </p:cNvPicPr>
          <p:nvPr/>
        </p:nvPicPr>
        <p:blipFill>
          <a:blip r:embed="rId3"/>
          <a:stretch>
            <a:fillRect/>
          </a:stretch>
        </p:blipFill>
        <p:spPr>
          <a:xfrm>
            <a:off x="994410" y="1908810"/>
            <a:ext cx="342900" cy="342900"/>
          </a:xfrm>
          <a:prstGeom prst="rect">
            <a:avLst/>
          </a:prstGeom>
        </p:spPr>
      </p:pic>
      <p:sp>
        <p:nvSpPr>
          <p:cNvPr id="7" name="Text 4"/>
          <p:cNvSpPr txBox="1"/>
          <p:nvPr/>
        </p:nvSpPr>
        <p:spPr>
          <a:xfrm>
            <a:off x="822960" y="2606040"/>
            <a:ext cx="3108960" cy="41148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Nu: papier</a:t>
            </a:r>
            <a:endParaRPr lang="en-US" sz="2000" dirty="0"/>
          </a:p>
        </p:txBody>
      </p:sp>
      <p:sp>
        <p:nvSpPr>
          <p:cNvPr id="8" name="Text 5"/>
          <p:cNvSpPr txBox="1"/>
          <p:nvPr/>
        </p:nvSpPr>
        <p:spPr>
          <a:xfrm>
            <a:off x="822960" y="3063240"/>
            <a:ext cx="315468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Bezoekers zoeken zelf de juiste informatie bij een object</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Papieren raken snel door elkaar</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Weinig overzicht over de hele wand</a:t>
            </a:r>
            <a:endParaRPr lang="en-US" sz="1400" dirty="0"/>
          </a:p>
        </p:txBody>
      </p:sp>
      <p:sp>
        <p:nvSpPr>
          <p:cNvPr id="9" name="Kaart"/>
          <p:cNvSpPr/>
          <p:nvPr/>
        </p:nvSpPr>
        <p:spPr>
          <a:xfrm>
            <a:off x="4434840" y="1463040"/>
            <a:ext cx="3611880" cy="320040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10" name="Icoon FaTabletAlt"/>
          <p:cNvSpPr/>
          <p:nvPr/>
        </p:nvSpPr>
        <p:spPr>
          <a:xfrm>
            <a:off x="4709160" y="1737360"/>
            <a:ext cx="685800" cy="685800"/>
          </a:xfrm>
          <a:prstGeom prst="ellipse">
            <a:avLst/>
          </a:prstGeom>
          <a:solidFill>
            <a:schemeClr val="accent1"/>
          </a:solidFill>
          <a:ln/>
        </p:spPr>
        <p:txBody>
          <a:bodyPr/>
          <a:lstStyle/>
          <a:p>
            <a:endParaRPr lang="nl-NL"/>
          </a:p>
        </p:txBody>
      </p:sp>
      <p:pic>
        <p:nvPicPr>
          <p:cNvPr id="11" name="Icoon FaTabletAlt beeld" descr="preencoded.png"/>
          <p:cNvPicPr>
            <a:picLocks noChangeAspect="1"/>
          </p:cNvPicPr>
          <p:nvPr/>
        </p:nvPicPr>
        <p:blipFill>
          <a:blip r:embed="rId4"/>
          <a:stretch>
            <a:fillRect/>
          </a:stretch>
        </p:blipFill>
        <p:spPr>
          <a:xfrm>
            <a:off x="4880610" y="1908810"/>
            <a:ext cx="342900" cy="342900"/>
          </a:xfrm>
          <a:prstGeom prst="rect">
            <a:avLst/>
          </a:prstGeom>
        </p:spPr>
      </p:pic>
      <p:sp>
        <p:nvSpPr>
          <p:cNvPr id="12" name="Text 8"/>
          <p:cNvSpPr txBox="1"/>
          <p:nvPr/>
        </p:nvSpPr>
        <p:spPr>
          <a:xfrm>
            <a:off x="4709160" y="2606040"/>
            <a:ext cx="3108960" cy="41148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Straks: één tablet</a:t>
            </a:r>
            <a:endParaRPr lang="en-US" sz="2000" dirty="0"/>
          </a:p>
        </p:txBody>
      </p:sp>
      <p:sp>
        <p:nvSpPr>
          <p:cNvPr id="13" name="Text 9"/>
          <p:cNvSpPr txBox="1"/>
          <p:nvPr/>
        </p:nvSpPr>
        <p:spPr>
          <a:xfrm>
            <a:off x="4709160" y="3063240"/>
            <a:ext cx="315468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Een tablet aan de muur bij de objectenwand</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Tik op een object en lees het verhaal</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Alles op één centrale plek</a:t>
            </a:r>
            <a:endParaRPr lang="en-US" sz="1400" dirty="0"/>
          </a:p>
        </p:txBody>
      </p:sp>
      <p:sp>
        <p:nvSpPr>
          <p:cNvPr id="14" name="Text 10"/>
          <p:cNvSpPr txBox="1"/>
          <p:nvPr/>
        </p:nvSpPr>
        <p:spPr>
          <a:xfrm>
            <a:off x="548640" y="4892040"/>
            <a:ext cx="2377440" cy="777240"/>
          </a:xfrm>
          <a:prstGeom prst="rect">
            <a:avLst/>
          </a:prstGeom>
          <a:noFill/>
          <a:ln/>
        </p:spPr>
        <p:txBody>
          <a:bodyPr wrap="square" lIns="0" tIns="0" rIns="0" bIns="0" rtlCol="0" anchor="t"/>
          <a:lstStyle/>
          <a:p>
            <a:pPr marL="0" indent="0">
              <a:buNone/>
            </a:pPr>
            <a:r>
              <a:rPr lang="en-US" sz="4400" b="1" dirty="0">
                <a:solidFill>
                  <a:schemeClr val="accent1"/>
                </a:solidFill>
                <a:latin typeface="Cambria" pitchFamily="34" charset="0"/>
                <a:ea typeface="Cambria" pitchFamily="34" charset="-122"/>
                <a:cs typeface="Cambria" pitchFamily="34" charset="-120"/>
              </a:rPr>
              <a:t>34</a:t>
            </a:r>
            <a:endParaRPr lang="en-US" sz="4400" dirty="0"/>
          </a:p>
        </p:txBody>
      </p:sp>
      <p:sp>
        <p:nvSpPr>
          <p:cNvPr id="15" name="Text 11"/>
          <p:cNvSpPr txBox="1"/>
          <p:nvPr/>
        </p:nvSpPr>
        <p:spPr>
          <a:xfrm>
            <a:off x="548640" y="5669280"/>
            <a:ext cx="2377440" cy="320040"/>
          </a:xfrm>
          <a:prstGeom prst="rect">
            <a:avLst/>
          </a:prstGeom>
          <a:noFill/>
          <a:ln/>
        </p:spPr>
        <p:txBody>
          <a:bodyPr wrap="square" lIns="0" tIns="0" rIns="0" bIns="0" rtlCol="0" anchor="t"/>
          <a:lstStyle/>
          <a:p>
            <a:pPr marL="0" indent="0">
              <a:buNone/>
            </a:pPr>
            <a:r>
              <a:rPr lang="en-US" sz="1300" dirty="0">
                <a:solidFill>
                  <a:schemeClr val="accent4"/>
                </a:solidFill>
                <a:latin typeface="Calibri" pitchFamily="34" charset="0"/>
                <a:ea typeface="Calibri" pitchFamily="34" charset="-122"/>
                <a:cs typeface="Calibri" pitchFamily="34" charset="-120"/>
              </a:rPr>
              <a:t>objecten in de app</a:t>
            </a:r>
            <a:endParaRPr lang="en-US" sz="1300" dirty="0"/>
          </a:p>
        </p:txBody>
      </p:sp>
      <p:sp>
        <p:nvSpPr>
          <p:cNvPr id="16" name="Text 12"/>
          <p:cNvSpPr txBox="1"/>
          <p:nvPr/>
        </p:nvSpPr>
        <p:spPr>
          <a:xfrm>
            <a:off x="3108960" y="4892040"/>
            <a:ext cx="2377440" cy="777240"/>
          </a:xfrm>
          <a:prstGeom prst="rect">
            <a:avLst/>
          </a:prstGeom>
          <a:noFill/>
          <a:ln/>
        </p:spPr>
        <p:txBody>
          <a:bodyPr wrap="square" lIns="0" tIns="0" rIns="0" bIns="0" rtlCol="0" anchor="t"/>
          <a:lstStyle/>
          <a:p>
            <a:pPr marL="0" indent="0">
              <a:buNone/>
            </a:pPr>
            <a:r>
              <a:rPr lang="en-US" sz="4400" b="1" dirty="0">
                <a:solidFill>
                  <a:schemeClr val="accent1"/>
                </a:solidFill>
                <a:latin typeface="Cambria" pitchFamily="34" charset="0"/>
                <a:ea typeface="Cambria" pitchFamily="34" charset="-122"/>
                <a:cs typeface="Cambria" pitchFamily="34" charset="-120"/>
              </a:rPr>
              <a:t>1</a:t>
            </a:r>
            <a:endParaRPr lang="en-US" sz="4400" dirty="0"/>
          </a:p>
        </p:txBody>
      </p:sp>
      <p:sp>
        <p:nvSpPr>
          <p:cNvPr id="17" name="Text 13"/>
          <p:cNvSpPr txBox="1"/>
          <p:nvPr/>
        </p:nvSpPr>
        <p:spPr>
          <a:xfrm>
            <a:off x="3108960" y="5669280"/>
            <a:ext cx="2377440" cy="320040"/>
          </a:xfrm>
          <a:prstGeom prst="rect">
            <a:avLst/>
          </a:prstGeom>
          <a:noFill/>
          <a:ln/>
        </p:spPr>
        <p:txBody>
          <a:bodyPr wrap="square" lIns="0" tIns="0" rIns="0" bIns="0" rtlCol="0" anchor="t"/>
          <a:lstStyle/>
          <a:p>
            <a:pPr marL="0" indent="0">
              <a:buNone/>
            </a:pPr>
            <a:r>
              <a:rPr lang="en-US" sz="1300" dirty="0">
                <a:solidFill>
                  <a:schemeClr val="accent4"/>
                </a:solidFill>
                <a:latin typeface="Calibri" pitchFamily="34" charset="0"/>
                <a:ea typeface="Calibri" pitchFamily="34" charset="-122"/>
                <a:cs typeface="Calibri" pitchFamily="34" charset="-120"/>
              </a:rPr>
              <a:t>tablet aan de wand</a:t>
            </a:r>
            <a:endParaRPr lang="en-US" sz="1300" dirty="0"/>
          </a:p>
        </p:txBody>
      </p:sp>
      <p:sp>
        <p:nvSpPr>
          <p:cNvPr id="18" name="Text 14"/>
          <p:cNvSpPr txBox="1"/>
          <p:nvPr/>
        </p:nvSpPr>
        <p:spPr>
          <a:xfrm>
            <a:off x="5669280" y="4892040"/>
            <a:ext cx="2377440" cy="777240"/>
          </a:xfrm>
          <a:prstGeom prst="rect">
            <a:avLst/>
          </a:prstGeom>
          <a:noFill/>
          <a:ln/>
        </p:spPr>
        <p:txBody>
          <a:bodyPr wrap="square" lIns="0" tIns="0" rIns="0" bIns="0" rtlCol="0" anchor="t"/>
          <a:lstStyle/>
          <a:p>
            <a:pPr marL="0" indent="0">
              <a:buNone/>
            </a:pPr>
            <a:r>
              <a:rPr lang="en-US" sz="4400" b="1" dirty="0">
                <a:solidFill>
                  <a:schemeClr val="accent1"/>
                </a:solidFill>
                <a:latin typeface="Cambria" pitchFamily="34" charset="0"/>
                <a:ea typeface="Cambria" pitchFamily="34" charset="-122"/>
                <a:cs typeface="Cambria" pitchFamily="34" charset="-120"/>
              </a:rPr>
              <a:t>0</a:t>
            </a:r>
            <a:endParaRPr lang="en-US" sz="4400" dirty="0"/>
          </a:p>
        </p:txBody>
      </p:sp>
      <p:sp>
        <p:nvSpPr>
          <p:cNvPr id="19" name="Text 15"/>
          <p:cNvSpPr txBox="1"/>
          <p:nvPr/>
        </p:nvSpPr>
        <p:spPr>
          <a:xfrm>
            <a:off x="5669280" y="5669280"/>
            <a:ext cx="2377440" cy="320040"/>
          </a:xfrm>
          <a:prstGeom prst="rect">
            <a:avLst/>
          </a:prstGeom>
          <a:noFill/>
          <a:ln/>
        </p:spPr>
        <p:txBody>
          <a:bodyPr wrap="square" lIns="0" tIns="0" rIns="0" bIns="0" rtlCol="0" anchor="t"/>
          <a:lstStyle/>
          <a:p>
            <a:pPr marL="0" indent="0">
              <a:buNone/>
            </a:pPr>
            <a:r>
              <a:rPr lang="en-US" sz="1300" dirty="0">
                <a:solidFill>
                  <a:schemeClr val="accent4"/>
                </a:solidFill>
                <a:latin typeface="Calibri" pitchFamily="34" charset="0"/>
                <a:ea typeface="Calibri" pitchFamily="34" charset="-122"/>
                <a:cs typeface="Calibri" pitchFamily="34" charset="-120"/>
              </a:rPr>
              <a:t>losse papieren</a:t>
            </a:r>
            <a:endParaRPr lang="en-US" sz="1300" dirty="0"/>
          </a:p>
        </p:txBody>
      </p:sp>
      <p:sp>
        <p:nvSpPr>
          <p:cNvPr id="20" name="Screenshot overzicht lijst"/>
          <p:cNvSpPr/>
          <p:nvPr/>
        </p:nvSpPr>
        <p:spPr>
          <a:xfrm>
            <a:off x="8549640" y="1417320"/>
            <a:ext cx="3090672" cy="484632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21" name="Screenshot overzicht" descr="Screenshot van het objectenoverzicht in de app"/>
          <p:cNvPicPr>
            <a:picLocks noChangeAspect="1"/>
          </p:cNvPicPr>
          <p:nvPr/>
        </p:nvPicPr>
        <p:blipFill>
          <a:blip r:embed="rId5"/>
          <a:stretch>
            <a:fillRect/>
          </a:stretch>
        </p:blipFill>
        <p:spPr>
          <a:xfrm>
            <a:off x="8622792" y="1490472"/>
            <a:ext cx="2944368" cy="4700016"/>
          </a:xfrm>
          <a:prstGeom prst="rect">
            <a:avLst/>
          </a:prstGeom>
        </p:spPr>
      </p:pic>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5D52"/>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latin typeface="Calibri" pitchFamily="34" charset="0"/>
                <a:ea typeface="Calibri" pitchFamily="34" charset="-122"/>
                <a:cs typeface="Calibri" pitchFamily="34" charset="-120"/>
              </a:rPr>
              <a:t>DEMO · BEZOEKER</a:t>
            </a:r>
            <a:endParaRPr lang="en-US" sz="1100" dirty="0"/>
          </a:p>
        </p:txBody>
      </p:sp>
      <p:sp>
        <p:nvSpPr>
          <p:cNvPr id="3" name="Text 1"/>
          <p:cNvSpPr>
            <a:spLocks noGrp="1"/>
          </p:cNvSpPr>
          <p:nvPr>
            <p:ph type="title" idx="101" hasCustomPrompt="1"/>
          </p:nvPr>
        </p:nvSpPr>
        <p:spPr>
          <a:xfrm>
            <a:off x="548640" y="411480"/>
            <a:ext cx="11091672"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Zo gebruikt een bezoeker de app</a:t>
            </a:r>
            <a:endParaRPr lang="en-US" sz="3400" dirty="0"/>
          </a:p>
        </p:txBody>
      </p:sp>
      <p:sp>
        <p:nvSpPr>
          <p:cNvPr id="4" name="Screenshot 1  Startscherm lijst"/>
          <p:cNvSpPr/>
          <p:nvPr/>
        </p:nvSpPr>
        <p:spPr>
          <a:xfrm>
            <a:off x="914400" y="1325880"/>
            <a:ext cx="2743200" cy="438912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5" name="Screenshot 1  Startscherm" descr="Screenshot: 1  Startscherm"/>
          <p:cNvPicPr>
            <a:picLocks noChangeAspect="1"/>
          </p:cNvPicPr>
          <p:nvPr/>
        </p:nvPicPr>
        <p:blipFill>
          <a:blip r:embed="rId3"/>
          <a:stretch>
            <a:fillRect/>
          </a:stretch>
        </p:blipFill>
        <p:spPr>
          <a:xfrm>
            <a:off x="987552" y="1399032"/>
            <a:ext cx="2596896" cy="4242816"/>
          </a:xfrm>
          <a:prstGeom prst="rect">
            <a:avLst/>
          </a:prstGeom>
        </p:spPr>
      </p:pic>
      <p:sp>
        <p:nvSpPr>
          <p:cNvPr id="6" name="Text 3"/>
          <p:cNvSpPr txBox="1"/>
          <p:nvPr/>
        </p:nvSpPr>
        <p:spPr>
          <a:xfrm>
            <a:off x="914400" y="5760720"/>
            <a:ext cx="2743200" cy="292608"/>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1  Startscherm</a:t>
            </a:r>
            <a:endParaRPr lang="en-US" sz="1500" dirty="0"/>
          </a:p>
        </p:txBody>
      </p:sp>
      <p:sp>
        <p:nvSpPr>
          <p:cNvPr id="7" name="Text 4"/>
          <p:cNvSpPr txBox="1"/>
          <p:nvPr/>
        </p:nvSpPr>
        <p:spPr>
          <a:xfrm>
            <a:off x="914400" y="6053328"/>
            <a:ext cx="2926080" cy="274320"/>
          </a:xfrm>
          <a:prstGeom prst="rect">
            <a:avLst/>
          </a:prstGeom>
          <a:noFill/>
          <a:ln/>
        </p:spPr>
        <p:txBody>
          <a:bodyPr wrap="square" lIns="0" tIns="0" rIns="0" bIns="0" rtlCol="0" anchor="t"/>
          <a:lstStyle/>
          <a:p>
            <a:pPr marL="0" indent="0">
              <a:buNone/>
            </a:pPr>
            <a:r>
              <a:rPr lang="en-US" sz="1100" dirty="0">
                <a:solidFill>
                  <a:schemeClr val="accent4"/>
                </a:solidFill>
                <a:latin typeface="Calibri" pitchFamily="34" charset="0"/>
                <a:ea typeface="Calibri" pitchFamily="34" charset="-122"/>
                <a:cs typeface="Calibri" pitchFamily="34" charset="-120"/>
              </a:rPr>
              <a:t>Logo en één knop: Bekijk de objecten</a:t>
            </a:r>
            <a:endParaRPr lang="en-US" sz="1100" dirty="0"/>
          </a:p>
        </p:txBody>
      </p:sp>
      <p:sp>
        <p:nvSpPr>
          <p:cNvPr id="8" name="Icoon FaArrowRight"/>
          <p:cNvSpPr/>
          <p:nvPr/>
        </p:nvSpPr>
        <p:spPr>
          <a:xfrm>
            <a:off x="3886200" y="3200400"/>
            <a:ext cx="594360" cy="594360"/>
          </a:xfrm>
          <a:prstGeom prst="ellipse">
            <a:avLst/>
          </a:prstGeom>
          <a:solidFill>
            <a:schemeClr val="accent2"/>
          </a:solidFill>
          <a:ln/>
        </p:spPr>
        <p:txBody>
          <a:bodyPr/>
          <a:lstStyle/>
          <a:p>
            <a:endParaRPr lang="nl-NL"/>
          </a:p>
        </p:txBody>
      </p:sp>
      <p:pic>
        <p:nvPicPr>
          <p:cNvPr id="9" name="Icoon FaArrowRight beeld" descr="preencoded.png"/>
          <p:cNvPicPr>
            <a:picLocks noChangeAspect="1"/>
          </p:cNvPicPr>
          <p:nvPr/>
        </p:nvPicPr>
        <p:blipFill>
          <a:blip r:embed="rId4"/>
          <a:stretch>
            <a:fillRect/>
          </a:stretch>
        </p:blipFill>
        <p:spPr>
          <a:xfrm>
            <a:off x="4034790" y="3348990"/>
            <a:ext cx="297180" cy="297180"/>
          </a:xfrm>
          <a:prstGeom prst="rect">
            <a:avLst/>
          </a:prstGeom>
        </p:spPr>
      </p:pic>
      <p:sp>
        <p:nvSpPr>
          <p:cNvPr id="10" name="Screenshot 2  Kies een object lijst"/>
          <p:cNvSpPr/>
          <p:nvPr/>
        </p:nvSpPr>
        <p:spPr>
          <a:xfrm>
            <a:off x="4718304" y="1325880"/>
            <a:ext cx="2743200" cy="438912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11" name="Screenshot 2  Kies een object" descr="Screenshot: 2  Kies een object"/>
          <p:cNvPicPr>
            <a:picLocks noChangeAspect="1"/>
          </p:cNvPicPr>
          <p:nvPr/>
        </p:nvPicPr>
        <p:blipFill>
          <a:blip r:embed="rId5"/>
          <a:stretch>
            <a:fillRect/>
          </a:stretch>
        </p:blipFill>
        <p:spPr>
          <a:xfrm>
            <a:off x="4791456" y="1399032"/>
            <a:ext cx="2596896" cy="4242816"/>
          </a:xfrm>
          <a:prstGeom prst="rect">
            <a:avLst/>
          </a:prstGeom>
        </p:spPr>
      </p:pic>
      <p:sp>
        <p:nvSpPr>
          <p:cNvPr id="12" name="Text 7"/>
          <p:cNvSpPr txBox="1"/>
          <p:nvPr/>
        </p:nvSpPr>
        <p:spPr>
          <a:xfrm>
            <a:off x="4718304" y="5760720"/>
            <a:ext cx="2743200" cy="292608"/>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2  Kies een object</a:t>
            </a:r>
            <a:endParaRPr lang="en-US" sz="1500" dirty="0"/>
          </a:p>
        </p:txBody>
      </p:sp>
      <p:sp>
        <p:nvSpPr>
          <p:cNvPr id="13" name="Text 8"/>
          <p:cNvSpPr txBox="1"/>
          <p:nvPr/>
        </p:nvSpPr>
        <p:spPr>
          <a:xfrm>
            <a:off x="4718304" y="6053328"/>
            <a:ext cx="2926080" cy="274320"/>
          </a:xfrm>
          <a:prstGeom prst="rect">
            <a:avLst/>
          </a:prstGeom>
          <a:noFill/>
          <a:ln/>
        </p:spPr>
        <p:txBody>
          <a:bodyPr wrap="square" lIns="0" tIns="0" rIns="0" bIns="0" rtlCol="0" anchor="t"/>
          <a:lstStyle/>
          <a:p>
            <a:pPr marL="0" indent="0">
              <a:buNone/>
            </a:pPr>
            <a:r>
              <a:rPr lang="en-US" sz="1100" dirty="0">
                <a:solidFill>
                  <a:schemeClr val="accent4"/>
                </a:solidFill>
                <a:latin typeface="Calibri" pitchFamily="34" charset="0"/>
                <a:ea typeface="Calibri" pitchFamily="34" charset="-122"/>
                <a:cs typeface="Calibri" pitchFamily="34" charset="-120"/>
              </a:rPr>
              <a:t>Negen objecten per pagina, met paginanummers</a:t>
            </a:r>
            <a:endParaRPr lang="en-US" sz="1100" dirty="0"/>
          </a:p>
        </p:txBody>
      </p:sp>
      <p:sp>
        <p:nvSpPr>
          <p:cNvPr id="14" name="Icoon FaArrowRight"/>
          <p:cNvSpPr/>
          <p:nvPr/>
        </p:nvSpPr>
        <p:spPr>
          <a:xfrm>
            <a:off x="7690104" y="3200400"/>
            <a:ext cx="594360" cy="594360"/>
          </a:xfrm>
          <a:prstGeom prst="ellipse">
            <a:avLst/>
          </a:prstGeom>
          <a:solidFill>
            <a:schemeClr val="accent2"/>
          </a:solidFill>
          <a:ln/>
        </p:spPr>
        <p:txBody>
          <a:bodyPr/>
          <a:lstStyle/>
          <a:p>
            <a:endParaRPr lang="nl-NL"/>
          </a:p>
        </p:txBody>
      </p:sp>
      <p:pic>
        <p:nvPicPr>
          <p:cNvPr id="15" name="Icoon FaArrowRight beeld" descr="preencoded.png"/>
          <p:cNvPicPr>
            <a:picLocks noChangeAspect="1"/>
          </p:cNvPicPr>
          <p:nvPr/>
        </p:nvPicPr>
        <p:blipFill>
          <a:blip r:embed="rId4"/>
          <a:stretch>
            <a:fillRect/>
          </a:stretch>
        </p:blipFill>
        <p:spPr>
          <a:xfrm>
            <a:off x="7838694" y="3348990"/>
            <a:ext cx="297180" cy="297180"/>
          </a:xfrm>
          <a:prstGeom prst="rect">
            <a:avLst/>
          </a:prstGeom>
        </p:spPr>
      </p:pic>
      <p:sp>
        <p:nvSpPr>
          <p:cNvPr id="16" name="Screenshot 3  Lees het verhaal lijst"/>
          <p:cNvSpPr/>
          <p:nvPr/>
        </p:nvSpPr>
        <p:spPr>
          <a:xfrm>
            <a:off x="8522208" y="1325880"/>
            <a:ext cx="2743200" cy="438912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17" name="Screenshot 3  Lees het verhaal" descr="Screenshot: 3  Lees het verhaal"/>
          <p:cNvPicPr>
            <a:picLocks noChangeAspect="1"/>
          </p:cNvPicPr>
          <p:nvPr/>
        </p:nvPicPr>
        <p:blipFill>
          <a:blip r:embed="rId6"/>
          <a:stretch>
            <a:fillRect/>
          </a:stretch>
        </p:blipFill>
        <p:spPr>
          <a:xfrm>
            <a:off x="8595360" y="1399032"/>
            <a:ext cx="2596896" cy="4242816"/>
          </a:xfrm>
          <a:prstGeom prst="rect">
            <a:avLst/>
          </a:prstGeom>
        </p:spPr>
      </p:pic>
      <p:sp>
        <p:nvSpPr>
          <p:cNvPr id="18" name="Text 11"/>
          <p:cNvSpPr txBox="1"/>
          <p:nvPr/>
        </p:nvSpPr>
        <p:spPr>
          <a:xfrm>
            <a:off x="8522208" y="5760720"/>
            <a:ext cx="2743200" cy="292608"/>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3  Lees het verhaal</a:t>
            </a:r>
            <a:endParaRPr lang="en-US" sz="1500" dirty="0"/>
          </a:p>
        </p:txBody>
      </p:sp>
      <p:sp>
        <p:nvSpPr>
          <p:cNvPr id="19" name="Text 12"/>
          <p:cNvSpPr txBox="1"/>
          <p:nvPr/>
        </p:nvSpPr>
        <p:spPr>
          <a:xfrm>
            <a:off x="8522208" y="6053328"/>
            <a:ext cx="2926080" cy="274320"/>
          </a:xfrm>
          <a:prstGeom prst="rect">
            <a:avLst/>
          </a:prstGeom>
          <a:noFill/>
          <a:ln/>
        </p:spPr>
        <p:txBody>
          <a:bodyPr wrap="square" lIns="0" tIns="0" rIns="0" bIns="0" rtlCol="0" anchor="t"/>
          <a:lstStyle/>
          <a:p>
            <a:pPr marL="0" indent="0">
              <a:buNone/>
            </a:pPr>
            <a:r>
              <a:rPr lang="en-US" sz="1100" dirty="0">
                <a:solidFill>
                  <a:schemeClr val="accent4"/>
                </a:solidFill>
                <a:latin typeface="Calibri" pitchFamily="34" charset="0"/>
                <a:ea typeface="Calibri" pitchFamily="34" charset="-122"/>
                <a:cs typeface="Calibri" pitchFamily="34" charset="-120"/>
              </a:rPr>
              <a:t>Foto's, titel en tekst van het object</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5D52"/>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latin typeface="Calibri" pitchFamily="34" charset="0"/>
                <a:ea typeface="Calibri" pitchFamily="34" charset="-122"/>
                <a:cs typeface="Calibri" pitchFamily="34" charset="-120"/>
              </a:rPr>
              <a:t>DEMO · BEHEER</a:t>
            </a:r>
            <a:endParaRPr lang="en-US" sz="1100" dirty="0"/>
          </a:p>
        </p:txBody>
      </p:sp>
      <p:sp>
        <p:nvSpPr>
          <p:cNvPr id="3" name="Text 1"/>
          <p:cNvSpPr>
            <a:spLocks noGrp="1"/>
          </p:cNvSpPr>
          <p:nvPr>
            <p:ph type="title" idx="101" hasCustomPrompt="1"/>
          </p:nvPr>
        </p:nvSpPr>
        <p:spPr>
          <a:xfrm>
            <a:off x="548640" y="411480"/>
            <a:ext cx="11091672"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Het museum beheert de objecten zelf</a:t>
            </a:r>
            <a:endParaRPr lang="en-US" sz="3400" dirty="0"/>
          </a:p>
        </p:txBody>
      </p:sp>
      <p:sp>
        <p:nvSpPr>
          <p:cNvPr id="4" name="Screenshot inloggen lijst"/>
          <p:cNvSpPr/>
          <p:nvPr/>
        </p:nvSpPr>
        <p:spPr>
          <a:xfrm>
            <a:off x="548640" y="1325880"/>
            <a:ext cx="2834640" cy="4535424"/>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5" name="Screenshot inloggen" descr="Inlogscherm voor beheerders"/>
          <p:cNvPicPr>
            <a:picLocks noChangeAspect="1"/>
          </p:cNvPicPr>
          <p:nvPr/>
        </p:nvPicPr>
        <p:blipFill>
          <a:blip r:embed="rId3"/>
          <a:stretch>
            <a:fillRect/>
          </a:stretch>
        </p:blipFill>
        <p:spPr>
          <a:xfrm>
            <a:off x="621792" y="1399032"/>
            <a:ext cx="2688336" cy="4389120"/>
          </a:xfrm>
          <a:prstGeom prst="rect">
            <a:avLst/>
          </a:prstGeom>
        </p:spPr>
      </p:pic>
      <p:sp>
        <p:nvSpPr>
          <p:cNvPr id="6" name="Screenshot beheer lijst"/>
          <p:cNvSpPr/>
          <p:nvPr/>
        </p:nvSpPr>
        <p:spPr>
          <a:xfrm>
            <a:off x="3611880" y="1325880"/>
            <a:ext cx="2834640" cy="4535424"/>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7" name="Screenshot beheer" descr="Beheerpaneel met lijst van objecten"/>
          <p:cNvPicPr>
            <a:picLocks noChangeAspect="1"/>
          </p:cNvPicPr>
          <p:nvPr/>
        </p:nvPicPr>
        <p:blipFill>
          <a:blip r:embed="rId4"/>
          <a:stretch>
            <a:fillRect/>
          </a:stretch>
        </p:blipFill>
        <p:spPr>
          <a:xfrm>
            <a:off x="3685032" y="1399032"/>
            <a:ext cx="2688336" cy="4389120"/>
          </a:xfrm>
          <a:prstGeom prst="rect">
            <a:avLst/>
          </a:prstGeom>
        </p:spPr>
      </p:pic>
      <p:sp>
        <p:nvSpPr>
          <p:cNvPr id="8" name="Icoon FaLock"/>
          <p:cNvSpPr/>
          <p:nvPr/>
        </p:nvSpPr>
        <p:spPr>
          <a:xfrm>
            <a:off x="6903720" y="1371600"/>
            <a:ext cx="594360" cy="594360"/>
          </a:xfrm>
          <a:prstGeom prst="ellipse">
            <a:avLst/>
          </a:prstGeom>
          <a:solidFill>
            <a:schemeClr val="accent2"/>
          </a:solidFill>
          <a:ln/>
        </p:spPr>
        <p:txBody>
          <a:bodyPr/>
          <a:lstStyle/>
          <a:p>
            <a:endParaRPr lang="nl-NL"/>
          </a:p>
        </p:txBody>
      </p:sp>
      <p:pic>
        <p:nvPicPr>
          <p:cNvPr id="9" name="Icoon FaLock beeld" descr="preencoded.png"/>
          <p:cNvPicPr>
            <a:picLocks noChangeAspect="1"/>
          </p:cNvPicPr>
          <p:nvPr/>
        </p:nvPicPr>
        <p:blipFill>
          <a:blip r:embed="rId5"/>
          <a:stretch>
            <a:fillRect/>
          </a:stretch>
        </p:blipFill>
        <p:spPr>
          <a:xfrm>
            <a:off x="7052310" y="1520190"/>
            <a:ext cx="297180" cy="297180"/>
          </a:xfrm>
          <a:prstGeom prst="rect">
            <a:avLst/>
          </a:prstGeom>
        </p:spPr>
      </p:pic>
      <p:sp>
        <p:nvSpPr>
          <p:cNvPr id="10" name="Text 5"/>
          <p:cNvSpPr txBox="1"/>
          <p:nvPr/>
        </p:nvSpPr>
        <p:spPr>
          <a:xfrm>
            <a:off x="7680960" y="1371600"/>
            <a:ext cx="3977640" cy="329184"/>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Verborgen inlog</a:t>
            </a:r>
            <a:endParaRPr lang="en-US" sz="1700" dirty="0"/>
          </a:p>
        </p:txBody>
      </p:sp>
      <p:sp>
        <p:nvSpPr>
          <p:cNvPr id="11" name="Text 6"/>
          <p:cNvSpPr txBox="1"/>
          <p:nvPr/>
        </p:nvSpPr>
        <p:spPr>
          <a:xfrm>
            <a:off x="7680960" y="1709928"/>
            <a:ext cx="3977640" cy="301752"/>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Dubbeltik rechtsboven, alleen voor medewerkers</a:t>
            </a:r>
            <a:endParaRPr lang="en-US" sz="1400" dirty="0"/>
          </a:p>
        </p:txBody>
      </p:sp>
      <p:sp>
        <p:nvSpPr>
          <p:cNvPr id="12" name="Icoon FaPlus"/>
          <p:cNvSpPr/>
          <p:nvPr/>
        </p:nvSpPr>
        <p:spPr>
          <a:xfrm>
            <a:off x="6903720" y="2286000"/>
            <a:ext cx="594360" cy="594360"/>
          </a:xfrm>
          <a:prstGeom prst="ellipse">
            <a:avLst/>
          </a:prstGeom>
          <a:solidFill>
            <a:schemeClr val="accent2"/>
          </a:solidFill>
          <a:ln/>
        </p:spPr>
        <p:txBody>
          <a:bodyPr/>
          <a:lstStyle/>
          <a:p>
            <a:endParaRPr lang="nl-NL"/>
          </a:p>
        </p:txBody>
      </p:sp>
      <p:pic>
        <p:nvPicPr>
          <p:cNvPr id="13" name="Icoon FaPlus beeld" descr="preencoded.png"/>
          <p:cNvPicPr>
            <a:picLocks noChangeAspect="1"/>
          </p:cNvPicPr>
          <p:nvPr/>
        </p:nvPicPr>
        <p:blipFill>
          <a:blip r:embed="rId6"/>
          <a:stretch>
            <a:fillRect/>
          </a:stretch>
        </p:blipFill>
        <p:spPr>
          <a:xfrm>
            <a:off x="7052310" y="2434590"/>
            <a:ext cx="297180" cy="297180"/>
          </a:xfrm>
          <a:prstGeom prst="rect">
            <a:avLst/>
          </a:prstGeom>
        </p:spPr>
      </p:pic>
      <p:sp>
        <p:nvSpPr>
          <p:cNvPr id="14" name="Text 8"/>
          <p:cNvSpPr txBox="1"/>
          <p:nvPr/>
        </p:nvSpPr>
        <p:spPr>
          <a:xfrm>
            <a:off x="7680960" y="2286000"/>
            <a:ext cx="3977640" cy="329184"/>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Object toevoegen</a:t>
            </a:r>
            <a:endParaRPr lang="en-US" sz="1700" dirty="0"/>
          </a:p>
        </p:txBody>
      </p:sp>
      <p:sp>
        <p:nvSpPr>
          <p:cNvPr id="15" name="Text 9"/>
          <p:cNvSpPr txBox="1"/>
          <p:nvPr/>
        </p:nvSpPr>
        <p:spPr>
          <a:xfrm>
            <a:off x="7680960" y="2624328"/>
            <a:ext cx="3977640" cy="301752"/>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Titel, beschrijving en foto's</a:t>
            </a:r>
            <a:endParaRPr lang="en-US" sz="1400" dirty="0"/>
          </a:p>
        </p:txBody>
      </p:sp>
      <p:sp>
        <p:nvSpPr>
          <p:cNvPr id="16" name="Icoon FaPen"/>
          <p:cNvSpPr/>
          <p:nvPr/>
        </p:nvSpPr>
        <p:spPr>
          <a:xfrm>
            <a:off x="6903720" y="3200400"/>
            <a:ext cx="594360" cy="594360"/>
          </a:xfrm>
          <a:prstGeom prst="ellipse">
            <a:avLst/>
          </a:prstGeom>
          <a:solidFill>
            <a:schemeClr val="accent2"/>
          </a:solidFill>
          <a:ln/>
        </p:spPr>
        <p:txBody>
          <a:bodyPr/>
          <a:lstStyle/>
          <a:p>
            <a:endParaRPr lang="nl-NL"/>
          </a:p>
        </p:txBody>
      </p:sp>
      <p:pic>
        <p:nvPicPr>
          <p:cNvPr id="17" name="Icoon FaPen beeld" descr="preencoded.png"/>
          <p:cNvPicPr>
            <a:picLocks noChangeAspect="1"/>
          </p:cNvPicPr>
          <p:nvPr/>
        </p:nvPicPr>
        <p:blipFill>
          <a:blip r:embed="rId7"/>
          <a:stretch>
            <a:fillRect/>
          </a:stretch>
        </p:blipFill>
        <p:spPr>
          <a:xfrm>
            <a:off x="7052310" y="3348990"/>
            <a:ext cx="297180" cy="297180"/>
          </a:xfrm>
          <a:prstGeom prst="rect">
            <a:avLst/>
          </a:prstGeom>
        </p:spPr>
      </p:pic>
      <p:sp>
        <p:nvSpPr>
          <p:cNvPr id="18" name="Text 11"/>
          <p:cNvSpPr txBox="1"/>
          <p:nvPr/>
        </p:nvSpPr>
        <p:spPr>
          <a:xfrm>
            <a:off x="7680960" y="3200400"/>
            <a:ext cx="3977640" cy="329184"/>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Bewerken</a:t>
            </a:r>
            <a:endParaRPr lang="en-US" sz="1700" dirty="0"/>
          </a:p>
        </p:txBody>
      </p:sp>
      <p:sp>
        <p:nvSpPr>
          <p:cNvPr id="19" name="Text 12"/>
          <p:cNvSpPr txBox="1"/>
          <p:nvPr/>
        </p:nvSpPr>
        <p:spPr>
          <a:xfrm>
            <a:off x="7680960" y="3538728"/>
            <a:ext cx="3977640" cy="301752"/>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Tekst, foto's en fotoformaat aanpassen</a:t>
            </a:r>
            <a:endParaRPr lang="en-US" sz="1400" dirty="0"/>
          </a:p>
        </p:txBody>
      </p:sp>
      <p:sp>
        <p:nvSpPr>
          <p:cNvPr id="20" name="Icoon FaTrashAlt"/>
          <p:cNvSpPr/>
          <p:nvPr/>
        </p:nvSpPr>
        <p:spPr>
          <a:xfrm>
            <a:off x="6903720" y="4114800"/>
            <a:ext cx="594360" cy="594360"/>
          </a:xfrm>
          <a:prstGeom prst="ellipse">
            <a:avLst/>
          </a:prstGeom>
          <a:solidFill>
            <a:schemeClr val="accent2"/>
          </a:solidFill>
          <a:ln/>
        </p:spPr>
        <p:txBody>
          <a:bodyPr/>
          <a:lstStyle/>
          <a:p>
            <a:endParaRPr lang="nl-NL"/>
          </a:p>
        </p:txBody>
      </p:sp>
      <p:pic>
        <p:nvPicPr>
          <p:cNvPr id="21" name="Icoon FaTrashAlt beeld" descr="preencoded.png"/>
          <p:cNvPicPr>
            <a:picLocks noChangeAspect="1"/>
          </p:cNvPicPr>
          <p:nvPr/>
        </p:nvPicPr>
        <p:blipFill>
          <a:blip r:embed="rId8"/>
          <a:stretch>
            <a:fillRect/>
          </a:stretch>
        </p:blipFill>
        <p:spPr>
          <a:xfrm>
            <a:off x="7052310" y="4263390"/>
            <a:ext cx="297180" cy="297180"/>
          </a:xfrm>
          <a:prstGeom prst="rect">
            <a:avLst/>
          </a:prstGeom>
        </p:spPr>
      </p:pic>
      <p:sp>
        <p:nvSpPr>
          <p:cNvPr id="22" name="Text 14"/>
          <p:cNvSpPr txBox="1"/>
          <p:nvPr/>
        </p:nvSpPr>
        <p:spPr>
          <a:xfrm>
            <a:off x="7680960" y="4114800"/>
            <a:ext cx="3977640" cy="329184"/>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Verwijderen</a:t>
            </a:r>
            <a:endParaRPr lang="en-US" sz="1700" dirty="0"/>
          </a:p>
        </p:txBody>
      </p:sp>
      <p:sp>
        <p:nvSpPr>
          <p:cNvPr id="23" name="Text 15"/>
          <p:cNvSpPr txBox="1"/>
          <p:nvPr/>
        </p:nvSpPr>
        <p:spPr>
          <a:xfrm>
            <a:off x="7680960" y="4453128"/>
            <a:ext cx="3977640" cy="301752"/>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Met een extra bevestiging</a:t>
            </a:r>
            <a:endParaRPr lang="en-US" sz="1400" dirty="0"/>
          </a:p>
        </p:txBody>
      </p:sp>
      <p:sp>
        <p:nvSpPr>
          <p:cNvPr id="24" name="Highlight"/>
          <p:cNvSpPr/>
          <p:nvPr/>
        </p:nvSpPr>
        <p:spPr>
          <a:xfrm>
            <a:off x="6903720" y="5074920"/>
            <a:ext cx="4736592" cy="786384"/>
          </a:xfrm>
          <a:prstGeom prst="rect">
            <a:avLst/>
          </a:prstGeom>
          <a:solidFill>
            <a:srgbClr val="C9A66B">
              <a:alpha val="30000"/>
            </a:srgbClr>
          </a:solidFill>
          <a:ln/>
        </p:spPr>
        <p:txBody>
          <a:bodyPr/>
          <a:lstStyle/>
          <a:p>
            <a:endParaRPr lang="nl-NL"/>
          </a:p>
        </p:txBody>
      </p:sp>
      <p:sp>
        <p:nvSpPr>
          <p:cNvPr id="25" name="Text 17"/>
          <p:cNvSpPr txBox="1"/>
          <p:nvPr/>
        </p:nvSpPr>
        <p:spPr>
          <a:xfrm>
            <a:off x="7040880" y="5120640"/>
            <a:ext cx="4480560" cy="694944"/>
          </a:xfrm>
          <a:prstGeom prst="rect">
            <a:avLst/>
          </a:prstGeom>
          <a:noFill/>
          <a:ln/>
        </p:spPr>
        <p:txBody>
          <a:bodyPr wrap="square" lIns="0" tIns="0" rIns="0" bIns="0" rtlCol="0" anchor="ctr"/>
          <a:lstStyle/>
          <a:p>
            <a:pPr marL="0" indent="0">
              <a:buNone/>
            </a:pPr>
            <a:r>
              <a:rPr lang="en-US" sz="1400" i="1" dirty="0">
                <a:solidFill>
                  <a:schemeClr val="tx2"/>
                </a:solidFill>
                <a:latin typeface="Calibri" pitchFamily="34" charset="0"/>
                <a:ea typeface="Calibri" pitchFamily="34" charset="-122"/>
                <a:cs typeface="Calibri" pitchFamily="34" charset="-120"/>
              </a:rPr>
              <a:t>In het ontwerp stond dit nog als ‘toekomstige uitbreiding’. Het zit er nu al in.</a:t>
            </a:r>
            <a:endParaRPr lang="en-US" sz="1400" dirty="0"/>
          </a:p>
        </p:txBody>
      </p:sp>
      <p:sp>
        <p:nvSpPr>
          <p:cNvPr id="26"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5D52"/>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latin typeface="Calibri" pitchFamily="34" charset="0"/>
                <a:ea typeface="Calibri" pitchFamily="34" charset="-122"/>
                <a:cs typeface="Calibri" pitchFamily="34" charset="-120"/>
              </a:rPr>
              <a:t>DE AFGELOPEN 10 WEKEN</a:t>
            </a:r>
            <a:endParaRPr lang="en-US" sz="1100" dirty="0"/>
          </a:p>
        </p:txBody>
      </p:sp>
      <p:sp>
        <p:nvSpPr>
          <p:cNvPr id="3" name="Text 1"/>
          <p:cNvSpPr>
            <a:spLocks noGrp="1"/>
          </p:cNvSpPr>
          <p:nvPr>
            <p:ph type="title" idx="101" hasCustomPrompt="1"/>
          </p:nvPr>
        </p:nvSpPr>
        <p:spPr>
          <a:xfrm>
            <a:off x="548640" y="411480"/>
            <a:ext cx="11091672"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Van eerste e-mail tot werkende app</a:t>
            </a:r>
            <a:endParaRPr lang="en-US" sz="3400" dirty="0"/>
          </a:p>
        </p:txBody>
      </p:sp>
      <p:sp>
        <p:nvSpPr>
          <p:cNvPr id="4" name="Mijlpaal 1"/>
          <p:cNvSpPr/>
          <p:nvPr/>
        </p:nvSpPr>
        <p:spPr>
          <a:xfrm>
            <a:off x="548640" y="1417320"/>
            <a:ext cx="2606040" cy="187452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5" name="Text 3"/>
          <p:cNvSpPr txBox="1"/>
          <p:nvPr/>
        </p:nvSpPr>
        <p:spPr>
          <a:xfrm>
            <a:off x="749808" y="1600200"/>
            <a:ext cx="2240280" cy="274320"/>
          </a:xfrm>
          <a:prstGeom prst="rect">
            <a:avLst/>
          </a:prstGeom>
          <a:noFill/>
          <a:ln/>
        </p:spPr>
        <p:txBody>
          <a:bodyPr wrap="square" lIns="0" tIns="0" rIns="0" bIns="0" rtlCol="0" anchor="t"/>
          <a:lstStyle/>
          <a:p>
            <a:pPr marL="0" indent="0">
              <a:buNone/>
            </a:pPr>
            <a:r>
              <a:rPr lang="en-US" sz="1100" b="1" kern="0" spc="100" dirty="0">
                <a:solidFill>
                  <a:schemeClr val="accent1"/>
                </a:solidFill>
                <a:latin typeface="Calibri" pitchFamily="34" charset="0"/>
                <a:ea typeface="Calibri" pitchFamily="34" charset="-122"/>
                <a:cs typeface="Calibri" pitchFamily="34" charset="-120"/>
              </a:rPr>
              <a:t>WEEK 1 · 4 SEP</a:t>
            </a:r>
            <a:endParaRPr lang="en-US" sz="1100" dirty="0"/>
          </a:p>
        </p:txBody>
      </p:sp>
      <p:sp>
        <p:nvSpPr>
          <p:cNvPr id="6" name="Text 4"/>
          <p:cNvSpPr txBox="1"/>
          <p:nvPr/>
        </p:nvSpPr>
        <p:spPr>
          <a:xfrm>
            <a:off x="749808" y="1920240"/>
            <a:ext cx="2240280" cy="41148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Klantcontact</a:t>
            </a:r>
            <a:endParaRPr lang="en-US" sz="2000" dirty="0"/>
          </a:p>
        </p:txBody>
      </p:sp>
      <p:sp>
        <p:nvSpPr>
          <p:cNvPr id="7" name="Text 5"/>
          <p:cNvSpPr txBox="1"/>
          <p:nvPr/>
        </p:nvSpPr>
        <p:spPr>
          <a:xfrm>
            <a:off x="749808" y="2377440"/>
            <a:ext cx="2240280" cy="7772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E-mail naar het museum en een afspraak gemaakt</a:t>
            </a:r>
            <a:endParaRPr lang="en-US" sz="1400" dirty="0"/>
          </a:p>
        </p:txBody>
      </p:sp>
      <p:sp>
        <p:nvSpPr>
          <p:cNvPr id="8" name="Mijlpaal 2"/>
          <p:cNvSpPr/>
          <p:nvPr/>
        </p:nvSpPr>
        <p:spPr>
          <a:xfrm>
            <a:off x="3364992" y="1417320"/>
            <a:ext cx="2606040" cy="187452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9" name="Text 7"/>
          <p:cNvSpPr txBox="1"/>
          <p:nvPr/>
        </p:nvSpPr>
        <p:spPr>
          <a:xfrm>
            <a:off x="3566160" y="1600200"/>
            <a:ext cx="2240280" cy="274320"/>
          </a:xfrm>
          <a:prstGeom prst="rect">
            <a:avLst/>
          </a:prstGeom>
          <a:noFill/>
          <a:ln/>
        </p:spPr>
        <p:txBody>
          <a:bodyPr wrap="square" lIns="0" tIns="0" rIns="0" bIns="0" rtlCol="0" anchor="t"/>
          <a:lstStyle/>
          <a:p>
            <a:pPr marL="0" indent="0">
              <a:buNone/>
            </a:pPr>
            <a:r>
              <a:rPr lang="en-US" sz="1100" b="1" kern="0" spc="100" dirty="0">
                <a:solidFill>
                  <a:schemeClr val="accent1"/>
                </a:solidFill>
                <a:latin typeface="Calibri" pitchFamily="34" charset="0"/>
                <a:ea typeface="Calibri" pitchFamily="34" charset="-122"/>
                <a:cs typeface="Calibri" pitchFamily="34" charset="-120"/>
              </a:rPr>
              <a:t>WEEK 2 · 9–11 SEP</a:t>
            </a:r>
            <a:endParaRPr lang="en-US" sz="1100" dirty="0"/>
          </a:p>
        </p:txBody>
      </p:sp>
      <p:sp>
        <p:nvSpPr>
          <p:cNvPr id="10" name="Text 8"/>
          <p:cNvSpPr txBox="1"/>
          <p:nvPr/>
        </p:nvSpPr>
        <p:spPr>
          <a:xfrm>
            <a:off x="3566160" y="1920240"/>
            <a:ext cx="2240280" cy="41148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Start project</a:t>
            </a:r>
            <a:endParaRPr lang="en-US" sz="2000" dirty="0"/>
          </a:p>
        </p:txBody>
      </p:sp>
      <p:sp>
        <p:nvSpPr>
          <p:cNvPr id="11" name="Text 9"/>
          <p:cNvSpPr txBox="1"/>
          <p:nvPr/>
        </p:nvSpPr>
        <p:spPr>
          <a:xfrm>
            <a:off x="3566160" y="2377440"/>
            <a:ext cx="2240280" cy="7772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GitHub, ontwerpdocument en moodboard</a:t>
            </a:r>
            <a:endParaRPr lang="en-US" sz="1400" dirty="0"/>
          </a:p>
        </p:txBody>
      </p:sp>
      <p:sp>
        <p:nvSpPr>
          <p:cNvPr id="12" name="Mijlpaal 3"/>
          <p:cNvSpPr/>
          <p:nvPr/>
        </p:nvSpPr>
        <p:spPr>
          <a:xfrm>
            <a:off x="6181344" y="1417320"/>
            <a:ext cx="2606040" cy="187452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13" name="Text 11"/>
          <p:cNvSpPr txBox="1"/>
          <p:nvPr/>
        </p:nvSpPr>
        <p:spPr>
          <a:xfrm>
            <a:off x="6382512" y="1600200"/>
            <a:ext cx="2240280" cy="274320"/>
          </a:xfrm>
          <a:prstGeom prst="rect">
            <a:avLst/>
          </a:prstGeom>
          <a:noFill/>
          <a:ln/>
        </p:spPr>
        <p:txBody>
          <a:bodyPr wrap="square" lIns="0" tIns="0" rIns="0" bIns="0" rtlCol="0" anchor="t"/>
          <a:lstStyle/>
          <a:p>
            <a:pPr marL="0" indent="0">
              <a:buNone/>
            </a:pPr>
            <a:r>
              <a:rPr lang="en-US" sz="1100" b="1" kern="0" spc="100" dirty="0">
                <a:solidFill>
                  <a:schemeClr val="accent1"/>
                </a:solidFill>
                <a:latin typeface="Calibri" pitchFamily="34" charset="0"/>
                <a:ea typeface="Calibri" pitchFamily="34" charset="-122"/>
                <a:cs typeface="Calibri" pitchFamily="34" charset="-120"/>
              </a:rPr>
              <a:t>WEEK 3 · 16 SEP</a:t>
            </a:r>
            <a:endParaRPr lang="en-US" sz="1100" dirty="0"/>
          </a:p>
        </p:txBody>
      </p:sp>
      <p:sp>
        <p:nvSpPr>
          <p:cNvPr id="14" name="Text 12"/>
          <p:cNvSpPr txBox="1"/>
          <p:nvPr/>
        </p:nvSpPr>
        <p:spPr>
          <a:xfrm>
            <a:off x="6382512" y="1920240"/>
            <a:ext cx="2240280" cy="41148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Museumbezoek</a:t>
            </a:r>
            <a:endParaRPr lang="en-US" sz="2000" dirty="0"/>
          </a:p>
        </p:txBody>
      </p:sp>
      <p:sp>
        <p:nvSpPr>
          <p:cNvPr id="15" name="Text 13"/>
          <p:cNvSpPr txBox="1"/>
          <p:nvPr/>
        </p:nvSpPr>
        <p:spPr>
          <a:xfrm>
            <a:off x="6382512" y="2377440"/>
            <a:ext cx="2240280" cy="7772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Objectenwand bekeken en de eerste Kivy-schermen</a:t>
            </a:r>
            <a:endParaRPr lang="en-US" sz="1400" dirty="0"/>
          </a:p>
        </p:txBody>
      </p:sp>
      <p:sp>
        <p:nvSpPr>
          <p:cNvPr id="16" name="Mijlpaal 4"/>
          <p:cNvSpPr/>
          <p:nvPr/>
        </p:nvSpPr>
        <p:spPr>
          <a:xfrm>
            <a:off x="8997696" y="1417320"/>
            <a:ext cx="2606040" cy="187452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17" name="Text 15"/>
          <p:cNvSpPr txBox="1"/>
          <p:nvPr/>
        </p:nvSpPr>
        <p:spPr>
          <a:xfrm>
            <a:off x="9198864" y="1600200"/>
            <a:ext cx="2240280" cy="274320"/>
          </a:xfrm>
          <a:prstGeom prst="rect">
            <a:avLst/>
          </a:prstGeom>
          <a:noFill/>
          <a:ln/>
        </p:spPr>
        <p:txBody>
          <a:bodyPr wrap="square" lIns="0" tIns="0" rIns="0" bIns="0" rtlCol="0" anchor="t"/>
          <a:lstStyle/>
          <a:p>
            <a:pPr marL="0" indent="0">
              <a:buNone/>
            </a:pPr>
            <a:r>
              <a:rPr lang="en-US" sz="1100" b="1" kern="0" spc="100" dirty="0">
                <a:solidFill>
                  <a:schemeClr val="accent1"/>
                </a:solidFill>
                <a:latin typeface="Calibri" pitchFamily="34" charset="0"/>
                <a:ea typeface="Calibri" pitchFamily="34" charset="-122"/>
                <a:cs typeface="Calibri" pitchFamily="34" charset="-120"/>
              </a:rPr>
              <a:t>WEEK 3 · 18 SEP</a:t>
            </a:r>
            <a:endParaRPr lang="en-US" sz="1100" dirty="0"/>
          </a:p>
        </p:txBody>
      </p:sp>
      <p:sp>
        <p:nvSpPr>
          <p:cNvPr id="18" name="Text 16"/>
          <p:cNvSpPr txBox="1"/>
          <p:nvPr/>
        </p:nvSpPr>
        <p:spPr>
          <a:xfrm>
            <a:off x="9198864" y="1920240"/>
            <a:ext cx="2240280" cy="41148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Database</a:t>
            </a:r>
            <a:endParaRPr lang="en-US" sz="2000" dirty="0"/>
          </a:p>
        </p:txBody>
      </p:sp>
      <p:sp>
        <p:nvSpPr>
          <p:cNvPr id="19" name="Text 17"/>
          <p:cNvSpPr txBox="1"/>
          <p:nvPr/>
        </p:nvSpPr>
        <p:spPr>
          <a:xfrm>
            <a:off x="9198864" y="2377440"/>
            <a:ext cx="2240280" cy="7772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SQLite-database, wireframes en diagrammen</a:t>
            </a:r>
            <a:endParaRPr lang="en-US" sz="1400" dirty="0"/>
          </a:p>
        </p:txBody>
      </p:sp>
      <p:sp>
        <p:nvSpPr>
          <p:cNvPr id="20" name="Mijlpaal 5"/>
          <p:cNvSpPr/>
          <p:nvPr/>
        </p:nvSpPr>
        <p:spPr>
          <a:xfrm>
            <a:off x="548640" y="3520440"/>
            <a:ext cx="2606040" cy="187452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21" name="Text 19"/>
          <p:cNvSpPr txBox="1"/>
          <p:nvPr/>
        </p:nvSpPr>
        <p:spPr>
          <a:xfrm>
            <a:off x="749808" y="3703320"/>
            <a:ext cx="2240280" cy="274320"/>
          </a:xfrm>
          <a:prstGeom prst="rect">
            <a:avLst/>
          </a:prstGeom>
          <a:noFill/>
          <a:ln/>
        </p:spPr>
        <p:txBody>
          <a:bodyPr wrap="square" lIns="0" tIns="0" rIns="0" bIns="0" rtlCol="0" anchor="t"/>
          <a:lstStyle/>
          <a:p>
            <a:pPr marL="0" indent="0">
              <a:buNone/>
            </a:pPr>
            <a:r>
              <a:rPr lang="en-US" sz="1100" b="1" kern="0" spc="100" dirty="0">
                <a:solidFill>
                  <a:schemeClr val="accent1"/>
                </a:solidFill>
                <a:latin typeface="Calibri" pitchFamily="34" charset="0"/>
                <a:ea typeface="Calibri" pitchFamily="34" charset="-122"/>
                <a:cs typeface="Calibri" pitchFamily="34" charset="-120"/>
              </a:rPr>
              <a:t>WEEK 4–5</a:t>
            </a:r>
            <a:endParaRPr lang="en-US" sz="1100" dirty="0"/>
          </a:p>
        </p:txBody>
      </p:sp>
      <p:sp>
        <p:nvSpPr>
          <p:cNvPr id="22" name="Text 20"/>
          <p:cNvSpPr txBox="1"/>
          <p:nvPr/>
        </p:nvSpPr>
        <p:spPr>
          <a:xfrm>
            <a:off x="749808" y="4023360"/>
            <a:ext cx="2240280" cy="41148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Beheer</a:t>
            </a:r>
            <a:endParaRPr lang="en-US" sz="2000" dirty="0"/>
          </a:p>
        </p:txBody>
      </p:sp>
      <p:sp>
        <p:nvSpPr>
          <p:cNvPr id="23" name="Text 21"/>
          <p:cNvSpPr txBox="1"/>
          <p:nvPr/>
        </p:nvSpPr>
        <p:spPr>
          <a:xfrm>
            <a:off x="749808" y="4480560"/>
            <a:ext cx="2240280" cy="7772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Beheerpaneel en inloggen met wachtwoord</a:t>
            </a:r>
            <a:endParaRPr lang="en-US" sz="1400" dirty="0"/>
          </a:p>
        </p:txBody>
      </p:sp>
      <p:sp>
        <p:nvSpPr>
          <p:cNvPr id="24" name="Mijlpaal 6"/>
          <p:cNvSpPr/>
          <p:nvPr/>
        </p:nvSpPr>
        <p:spPr>
          <a:xfrm>
            <a:off x="3364992" y="3520440"/>
            <a:ext cx="2606040" cy="187452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25" name="Text 23"/>
          <p:cNvSpPr txBox="1"/>
          <p:nvPr/>
        </p:nvSpPr>
        <p:spPr>
          <a:xfrm>
            <a:off x="3566160" y="3703320"/>
            <a:ext cx="2240280" cy="274320"/>
          </a:xfrm>
          <a:prstGeom prst="rect">
            <a:avLst/>
          </a:prstGeom>
          <a:noFill/>
          <a:ln/>
        </p:spPr>
        <p:txBody>
          <a:bodyPr wrap="square" lIns="0" tIns="0" rIns="0" bIns="0" rtlCol="0" anchor="t"/>
          <a:lstStyle/>
          <a:p>
            <a:pPr marL="0" indent="0">
              <a:buNone/>
            </a:pPr>
            <a:r>
              <a:rPr lang="en-US" sz="1100" b="1" kern="0" spc="100" dirty="0">
                <a:solidFill>
                  <a:schemeClr val="accent1"/>
                </a:solidFill>
                <a:latin typeface="Calibri" pitchFamily="34" charset="0"/>
                <a:ea typeface="Calibri" pitchFamily="34" charset="-122"/>
                <a:cs typeface="Calibri" pitchFamily="34" charset="-120"/>
              </a:rPr>
              <a:t>WEEK 6 · 9 OKT</a:t>
            </a:r>
            <a:endParaRPr lang="en-US" sz="1100" dirty="0"/>
          </a:p>
        </p:txBody>
      </p:sp>
      <p:sp>
        <p:nvSpPr>
          <p:cNvPr id="26" name="Text 24"/>
          <p:cNvSpPr txBox="1"/>
          <p:nvPr/>
        </p:nvSpPr>
        <p:spPr>
          <a:xfrm>
            <a:off x="3566160" y="4023360"/>
            <a:ext cx="2240280" cy="41148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Sprint 1 af</a:t>
            </a:r>
            <a:endParaRPr lang="en-US" sz="2000" dirty="0"/>
          </a:p>
        </p:txBody>
      </p:sp>
      <p:sp>
        <p:nvSpPr>
          <p:cNvPr id="27" name="Text 25"/>
          <p:cNvSpPr txBox="1"/>
          <p:nvPr/>
        </p:nvSpPr>
        <p:spPr>
          <a:xfrm>
            <a:off x="3566160" y="4480560"/>
            <a:ext cx="2240280" cy="7772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Objectpagina's gekoppeld aan het beheer</a:t>
            </a:r>
            <a:endParaRPr lang="en-US" sz="1400" dirty="0"/>
          </a:p>
        </p:txBody>
      </p:sp>
      <p:sp>
        <p:nvSpPr>
          <p:cNvPr id="28" name="Mijlpaal 7"/>
          <p:cNvSpPr/>
          <p:nvPr/>
        </p:nvSpPr>
        <p:spPr>
          <a:xfrm>
            <a:off x="6181344" y="3520440"/>
            <a:ext cx="2606040" cy="187452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29" name="Text 27"/>
          <p:cNvSpPr txBox="1"/>
          <p:nvPr/>
        </p:nvSpPr>
        <p:spPr>
          <a:xfrm>
            <a:off x="6382512" y="3703320"/>
            <a:ext cx="2240280" cy="274320"/>
          </a:xfrm>
          <a:prstGeom prst="rect">
            <a:avLst/>
          </a:prstGeom>
          <a:noFill/>
          <a:ln/>
        </p:spPr>
        <p:txBody>
          <a:bodyPr wrap="square" lIns="0" tIns="0" rIns="0" bIns="0" rtlCol="0" anchor="t"/>
          <a:lstStyle/>
          <a:p>
            <a:pPr marL="0" indent="0">
              <a:buNone/>
            </a:pPr>
            <a:r>
              <a:rPr lang="en-US" sz="1100" b="1" kern="0" spc="100" dirty="0">
                <a:solidFill>
                  <a:schemeClr val="accent1"/>
                </a:solidFill>
                <a:latin typeface="Calibri" pitchFamily="34" charset="0"/>
                <a:ea typeface="Calibri" pitchFamily="34" charset="-122"/>
                <a:cs typeface="Calibri" pitchFamily="34" charset="-120"/>
              </a:rPr>
              <a:t>WEEK 7 · 16 OKT</a:t>
            </a:r>
            <a:endParaRPr lang="en-US" sz="1100" dirty="0"/>
          </a:p>
        </p:txBody>
      </p:sp>
      <p:sp>
        <p:nvSpPr>
          <p:cNvPr id="30" name="Text 28"/>
          <p:cNvSpPr txBox="1"/>
          <p:nvPr/>
        </p:nvSpPr>
        <p:spPr>
          <a:xfrm>
            <a:off x="6382512" y="4023360"/>
            <a:ext cx="2240280" cy="41148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Afwerking</a:t>
            </a:r>
            <a:endParaRPr lang="en-US" sz="2000" dirty="0"/>
          </a:p>
        </p:txBody>
      </p:sp>
      <p:sp>
        <p:nvSpPr>
          <p:cNvPr id="31" name="Text 29"/>
          <p:cNvSpPr txBox="1"/>
          <p:nvPr/>
        </p:nvSpPr>
        <p:spPr>
          <a:xfrm>
            <a:off x="6382512" y="4480560"/>
            <a:ext cx="2240280" cy="7772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Fotoformaat, eigen lettertypes en foto's</a:t>
            </a:r>
            <a:endParaRPr lang="en-US" sz="1400" dirty="0"/>
          </a:p>
        </p:txBody>
      </p:sp>
      <p:sp>
        <p:nvSpPr>
          <p:cNvPr id="32" name="Mijlpaal 8"/>
          <p:cNvSpPr/>
          <p:nvPr/>
        </p:nvSpPr>
        <p:spPr>
          <a:xfrm>
            <a:off x="8997696" y="3520440"/>
            <a:ext cx="2606040" cy="1874520"/>
          </a:xfrm>
          <a:prstGeom prst="rect">
            <a:avLst/>
          </a:prstGeom>
          <a:solidFill>
            <a:schemeClr val="accent2"/>
          </a:solidFill>
          <a:ln w="9525">
            <a:solidFill>
              <a:srgbClr val="009CAD"/>
            </a:solidFill>
            <a:prstDash val="solid"/>
          </a:ln>
          <a:effectLst>
            <a:outerShdw blurRad="76200" dist="25400" dir="5400000" algn="bl" rotWithShape="0">
              <a:srgbClr val="000000">
                <a:alpha val="18000"/>
              </a:srgbClr>
            </a:outerShdw>
          </a:effectLst>
        </p:spPr>
        <p:txBody>
          <a:bodyPr/>
          <a:lstStyle/>
          <a:p>
            <a:endParaRPr lang="nl-NL"/>
          </a:p>
        </p:txBody>
      </p:sp>
      <p:sp>
        <p:nvSpPr>
          <p:cNvPr id="33" name="Text 31"/>
          <p:cNvSpPr txBox="1"/>
          <p:nvPr/>
        </p:nvSpPr>
        <p:spPr>
          <a:xfrm>
            <a:off x="9198864" y="3703320"/>
            <a:ext cx="2240280" cy="274320"/>
          </a:xfrm>
          <a:prstGeom prst="rect">
            <a:avLst/>
          </a:prstGeom>
          <a:noFill/>
          <a:ln/>
        </p:spPr>
        <p:txBody>
          <a:bodyPr wrap="square" lIns="0" tIns="0" rIns="0" bIns="0" rtlCol="0" anchor="t"/>
          <a:lstStyle/>
          <a:p>
            <a:pPr marL="0" indent="0">
              <a:buNone/>
            </a:pPr>
            <a:r>
              <a:rPr lang="en-US" sz="1100" b="1" kern="0" spc="100" dirty="0">
                <a:solidFill>
                  <a:schemeClr val="bg1"/>
                </a:solidFill>
                <a:latin typeface="Calibri" pitchFamily="34" charset="0"/>
                <a:ea typeface="Calibri" pitchFamily="34" charset="-122"/>
                <a:cs typeface="Calibri" pitchFamily="34" charset="-120"/>
              </a:rPr>
              <a:t>WEEK 9–10 · NU</a:t>
            </a:r>
            <a:endParaRPr lang="en-US" sz="1100" dirty="0"/>
          </a:p>
        </p:txBody>
      </p:sp>
      <p:sp>
        <p:nvSpPr>
          <p:cNvPr id="34" name="Text 32"/>
          <p:cNvSpPr txBox="1"/>
          <p:nvPr/>
        </p:nvSpPr>
        <p:spPr>
          <a:xfrm>
            <a:off x="9198864" y="4023360"/>
            <a:ext cx="2240280" cy="411480"/>
          </a:xfrm>
          <a:prstGeom prst="rect">
            <a:avLst/>
          </a:prstGeom>
          <a:noFill/>
          <a:ln/>
        </p:spPr>
        <p:txBody>
          <a:bodyPr wrap="square" lIns="0" tIns="0" rIns="0" bIns="0" rtlCol="0" anchor="t"/>
          <a:lstStyle/>
          <a:p>
            <a:pPr marL="0" indent="0">
              <a:buNone/>
            </a:pPr>
            <a:r>
              <a:rPr lang="en-US" sz="2000" b="1" dirty="0">
                <a:solidFill>
                  <a:schemeClr val="bg1"/>
                </a:solidFill>
                <a:latin typeface="Cambria" pitchFamily="34" charset="0"/>
                <a:ea typeface="Cambria" pitchFamily="34" charset="-122"/>
                <a:cs typeface="Cambria" pitchFamily="34" charset="-120"/>
              </a:rPr>
              <a:t>Tussenstand</a:t>
            </a:r>
            <a:endParaRPr lang="en-US" sz="2000" dirty="0"/>
          </a:p>
        </p:txBody>
      </p:sp>
      <p:sp>
        <p:nvSpPr>
          <p:cNvPr id="35" name="Text 33"/>
          <p:cNvSpPr txBox="1"/>
          <p:nvPr/>
        </p:nvSpPr>
        <p:spPr>
          <a:xfrm>
            <a:off x="9198864" y="4480560"/>
            <a:ext cx="2240280" cy="777240"/>
          </a:xfrm>
          <a:prstGeom prst="rect">
            <a:avLst/>
          </a:prstGeom>
          <a:noFill/>
          <a:ln/>
        </p:spPr>
        <p:txBody>
          <a:bodyPr wrap="square" lIns="0" tIns="0" rIns="0" bIns="0" rtlCol="0" anchor="t"/>
          <a:lstStyle/>
          <a:p>
            <a:pPr marL="0" indent="0">
              <a:buNone/>
            </a:pPr>
            <a:r>
              <a:rPr lang="en-US" sz="1400" dirty="0">
                <a:solidFill>
                  <a:schemeClr val="bg1"/>
                </a:solidFill>
                <a:latin typeface="Calibri" pitchFamily="34" charset="0"/>
                <a:ea typeface="Calibri" pitchFamily="34" charset="-122"/>
                <a:cs typeface="Calibri" pitchFamily="34" charset="-120"/>
              </a:rPr>
              <a:t>Objecten ingevoerd, code opgeruimd</a:t>
            </a:r>
            <a:endParaRPr lang="en-US" sz="1400" dirty="0"/>
          </a:p>
        </p:txBody>
      </p:sp>
      <p:sp>
        <p:nvSpPr>
          <p:cNvPr id="36" name="Text 34"/>
          <p:cNvSpPr txBox="1"/>
          <p:nvPr/>
        </p:nvSpPr>
        <p:spPr>
          <a:xfrm>
            <a:off x="548640" y="5715000"/>
            <a:ext cx="2651760" cy="502920"/>
          </a:xfrm>
          <a:prstGeom prst="rect">
            <a:avLst/>
          </a:prstGeom>
          <a:noFill/>
          <a:ln/>
        </p:spPr>
        <p:txBody>
          <a:bodyPr wrap="square" lIns="0" tIns="0" rIns="0" bIns="0" rtlCol="0" anchor="ctr"/>
          <a:lstStyle/>
          <a:p>
            <a:pPr marL="0" indent="0">
              <a:buNone/>
            </a:pPr>
            <a:r>
              <a:rPr lang="en-US" sz="2800" b="1" dirty="0">
                <a:solidFill>
                  <a:schemeClr val="accent1"/>
                </a:solidFill>
                <a:latin typeface="Cambria" pitchFamily="34" charset="0"/>
                <a:ea typeface="Cambria" pitchFamily="34" charset="-122"/>
                <a:cs typeface="Cambria" pitchFamily="34" charset="-120"/>
              </a:rPr>
              <a:t>45  </a:t>
            </a:r>
            <a:r>
              <a:rPr lang="en-US" sz="1400" dirty="0">
                <a:solidFill>
                  <a:schemeClr val="accent4"/>
                </a:solidFill>
                <a:latin typeface="Calibri" pitchFamily="34" charset="0"/>
                <a:ea typeface="Calibri" pitchFamily="34" charset="-122"/>
                <a:cs typeface="Calibri" pitchFamily="34" charset="-120"/>
              </a:rPr>
              <a:t>commits op GitHub</a:t>
            </a:r>
            <a:endParaRPr lang="en-US" sz="1400" dirty="0"/>
          </a:p>
        </p:txBody>
      </p:sp>
      <p:sp>
        <p:nvSpPr>
          <p:cNvPr id="37" name="Text 35"/>
          <p:cNvSpPr txBox="1"/>
          <p:nvPr/>
        </p:nvSpPr>
        <p:spPr>
          <a:xfrm>
            <a:off x="3364992" y="5715000"/>
            <a:ext cx="2651760" cy="502920"/>
          </a:xfrm>
          <a:prstGeom prst="rect">
            <a:avLst/>
          </a:prstGeom>
          <a:noFill/>
          <a:ln/>
        </p:spPr>
        <p:txBody>
          <a:bodyPr wrap="square" lIns="0" tIns="0" rIns="0" bIns="0" rtlCol="0" anchor="ctr"/>
          <a:lstStyle/>
          <a:p>
            <a:pPr marL="0" indent="0">
              <a:buNone/>
            </a:pPr>
            <a:r>
              <a:rPr lang="en-US" sz="2800" b="1" dirty="0">
                <a:solidFill>
                  <a:schemeClr val="accent1"/>
                </a:solidFill>
                <a:latin typeface="Cambria" pitchFamily="34" charset="0"/>
                <a:ea typeface="Cambria" pitchFamily="34" charset="-122"/>
                <a:cs typeface="Cambria" pitchFamily="34" charset="-120"/>
              </a:rPr>
              <a:t>2  </a:t>
            </a:r>
            <a:r>
              <a:rPr lang="en-US" sz="1400" dirty="0">
                <a:solidFill>
                  <a:schemeClr val="accent4"/>
                </a:solidFill>
                <a:latin typeface="Calibri" pitchFamily="34" charset="0"/>
                <a:ea typeface="Calibri" pitchFamily="34" charset="-122"/>
                <a:cs typeface="Calibri" pitchFamily="34" charset="-120"/>
              </a:rPr>
              <a:t>sprints</a:t>
            </a:r>
            <a:endParaRPr lang="en-US" sz="1400" dirty="0"/>
          </a:p>
        </p:txBody>
      </p:sp>
      <p:sp>
        <p:nvSpPr>
          <p:cNvPr id="38" name="Text 36"/>
          <p:cNvSpPr txBox="1"/>
          <p:nvPr/>
        </p:nvSpPr>
        <p:spPr>
          <a:xfrm>
            <a:off x="6181344" y="5715000"/>
            <a:ext cx="2651760" cy="502920"/>
          </a:xfrm>
          <a:prstGeom prst="rect">
            <a:avLst/>
          </a:prstGeom>
          <a:noFill/>
          <a:ln/>
        </p:spPr>
        <p:txBody>
          <a:bodyPr wrap="square" lIns="0" tIns="0" rIns="0" bIns="0" rtlCol="0" anchor="ctr"/>
          <a:lstStyle/>
          <a:p>
            <a:pPr marL="0" indent="0">
              <a:buNone/>
            </a:pPr>
            <a:r>
              <a:rPr lang="en-US" sz="2800" b="1" dirty="0">
                <a:solidFill>
                  <a:schemeClr val="accent1"/>
                </a:solidFill>
                <a:latin typeface="Cambria" pitchFamily="34" charset="0"/>
                <a:ea typeface="Cambria" pitchFamily="34" charset="-122"/>
                <a:cs typeface="Cambria" pitchFamily="34" charset="-120"/>
              </a:rPr>
              <a:t>34  </a:t>
            </a:r>
            <a:r>
              <a:rPr lang="en-US" sz="1400" dirty="0">
                <a:solidFill>
                  <a:schemeClr val="accent4"/>
                </a:solidFill>
                <a:latin typeface="Calibri" pitchFamily="34" charset="0"/>
                <a:ea typeface="Calibri" pitchFamily="34" charset="-122"/>
                <a:cs typeface="Calibri" pitchFamily="34" charset="-120"/>
              </a:rPr>
              <a:t>objecten ingevoerd</a:t>
            </a:r>
            <a:endParaRPr lang="en-US" sz="1400" dirty="0"/>
          </a:p>
        </p:txBody>
      </p:sp>
      <p:sp>
        <p:nvSpPr>
          <p:cNvPr id="39"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5D52"/>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latin typeface="Calibri" pitchFamily="34" charset="0"/>
                <a:ea typeface="Calibri" pitchFamily="34" charset="-122"/>
                <a:cs typeface="Calibri" pitchFamily="34" charset="-120"/>
              </a:rPr>
              <a:t>MOODBOARD</a:t>
            </a:r>
            <a:endParaRPr lang="en-US" sz="1100" dirty="0"/>
          </a:p>
        </p:txBody>
      </p:sp>
      <p:sp>
        <p:nvSpPr>
          <p:cNvPr id="3" name="Text 1"/>
          <p:cNvSpPr>
            <a:spLocks noGrp="1"/>
          </p:cNvSpPr>
          <p:nvPr>
            <p:ph type="title" idx="101" hasCustomPrompt="1"/>
          </p:nvPr>
        </p:nvSpPr>
        <p:spPr>
          <a:xfrm>
            <a:off x="548640" y="411480"/>
            <a:ext cx="11091672"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Huisstijl van het museum, kleuren uit de collectie</a:t>
            </a:r>
            <a:endParaRPr lang="en-US" sz="3400" dirty="0"/>
          </a:p>
        </p:txBody>
      </p:sp>
      <p:sp>
        <p:nvSpPr>
          <p:cNvPr id="4" name="Kleur Museumturkoois"/>
          <p:cNvSpPr/>
          <p:nvPr/>
        </p:nvSpPr>
        <p:spPr>
          <a:xfrm>
            <a:off x="548640" y="1463040"/>
            <a:ext cx="868680" cy="868680"/>
          </a:xfrm>
          <a:prstGeom prst="roundRect">
            <a:avLst>
              <a:gd name="adj" fmla="val 12632"/>
            </a:avLst>
          </a:prstGeom>
          <a:solidFill>
            <a:srgbClr val="009CAD"/>
          </a:solidFill>
          <a:ln w="9525">
            <a:solidFill>
              <a:srgbClr val="D9CFC0"/>
            </a:solidFill>
            <a:prstDash val="solid"/>
          </a:ln>
        </p:spPr>
        <p:txBody>
          <a:bodyPr/>
          <a:lstStyle/>
          <a:p>
            <a:endParaRPr lang="nl-NL"/>
          </a:p>
        </p:txBody>
      </p:sp>
      <p:sp>
        <p:nvSpPr>
          <p:cNvPr id="5" name="Text 3"/>
          <p:cNvSpPr txBox="1"/>
          <p:nvPr/>
        </p:nvSpPr>
        <p:spPr>
          <a:xfrm>
            <a:off x="1554480" y="1508760"/>
            <a:ext cx="1325880" cy="274320"/>
          </a:xfrm>
          <a:prstGeom prst="rect">
            <a:avLst/>
          </a:prstGeom>
          <a:noFill/>
          <a:ln/>
        </p:spPr>
        <p:txBody>
          <a:bodyPr wrap="square" lIns="0" tIns="0" rIns="0" bIns="0" rtlCol="0" anchor="t"/>
          <a:lstStyle/>
          <a:p>
            <a:pPr marL="0" indent="0">
              <a:buNone/>
            </a:pPr>
            <a:r>
              <a:rPr lang="en-US" sz="1300" b="1" dirty="0">
                <a:solidFill>
                  <a:schemeClr val="tx2"/>
                </a:solidFill>
                <a:latin typeface="Calibri" pitchFamily="34" charset="0"/>
                <a:ea typeface="Calibri" pitchFamily="34" charset="-122"/>
                <a:cs typeface="Calibri" pitchFamily="34" charset="-120"/>
              </a:rPr>
              <a:t>Museumturkoois</a:t>
            </a:r>
            <a:endParaRPr lang="en-US" sz="1300" dirty="0"/>
          </a:p>
        </p:txBody>
      </p:sp>
      <p:sp>
        <p:nvSpPr>
          <p:cNvPr id="6" name="Text 4"/>
          <p:cNvSpPr txBox="1"/>
          <p:nvPr/>
        </p:nvSpPr>
        <p:spPr>
          <a:xfrm>
            <a:off x="1554480" y="1783080"/>
            <a:ext cx="1325880" cy="228600"/>
          </a:xfrm>
          <a:prstGeom prst="rect">
            <a:avLst/>
          </a:prstGeom>
          <a:noFill/>
          <a:ln/>
        </p:spPr>
        <p:txBody>
          <a:bodyPr wrap="square" lIns="0" tIns="0" rIns="0" bIns="0" rtlCol="0" anchor="t"/>
          <a:lstStyle/>
          <a:p>
            <a:pPr marL="0" indent="0">
              <a:buNone/>
            </a:pPr>
            <a:r>
              <a:rPr lang="en-US" sz="1100" dirty="0">
                <a:solidFill>
                  <a:schemeClr val="accent4"/>
                </a:solidFill>
                <a:latin typeface="Calibri" pitchFamily="34" charset="0"/>
                <a:ea typeface="Calibri" pitchFamily="34" charset="-122"/>
                <a:cs typeface="Calibri" pitchFamily="34" charset="-120"/>
              </a:rPr>
              <a:t>#009CAD</a:t>
            </a:r>
            <a:endParaRPr lang="en-US" sz="1100" dirty="0"/>
          </a:p>
        </p:txBody>
      </p:sp>
      <p:sp>
        <p:nvSpPr>
          <p:cNvPr id="7" name="Text 5"/>
          <p:cNvSpPr txBox="1"/>
          <p:nvPr/>
        </p:nvSpPr>
        <p:spPr>
          <a:xfrm>
            <a:off x="1554480" y="2011680"/>
            <a:ext cx="1325880" cy="274320"/>
          </a:xfrm>
          <a:prstGeom prst="rect">
            <a:avLst/>
          </a:prstGeom>
          <a:noFill/>
          <a:ln/>
        </p:spPr>
        <p:txBody>
          <a:bodyPr wrap="square" lIns="0" tIns="0" rIns="0" bIns="0" rtlCol="0" anchor="t"/>
          <a:lstStyle/>
          <a:p>
            <a:pPr marL="0" indent="0">
              <a:buNone/>
            </a:pPr>
            <a:r>
              <a:rPr lang="en-US" sz="1000" dirty="0">
                <a:solidFill>
                  <a:schemeClr val="accent4"/>
                </a:solidFill>
                <a:latin typeface="Calibri" pitchFamily="34" charset="0"/>
                <a:ea typeface="Calibri" pitchFamily="34" charset="-122"/>
                <a:cs typeface="Calibri" pitchFamily="34" charset="-120"/>
              </a:rPr>
              <a:t>Huisstijl, actieve staat</a:t>
            </a:r>
            <a:endParaRPr lang="en-US" sz="1000" dirty="0"/>
          </a:p>
        </p:txBody>
      </p:sp>
      <p:sp>
        <p:nvSpPr>
          <p:cNvPr id="8" name="Kleur Diepzwart"/>
          <p:cNvSpPr/>
          <p:nvPr/>
        </p:nvSpPr>
        <p:spPr>
          <a:xfrm>
            <a:off x="2926080" y="1463040"/>
            <a:ext cx="868680" cy="868680"/>
          </a:xfrm>
          <a:prstGeom prst="roundRect">
            <a:avLst>
              <a:gd name="adj" fmla="val 12632"/>
            </a:avLst>
          </a:prstGeom>
          <a:solidFill>
            <a:srgbClr val="111111"/>
          </a:solidFill>
          <a:ln w="9525">
            <a:solidFill>
              <a:srgbClr val="D9CFC0"/>
            </a:solidFill>
            <a:prstDash val="solid"/>
          </a:ln>
        </p:spPr>
        <p:txBody>
          <a:bodyPr/>
          <a:lstStyle/>
          <a:p>
            <a:endParaRPr lang="nl-NL"/>
          </a:p>
        </p:txBody>
      </p:sp>
      <p:sp>
        <p:nvSpPr>
          <p:cNvPr id="9" name="Text 7"/>
          <p:cNvSpPr txBox="1"/>
          <p:nvPr/>
        </p:nvSpPr>
        <p:spPr>
          <a:xfrm>
            <a:off x="3931920" y="1508760"/>
            <a:ext cx="1325880" cy="274320"/>
          </a:xfrm>
          <a:prstGeom prst="rect">
            <a:avLst/>
          </a:prstGeom>
          <a:noFill/>
          <a:ln/>
        </p:spPr>
        <p:txBody>
          <a:bodyPr wrap="square" lIns="0" tIns="0" rIns="0" bIns="0" rtlCol="0" anchor="t"/>
          <a:lstStyle/>
          <a:p>
            <a:pPr marL="0" indent="0">
              <a:buNone/>
            </a:pPr>
            <a:r>
              <a:rPr lang="en-US" sz="1300" b="1" dirty="0">
                <a:solidFill>
                  <a:schemeClr val="tx2"/>
                </a:solidFill>
                <a:latin typeface="Calibri" pitchFamily="34" charset="0"/>
                <a:ea typeface="Calibri" pitchFamily="34" charset="-122"/>
                <a:cs typeface="Calibri" pitchFamily="34" charset="-120"/>
              </a:rPr>
              <a:t>Diepzwart</a:t>
            </a:r>
            <a:endParaRPr lang="en-US" sz="1300" dirty="0"/>
          </a:p>
        </p:txBody>
      </p:sp>
      <p:sp>
        <p:nvSpPr>
          <p:cNvPr id="10" name="Text 8"/>
          <p:cNvSpPr txBox="1"/>
          <p:nvPr/>
        </p:nvSpPr>
        <p:spPr>
          <a:xfrm>
            <a:off x="3931920" y="1783080"/>
            <a:ext cx="1325880" cy="228600"/>
          </a:xfrm>
          <a:prstGeom prst="rect">
            <a:avLst/>
          </a:prstGeom>
          <a:noFill/>
          <a:ln/>
        </p:spPr>
        <p:txBody>
          <a:bodyPr wrap="square" lIns="0" tIns="0" rIns="0" bIns="0" rtlCol="0" anchor="t"/>
          <a:lstStyle/>
          <a:p>
            <a:pPr marL="0" indent="0">
              <a:buNone/>
            </a:pPr>
            <a:r>
              <a:rPr lang="en-US" sz="1100" dirty="0">
                <a:solidFill>
                  <a:schemeClr val="accent4"/>
                </a:solidFill>
                <a:latin typeface="Calibri" pitchFamily="34" charset="0"/>
                <a:ea typeface="Calibri" pitchFamily="34" charset="-122"/>
                <a:cs typeface="Calibri" pitchFamily="34" charset="-120"/>
              </a:rPr>
              <a:t>#111111</a:t>
            </a:r>
            <a:endParaRPr lang="en-US" sz="1100" dirty="0"/>
          </a:p>
        </p:txBody>
      </p:sp>
      <p:sp>
        <p:nvSpPr>
          <p:cNvPr id="11" name="Text 9"/>
          <p:cNvSpPr txBox="1"/>
          <p:nvPr/>
        </p:nvSpPr>
        <p:spPr>
          <a:xfrm>
            <a:off x="3931920" y="2011680"/>
            <a:ext cx="1325880" cy="274320"/>
          </a:xfrm>
          <a:prstGeom prst="rect">
            <a:avLst/>
          </a:prstGeom>
          <a:noFill/>
          <a:ln/>
        </p:spPr>
        <p:txBody>
          <a:bodyPr wrap="square" lIns="0" tIns="0" rIns="0" bIns="0" rtlCol="0" anchor="t"/>
          <a:lstStyle/>
          <a:p>
            <a:pPr marL="0" indent="0">
              <a:buNone/>
            </a:pPr>
            <a:r>
              <a:rPr lang="en-US" sz="1000" dirty="0">
                <a:solidFill>
                  <a:schemeClr val="accent4"/>
                </a:solidFill>
                <a:latin typeface="Calibri" pitchFamily="34" charset="0"/>
                <a:ea typeface="Calibri" pitchFamily="34" charset="-122"/>
                <a:cs typeface="Calibri" pitchFamily="34" charset="-120"/>
              </a:rPr>
              <a:t>Tekst en kader</a:t>
            </a:r>
            <a:endParaRPr lang="en-US" sz="1000" dirty="0"/>
          </a:p>
        </p:txBody>
      </p:sp>
      <p:sp>
        <p:nvSpPr>
          <p:cNvPr id="12" name="Kleur Wolwit"/>
          <p:cNvSpPr/>
          <p:nvPr/>
        </p:nvSpPr>
        <p:spPr>
          <a:xfrm>
            <a:off x="5303520" y="1463040"/>
            <a:ext cx="868680" cy="868680"/>
          </a:xfrm>
          <a:prstGeom prst="roundRect">
            <a:avLst>
              <a:gd name="adj" fmla="val 12632"/>
            </a:avLst>
          </a:prstGeom>
          <a:solidFill>
            <a:srgbClr val="EFE8DC"/>
          </a:solidFill>
          <a:ln w="9525">
            <a:solidFill>
              <a:srgbClr val="D9CFC0"/>
            </a:solidFill>
            <a:prstDash val="solid"/>
          </a:ln>
        </p:spPr>
        <p:txBody>
          <a:bodyPr/>
          <a:lstStyle/>
          <a:p>
            <a:endParaRPr lang="nl-NL"/>
          </a:p>
        </p:txBody>
      </p:sp>
      <p:sp>
        <p:nvSpPr>
          <p:cNvPr id="13" name="Text 11"/>
          <p:cNvSpPr txBox="1"/>
          <p:nvPr/>
        </p:nvSpPr>
        <p:spPr>
          <a:xfrm>
            <a:off x="6309360" y="1508760"/>
            <a:ext cx="1325880" cy="274320"/>
          </a:xfrm>
          <a:prstGeom prst="rect">
            <a:avLst/>
          </a:prstGeom>
          <a:noFill/>
          <a:ln/>
        </p:spPr>
        <p:txBody>
          <a:bodyPr wrap="square" lIns="0" tIns="0" rIns="0" bIns="0" rtlCol="0" anchor="t"/>
          <a:lstStyle/>
          <a:p>
            <a:pPr marL="0" indent="0">
              <a:buNone/>
            </a:pPr>
            <a:r>
              <a:rPr lang="en-US" sz="1300" b="1" dirty="0">
                <a:solidFill>
                  <a:schemeClr val="tx2"/>
                </a:solidFill>
                <a:latin typeface="Calibri" pitchFamily="34" charset="0"/>
                <a:ea typeface="Calibri" pitchFamily="34" charset="-122"/>
                <a:cs typeface="Calibri" pitchFamily="34" charset="-120"/>
              </a:rPr>
              <a:t>Wolwit</a:t>
            </a:r>
            <a:endParaRPr lang="en-US" sz="1300" dirty="0"/>
          </a:p>
        </p:txBody>
      </p:sp>
      <p:sp>
        <p:nvSpPr>
          <p:cNvPr id="14" name="Text 12"/>
          <p:cNvSpPr txBox="1"/>
          <p:nvPr/>
        </p:nvSpPr>
        <p:spPr>
          <a:xfrm>
            <a:off x="6309360" y="1783080"/>
            <a:ext cx="1325880" cy="228600"/>
          </a:xfrm>
          <a:prstGeom prst="rect">
            <a:avLst/>
          </a:prstGeom>
          <a:noFill/>
          <a:ln/>
        </p:spPr>
        <p:txBody>
          <a:bodyPr wrap="square" lIns="0" tIns="0" rIns="0" bIns="0" rtlCol="0" anchor="t"/>
          <a:lstStyle/>
          <a:p>
            <a:pPr marL="0" indent="0">
              <a:buNone/>
            </a:pPr>
            <a:r>
              <a:rPr lang="en-US" sz="1100" dirty="0">
                <a:solidFill>
                  <a:schemeClr val="accent4"/>
                </a:solidFill>
                <a:latin typeface="Calibri" pitchFamily="34" charset="0"/>
                <a:ea typeface="Calibri" pitchFamily="34" charset="-122"/>
                <a:cs typeface="Calibri" pitchFamily="34" charset="-120"/>
              </a:rPr>
              <a:t>#EFE8DC</a:t>
            </a:r>
            <a:endParaRPr lang="en-US" sz="1100" dirty="0"/>
          </a:p>
        </p:txBody>
      </p:sp>
      <p:sp>
        <p:nvSpPr>
          <p:cNvPr id="15" name="Text 13"/>
          <p:cNvSpPr txBox="1"/>
          <p:nvPr/>
        </p:nvSpPr>
        <p:spPr>
          <a:xfrm>
            <a:off x="6309360" y="2011680"/>
            <a:ext cx="1325880" cy="274320"/>
          </a:xfrm>
          <a:prstGeom prst="rect">
            <a:avLst/>
          </a:prstGeom>
          <a:noFill/>
          <a:ln/>
        </p:spPr>
        <p:txBody>
          <a:bodyPr wrap="square" lIns="0" tIns="0" rIns="0" bIns="0" rtlCol="0" anchor="t"/>
          <a:lstStyle/>
          <a:p>
            <a:pPr marL="0" indent="0">
              <a:buNone/>
            </a:pPr>
            <a:r>
              <a:rPr lang="en-US" sz="1000" dirty="0">
                <a:solidFill>
                  <a:schemeClr val="accent4"/>
                </a:solidFill>
                <a:latin typeface="Calibri" pitchFamily="34" charset="0"/>
                <a:ea typeface="Calibri" pitchFamily="34" charset="-122"/>
                <a:cs typeface="Calibri" pitchFamily="34" charset="-120"/>
              </a:rPr>
              <a:t>Achtergrond scherm</a:t>
            </a:r>
            <a:endParaRPr lang="en-US" sz="1000" dirty="0"/>
          </a:p>
        </p:txBody>
      </p:sp>
      <p:sp>
        <p:nvSpPr>
          <p:cNvPr id="16" name="Kleur Veenbruin"/>
          <p:cNvSpPr/>
          <p:nvPr/>
        </p:nvSpPr>
        <p:spPr>
          <a:xfrm>
            <a:off x="548640" y="2606040"/>
            <a:ext cx="868680" cy="868680"/>
          </a:xfrm>
          <a:prstGeom prst="roundRect">
            <a:avLst>
              <a:gd name="adj" fmla="val 12632"/>
            </a:avLst>
          </a:prstGeom>
          <a:solidFill>
            <a:srgbClr val="4A3728"/>
          </a:solidFill>
          <a:ln w="9525">
            <a:solidFill>
              <a:srgbClr val="D9CFC0"/>
            </a:solidFill>
            <a:prstDash val="solid"/>
          </a:ln>
        </p:spPr>
        <p:txBody>
          <a:bodyPr/>
          <a:lstStyle/>
          <a:p>
            <a:endParaRPr lang="nl-NL"/>
          </a:p>
        </p:txBody>
      </p:sp>
      <p:sp>
        <p:nvSpPr>
          <p:cNvPr id="17" name="Text 15"/>
          <p:cNvSpPr txBox="1"/>
          <p:nvPr/>
        </p:nvSpPr>
        <p:spPr>
          <a:xfrm>
            <a:off x="1554480" y="2651760"/>
            <a:ext cx="1325880" cy="274320"/>
          </a:xfrm>
          <a:prstGeom prst="rect">
            <a:avLst/>
          </a:prstGeom>
          <a:noFill/>
          <a:ln/>
        </p:spPr>
        <p:txBody>
          <a:bodyPr wrap="square" lIns="0" tIns="0" rIns="0" bIns="0" rtlCol="0" anchor="t"/>
          <a:lstStyle/>
          <a:p>
            <a:pPr marL="0" indent="0">
              <a:buNone/>
            </a:pPr>
            <a:r>
              <a:rPr lang="en-US" sz="1300" b="1" dirty="0">
                <a:solidFill>
                  <a:schemeClr val="tx2"/>
                </a:solidFill>
                <a:latin typeface="Calibri" pitchFamily="34" charset="0"/>
                <a:ea typeface="Calibri" pitchFamily="34" charset="-122"/>
                <a:cs typeface="Calibri" pitchFamily="34" charset="-120"/>
              </a:rPr>
              <a:t>Veenbruin</a:t>
            </a:r>
            <a:endParaRPr lang="en-US" sz="1300" dirty="0"/>
          </a:p>
        </p:txBody>
      </p:sp>
      <p:sp>
        <p:nvSpPr>
          <p:cNvPr id="18" name="Text 16"/>
          <p:cNvSpPr txBox="1"/>
          <p:nvPr/>
        </p:nvSpPr>
        <p:spPr>
          <a:xfrm>
            <a:off x="1554480" y="2926080"/>
            <a:ext cx="1325880" cy="228600"/>
          </a:xfrm>
          <a:prstGeom prst="rect">
            <a:avLst/>
          </a:prstGeom>
          <a:noFill/>
          <a:ln/>
        </p:spPr>
        <p:txBody>
          <a:bodyPr wrap="square" lIns="0" tIns="0" rIns="0" bIns="0" rtlCol="0" anchor="t"/>
          <a:lstStyle/>
          <a:p>
            <a:pPr marL="0" indent="0">
              <a:buNone/>
            </a:pPr>
            <a:r>
              <a:rPr lang="en-US" sz="1100" dirty="0">
                <a:solidFill>
                  <a:schemeClr val="accent4"/>
                </a:solidFill>
                <a:latin typeface="Calibri" pitchFamily="34" charset="0"/>
                <a:ea typeface="Calibri" pitchFamily="34" charset="-122"/>
                <a:cs typeface="Calibri" pitchFamily="34" charset="-120"/>
              </a:rPr>
              <a:t>#4A3728</a:t>
            </a:r>
            <a:endParaRPr lang="en-US" sz="1100" dirty="0"/>
          </a:p>
        </p:txBody>
      </p:sp>
      <p:sp>
        <p:nvSpPr>
          <p:cNvPr id="19" name="Text 17"/>
          <p:cNvSpPr txBox="1"/>
          <p:nvPr/>
        </p:nvSpPr>
        <p:spPr>
          <a:xfrm>
            <a:off x="1554480" y="3154680"/>
            <a:ext cx="1325880" cy="274320"/>
          </a:xfrm>
          <a:prstGeom prst="rect">
            <a:avLst/>
          </a:prstGeom>
          <a:noFill/>
          <a:ln/>
        </p:spPr>
        <p:txBody>
          <a:bodyPr wrap="square" lIns="0" tIns="0" rIns="0" bIns="0" rtlCol="0" anchor="t"/>
          <a:lstStyle/>
          <a:p>
            <a:pPr marL="0" indent="0">
              <a:buNone/>
            </a:pPr>
            <a:r>
              <a:rPr lang="en-US" sz="1000" dirty="0">
                <a:solidFill>
                  <a:schemeClr val="accent4"/>
                </a:solidFill>
                <a:latin typeface="Calibri" pitchFamily="34" charset="0"/>
                <a:ea typeface="Calibri" pitchFamily="34" charset="-122"/>
                <a:cs typeface="Calibri" pitchFamily="34" charset="-120"/>
              </a:rPr>
              <a:t>Turf en hout</a:t>
            </a:r>
            <a:endParaRPr lang="en-US" sz="1000" dirty="0"/>
          </a:p>
        </p:txBody>
      </p:sp>
      <p:sp>
        <p:nvSpPr>
          <p:cNvPr id="20" name="Kleur Sigaarrood"/>
          <p:cNvSpPr/>
          <p:nvPr/>
        </p:nvSpPr>
        <p:spPr>
          <a:xfrm>
            <a:off x="2926080" y="2606040"/>
            <a:ext cx="868680" cy="868680"/>
          </a:xfrm>
          <a:prstGeom prst="roundRect">
            <a:avLst>
              <a:gd name="adj" fmla="val 12632"/>
            </a:avLst>
          </a:prstGeom>
          <a:solidFill>
            <a:srgbClr val="8B4A3C"/>
          </a:solidFill>
          <a:ln w="9525">
            <a:solidFill>
              <a:srgbClr val="D9CFC0"/>
            </a:solidFill>
            <a:prstDash val="solid"/>
          </a:ln>
        </p:spPr>
        <p:txBody>
          <a:bodyPr/>
          <a:lstStyle/>
          <a:p>
            <a:endParaRPr lang="nl-NL"/>
          </a:p>
        </p:txBody>
      </p:sp>
      <p:sp>
        <p:nvSpPr>
          <p:cNvPr id="21" name="Text 19"/>
          <p:cNvSpPr txBox="1"/>
          <p:nvPr/>
        </p:nvSpPr>
        <p:spPr>
          <a:xfrm>
            <a:off x="3931920" y="2651760"/>
            <a:ext cx="1325880" cy="274320"/>
          </a:xfrm>
          <a:prstGeom prst="rect">
            <a:avLst/>
          </a:prstGeom>
          <a:noFill/>
          <a:ln/>
        </p:spPr>
        <p:txBody>
          <a:bodyPr wrap="square" lIns="0" tIns="0" rIns="0" bIns="0" rtlCol="0" anchor="t"/>
          <a:lstStyle/>
          <a:p>
            <a:pPr marL="0" indent="0">
              <a:buNone/>
            </a:pPr>
            <a:r>
              <a:rPr lang="en-US" sz="1300" b="1" dirty="0">
                <a:solidFill>
                  <a:schemeClr val="tx2"/>
                </a:solidFill>
                <a:latin typeface="Calibri" pitchFamily="34" charset="0"/>
                <a:ea typeface="Calibri" pitchFamily="34" charset="-122"/>
                <a:cs typeface="Calibri" pitchFamily="34" charset="-120"/>
              </a:rPr>
              <a:t>Sigaarrood</a:t>
            </a:r>
            <a:endParaRPr lang="en-US" sz="1300" dirty="0"/>
          </a:p>
        </p:txBody>
      </p:sp>
      <p:sp>
        <p:nvSpPr>
          <p:cNvPr id="22" name="Text 20"/>
          <p:cNvSpPr txBox="1"/>
          <p:nvPr/>
        </p:nvSpPr>
        <p:spPr>
          <a:xfrm>
            <a:off x="3931920" y="2926080"/>
            <a:ext cx="1325880" cy="228600"/>
          </a:xfrm>
          <a:prstGeom prst="rect">
            <a:avLst/>
          </a:prstGeom>
          <a:noFill/>
          <a:ln/>
        </p:spPr>
        <p:txBody>
          <a:bodyPr wrap="square" lIns="0" tIns="0" rIns="0" bIns="0" rtlCol="0" anchor="t"/>
          <a:lstStyle/>
          <a:p>
            <a:pPr marL="0" indent="0">
              <a:buNone/>
            </a:pPr>
            <a:r>
              <a:rPr lang="en-US" sz="1100" dirty="0">
                <a:solidFill>
                  <a:schemeClr val="accent4"/>
                </a:solidFill>
                <a:latin typeface="Calibri" pitchFamily="34" charset="0"/>
                <a:ea typeface="Calibri" pitchFamily="34" charset="-122"/>
                <a:cs typeface="Calibri" pitchFamily="34" charset="-120"/>
              </a:rPr>
              <a:t>#8B4A3C</a:t>
            </a:r>
            <a:endParaRPr lang="en-US" sz="1100" dirty="0"/>
          </a:p>
        </p:txBody>
      </p:sp>
      <p:sp>
        <p:nvSpPr>
          <p:cNvPr id="23" name="Text 21"/>
          <p:cNvSpPr txBox="1"/>
          <p:nvPr/>
        </p:nvSpPr>
        <p:spPr>
          <a:xfrm>
            <a:off x="3931920" y="3154680"/>
            <a:ext cx="1325880" cy="274320"/>
          </a:xfrm>
          <a:prstGeom prst="rect">
            <a:avLst/>
          </a:prstGeom>
          <a:noFill/>
          <a:ln/>
        </p:spPr>
        <p:txBody>
          <a:bodyPr wrap="square" lIns="0" tIns="0" rIns="0" bIns="0" rtlCol="0" anchor="t"/>
          <a:lstStyle/>
          <a:p>
            <a:pPr marL="0" indent="0">
              <a:buNone/>
            </a:pPr>
            <a:r>
              <a:rPr lang="en-US" sz="1000" dirty="0">
                <a:solidFill>
                  <a:schemeClr val="accent4"/>
                </a:solidFill>
                <a:latin typeface="Calibri" pitchFamily="34" charset="0"/>
                <a:ea typeface="Calibri" pitchFamily="34" charset="-122"/>
                <a:cs typeface="Calibri" pitchFamily="34" charset="-120"/>
              </a:rPr>
              <a:t>Tabak en steen</a:t>
            </a:r>
            <a:endParaRPr lang="en-US" sz="1000" dirty="0"/>
          </a:p>
        </p:txBody>
      </p:sp>
      <p:sp>
        <p:nvSpPr>
          <p:cNvPr id="24" name="Kleur Zandgeel"/>
          <p:cNvSpPr/>
          <p:nvPr/>
        </p:nvSpPr>
        <p:spPr>
          <a:xfrm>
            <a:off x="5303520" y="2606040"/>
            <a:ext cx="868680" cy="868680"/>
          </a:xfrm>
          <a:prstGeom prst="roundRect">
            <a:avLst>
              <a:gd name="adj" fmla="val 12632"/>
            </a:avLst>
          </a:prstGeom>
          <a:solidFill>
            <a:srgbClr val="C9A66B"/>
          </a:solidFill>
          <a:ln w="9525">
            <a:solidFill>
              <a:srgbClr val="D9CFC0"/>
            </a:solidFill>
            <a:prstDash val="solid"/>
          </a:ln>
        </p:spPr>
        <p:txBody>
          <a:bodyPr/>
          <a:lstStyle/>
          <a:p>
            <a:endParaRPr lang="nl-NL"/>
          </a:p>
        </p:txBody>
      </p:sp>
      <p:sp>
        <p:nvSpPr>
          <p:cNvPr id="25" name="Text 23"/>
          <p:cNvSpPr txBox="1"/>
          <p:nvPr/>
        </p:nvSpPr>
        <p:spPr>
          <a:xfrm>
            <a:off x="6309360" y="2651760"/>
            <a:ext cx="1325880" cy="274320"/>
          </a:xfrm>
          <a:prstGeom prst="rect">
            <a:avLst/>
          </a:prstGeom>
          <a:noFill/>
          <a:ln/>
        </p:spPr>
        <p:txBody>
          <a:bodyPr wrap="square" lIns="0" tIns="0" rIns="0" bIns="0" rtlCol="0" anchor="t"/>
          <a:lstStyle/>
          <a:p>
            <a:pPr marL="0" indent="0">
              <a:buNone/>
            </a:pPr>
            <a:r>
              <a:rPr lang="en-US" sz="1300" b="1" dirty="0">
                <a:solidFill>
                  <a:schemeClr val="tx2"/>
                </a:solidFill>
                <a:latin typeface="Calibri" pitchFamily="34" charset="0"/>
                <a:ea typeface="Calibri" pitchFamily="34" charset="-122"/>
                <a:cs typeface="Calibri" pitchFamily="34" charset="-120"/>
              </a:rPr>
              <a:t>Zandgeel</a:t>
            </a:r>
            <a:endParaRPr lang="en-US" sz="1300" dirty="0"/>
          </a:p>
        </p:txBody>
      </p:sp>
      <p:sp>
        <p:nvSpPr>
          <p:cNvPr id="26" name="Text 24"/>
          <p:cNvSpPr txBox="1"/>
          <p:nvPr/>
        </p:nvSpPr>
        <p:spPr>
          <a:xfrm>
            <a:off x="6309360" y="2926080"/>
            <a:ext cx="1325880" cy="228600"/>
          </a:xfrm>
          <a:prstGeom prst="rect">
            <a:avLst/>
          </a:prstGeom>
          <a:noFill/>
          <a:ln/>
        </p:spPr>
        <p:txBody>
          <a:bodyPr wrap="square" lIns="0" tIns="0" rIns="0" bIns="0" rtlCol="0" anchor="t"/>
          <a:lstStyle/>
          <a:p>
            <a:pPr marL="0" indent="0">
              <a:buNone/>
            </a:pPr>
            <a:r>
              <a:rPr lang="en-US" sz="1100" dirty="0">
                <a:solidFill>
                  <a:schemeClr val="accent4"/>
                </a:solidFill>
                <a:latin typeface="Calibri" pitchFamily="34" charset="0"/>
                <a:ea typeface="Calibri" pitchFamily="34" charset="-122"/>
                <a:cs typeface="Calibri" pitchFamily="34" charset="-120"/>
              </a:rPr>
              <a:t>#C9A66B</a:t>
            </a:r>
            <a:endParaRPr lang="en-US" sz="1100" dirty="0"/>
          </a:p>
        </p:txBody>
      </p:sp>
      <p:sp>
        <p:nvSpPr>
          <p:cNvPr id="27" name="Text 25"/>
          <p:cNvSpPr txBox="1"/>
          <p:nvPr/>
        </p:nvSpPr>
        <p:spPr>
          <a:xfrm>
            <a:off x="6309360" y="3154680"/>
            <a:ext cx="1325880" cy="274320"/>
          </a:xfrm>
          <a:prstGeom prst="rect">
            <a:avLst/>
          </a:prstGeom>
          <a:noFill/>
          <a:ln/>
        </p:spPr>
        <p:txBody>
          <a:bodyPr wrap="square" lIns="0" tIns="0" rIns="0" bIns="0" rtlCol="0" anchor="t"/>
          <a:lstStyle/>
          <a:p>
            <a:pPr marL="0" indent="0">
              <a:buNone/>
            </a:pPr>
            <a:r>
              <a:rPr lang="en-US" sz="1000" dirty="0">
                <a:solidFill>
                  <a:schemeClr val="accent4"/>
                </a:solidFill>
                <a:latin typeface="Calibri" pitchFamily="34" charset="0"/>
                <a:ea typeface="Calibri" pitchFamily="34" charset="-122"/>
                <a:cs typeface="Calibri" pitchFamily="34" charset="-120"/>
              </a:rPr>
              <a:t>Markering</a:t>
            </a:r>
            <a:endParaRPr lang="en-US" sz="1000" dirty="0"/>
          </a:p>
        </p:txBody>
      </p:sp>
      <p:sp>
        <p:nvSpPr>
          <p:cNvPr id="28" name="Kaart"/>
          <p:cNvSpPr/>
          <p:nvPr/>
        </p:nvSpPr>
        <p:spPr>
          <a:xfrm>
            <a:off x="548640" y="3886200"/>
            <a:ext cx="7040880" cy="178308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29" name="Icoon FaThLarge"/>
          <p:cNvSpPr/>
          <p:nvPr/>
        </p:nvSpPr>
        <p:spPr>
          <a:xfrm>
            <a:off x="777240" y="4114800"/>
            <a:ext cx="640080" cy="640080"/>
          </a:xfrm>
          <a:prstGeom prst="ellipse">
            <a:avLst/>
          </a:prstGeom>
          <a:solidFill>
            <a:schemeClr val="accent2"/>
          </a:solidFill>
          <a:ln/>
        </p:spPr>
        <p:txBody>
          <a:bodyPr/>
          <a:lstStyle/>
          <a:p>
            <a:endParaRPr lang="nl-NL"/>
          </a:p>
        </p:txBody>
      </p:sp>
      <p:pic>
        <p:nvPicPr>
          <p:cNvPr id="30" name="Icoon FaThLarge beeld" descr="preencoded.png"/>
          <p:cNvPicPr>
            <a:picLocks noChangeAspect="1"/>
          </p:cNvPicPr>
          <p:nvPr/>
        </p:nvPicPr>
        <p:blipFill>
          <a:blip r:embed="rId3"/>
          <a:stretch>
            <a:fillRect/>
          </a:stretch>
        </p:blipFill>
        <p:spPr>
          <a:xfrm>
            <a:off x="937260" y="4274820"/>
            <a:ext cx="320040" cy="320040"/>
          </a:xfrm>
          <a:prstGeom prst="rect">
            <a:avLst/>
          </a:prstGeom>
        </p:spPr>
      </p:pic>
      <p:sp>
        <p:nvSpPr>
          <p:cNvPr id="31" name="Text 28"/>
          <p:cNvSpPr txBox="1"/>
          <p:nvPr/>
        </p:nvSpPr>
        <p:spPr>
          <a:xfrm>
            <a:off x="1600200" y="4114800"/>
            <a:ext cx="5852160" cy="36576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Gekozen: Format 01 · staand aan de wand</a:t>
            </a:r>
            <a:endParaRPr lang="en-US" sz="1800" dirty="0"/>
          </a:p>
        </p:txBody>
      </p:sp>
      <p:sp>
        <p:nvSpPr>
          <p:cNvPr id="32" name="Text 29"/>
          <p:cNvSpPr txBox="1"/>
          <p:nvPr/>
        </p:nvSpPr>
        <p:spPr>
          <a:xfrm>
            <a:off x="1600200" y="4526280"/>
            <a:ext cx="5806440" cy="10515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Uit zes formats (raster, lijst, carrousel, thema's, tijdlijn en plattegrond) kozen we het raster: negen objecten per pagina met paginanummers eronder. Tik op een object en je ziet alleen dat object, met foto, titel en tekst.</a:t>
            </a:r>
            <a:endParaRPr lang="en-US" sz="1400" dirty="0"/>
          </a:p>
        </p:txBody>
      </p:sp>
      <p:sp>
        <p:nvSpPr>
          <p:cNvPr id="33" name="Moodboard pagina lijst"/>
          <p:cNvSpPr/>
          <p:nvPr/>
        </p:nvSpPr>
        <p:spPr>
          <a:xfrm>
            <a:off x="8183880" y="1325880"/>
            <a:ext cx="3456432" cy="489204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34" name="Moodboard pagina" descr="Pagina uit het moodboard met format 1 en 2"/>
          <p:cNvPicPr>
            <a:picLocks noChangeAspect="1"/>
          </p:cNvPicPr>
          <p:nvPr/>
        </p:nvPicPr>
        <p:blipFill>
          <a:blip r:embed="rId4"/>
          <a:stretch>
            <a:fillRect/>
          </a:stretch>
        </p:blipFill>
        <p:spPr>
          <a:xfrm>
            <a:off x="8238744" y="1380744"/>
            <a:ext cx="3346704" cy="4782312"/>
          </a:xfrm>
          <a:prstGeom prst="rect">
            <a:avLst/>
          </a:prstGeom>
        </p:spPr>
      </p:pic>
      <p:sp>
        <p:nvSpPr>
          <p:cNvPr id="3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5D52"/>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latin typeface="Calibri" pitchFamily="34" charset="0"/>
                <a:ea typeface="Calibri" pitchFamily="34" charset="-122"/>
                <a:cs typeface="Calibri" pitchFamily="34" charset="-120"/>
              </a:rPr>
              <a:t>WIREFRAMES</a:t>
            </a:r>
            <a:endParaRPr lang="en-US" sz="1100" dirty="0"/>
          </a:p>
        </p:txBody>
      </p:sp>
      <p:sp>
        <p:nvSpPr>
          <p:cNvPr id="3" name="Text 1"/>
          <p:cNvSpPr>
            <a:spLocks noGrp="1"/>
          </p:cNvSpPr>
          <p:nvPr>
            <p:ph type="title" idx="101" hasCustomPrompt="1"/>
          </p:nvPr>
        </p:nvSpPr>
        <p:spPr>
          <a:xfrm>
            <a:off x="548640" y="411480"/>
            <a:ext cx="11091672"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Eerst geschetst, daarna gebouwd</a:t>
            </a:r>
            <a:endParaRPr lang="en-US" sz="3400" dirty="0"/>
          </a:p>
        </p:txBody>
      </p:sp>
      <p:sp>
        <p:nvSpPr>
          <p:cNvPr id="4" name="Wireframe Startpagina lijst"/>
          <p:cNvSpPr/>
          <p:nvPr/>
        </p:nvSpPr>
        <p:spPr>
          <a:xfrm>
            <a:off x="566928" y="1417320"/>
            <a:ext cx="2011680" cy="297180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5" name="Wireframe Startpagina" descr="Wireframe Startpagina"/>
          <p:cNvPicPr>
            <a:picLocks noChangeAspect="1"/>
          </p:cNvPicPr>
          <p:nvPr/>
        </p:nvPicPr>
        <p:blipFill>
          <a:blip r:embed="rId3"/>
          <a:stretch>
            <a:fillRect/>
          </a:stretch>
        </p:blipFill>
        <p:spPr>
          <a:xfrm>
            <a:off x="621792" y="1472184"/>
            <a:ext cx="1901952" cy="2862072"/>
          </a:xfrm>
          <a:prstGeom prst="rect">
            <a:avLst/>
          </a:prstGeom>
        </p:spPr>
      </p:pic>
      <p:sp>
        <p:nvSpPr>
          <p:cNvPr id="6" name="Text 3"/>
          <p:cNvSpPr txBox="1"/>
          <p:nvPr/>
        </p:nvSpPr>
        <p:spPr>
          <a:xfrm>
            <a:off x="566928" y="4526280"/>
            <a:ext cx="2011680" cy="32004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Startpagina</a:t>
            </a:r>
            <a:endParaRPr lang="en-US" sz="1500" dirty="0"/>
          </a:p>
        </p:txBody>
      </p:sp>
      <p:sp>
        <p:nvSpPr>
          <p:cNvPr id="7" name="Text 4"/>
          <p:cNvSpPr txBox="1"/>
          <p:nvPr/>
        </p:nvSpPr>
        <p:spPr>
          <a:xfrm>
            <a:off x="566928" y="4846320"/>
            <a:ext cx="2011680" cy="274320"/>
          </a:xfrm>
          <a:prstGeom prst="rect">
            <a:avLst/>
          </a:prstGeom>
          <a:noFill/>
          <a:ln/>
        </p:spPr>
        <p:txBody>
          <a:bodyPr wrap="square" lIns="0" tIns="0" rIns="0" bIns="0" rtlCol="0" anchor="t"/>
          <a:lstStyle/>
          <a:p>
            <a:pPr marL="0" indent="0">
              <a:buNone/>
            </a:pPr>
            <a:r>
              <a:rPr lang="en-US" sz="1200" dirty="0">
                <a:solidFill>
                  <a:schemeClr val="accent4"/>
                </a:solidFill>
                <a:latin typeface="Calibri" pitchFamily="34" charset="0"/>
                <a:ea typeface="Calibri" pitchFamily="34" charset="-122"/>
                <a:cs typeface="Calibri" pitchFamily="34" charset="-120"/>
              </a:rPr>
              <a:t>Kies een object</a:t>
            </a:r>
            <a:endParaRPr lang="en-US" sz="1200" dirty="0"/>
          </a:p>
        </p:txBody>
      </p:sp>
      <p:sp>
        <p:nvSpPr>
          <p:cNvPr id="8" name="Wireframe Objectpagina lijst"/>
          <p:cNvSpPr/>
          <p:nvPr/>
        </p:nvSpPr>
        <p:spPr>
          <a:xfrm>
            <a:off x="2825496" y="1417320"/>
            <a:ext cx="2011680" cy="297180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9" name="Wireframe Objectpagina" descr="Wireframe Objectpagina"/>
          <p:cNvPicPr>
            <a:picLocks noChangeAspect="1"/>
          </p:cNvPicPr>
          <p:nvPr/>
        </p:nvPicPr>
        <p:blipFill>
          <a:blip r:embed="rId4"/>
          <a:stretch>
            <a:fillRect/>
          </a:stretch>
        </p:blipFill>
        <p:spPr>
          <a:xfrm>
            <a:off x="2880360" y="1472184"/>
            <a:ext cx="1901952" cy="2862072"/>
          </a:xfrm>
          <a:prstGeom prst="rect">
            <a:avLst/>
          </a:prstGeom>
        </p:spPr>
      </p:pic>
      <p:sp>
        <p:nvSpPr>
          <p:cNvPr id="10" name="Text 6"/>
          <p:cNvSpPr txBox="1"/>
          <p:nvPr/>
        </p:nvSpPr>
        <p:spPr>
          <a:xfrm>
            <a:off x="2825496" y="4526280"/>
            <a:ext cx="2011680" cy="32004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Objectpagina</a:t>
            </a:r>
            <a:endParaRPr lang="en-US" sz="1500" dirty="0"/>
          </a:p>
        </p:txBody>
      </p:sp>
      <p:sp>
        <p:nvSpPr>
          <p:cNvPr id="11" name="Text 7"/>
          <p:cNvSpPr txBox="1"/>
          <p:nvPr/>
        </p:nvSpPr>
        <p:spPr>
          <a:xfrm>
            <a:off x="2825496" y="4846320"/>
            <a:ext cx="2011680" cy="274320"/>
          </a:xfrm>
          <a:prstGeom prst="rect">
            <a:avLst/>
          </a:prstGeom>
          <a:noFill/>
          <a:ln/>
        </p:spPr>
        <p:txBody>
          <a:bodyPr wrap="square" lIns="0" tIns="0" rIns="0" bIns="0" rtlCol="0" anchor="t"/>
          <a:lstStyle/>
          <a:p>
            <a:pPr marL="0" indent="0">
              <a:buNone/>
            </a:pPr>
            <a:r>
              <a:rPr lang="en-US" sz="1200" dirty="0">
                <a:solidFill>
                  <a:schemeClr val="accent4"/>
                </a:solidFill>
                <a:latin typeface="Calibri" pitchFamily="34" charset="0"/>
                <a:ea typeface="Calibri" pitchFamily="34" charset="-122"/>
                <a:cs typeface="Calibri" pitchFamily="34" charset="-120"/>
              </a:rPr>
              <a:t>Foto, titel en tekst</a:t>
            </a:r>
            <a:endParaRPr lang="en-US" sz="1200" dirty="0"/>
          </a:p>
        </p:txBody>
      </p:sp>
      <p:sp>
        <p:nvSpPr>
          <p:cNvPr id="12" name="Wireframe Inloggen lijst"/>
          <p:cNvSpPr/>
          <p:nvPr/>
        </p:nvSpPr>
        <p:spPr>
          <a:xfrm>
            <a:off x="5084064" y="1417320"/>
            <a:ext cx="2011680" cy="297180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13" name="Wireframe Inloggen" descr="Wireframe Inloggen"/>
          <p:cNvPicPr>
            <a:picLocks noChangeAspect="1"/>
          </p:cNvPicPr>
          <p:nvPr/>
        </p:nvPicPr>
        <p:blipFill>
          <a:blip r:embed="rId5"/>
          <a:stretch>
            <a:fillRect/>
          </a:stretch>
        </p:blipFill>
        <p:spPr>
          <a:xfrm>
            <a:off x="5138928" y="1472184"/>
            <a:ext cx="1901952" cy="2862072"/>
          </a:xfrm>
          <a:prstGeom prst="rect">
            <a:avLst/>
          </a:prstGeom>
        </p:spPr>
      </p:pic>
      <p:sp>
        <p:nvSpPr>
          <p:cNvPr id="14" name="Text 9"/>
          <p:cNvSpPr txBox="1"/>
          <p:nvPr/>
        </p:nvSpPr>
        <p:spPr>
          <a:xfrm>
            <a:off x="5084064" y="4526280"/>
            <a:ext cx="2011680" cy="32004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Inloggen</a:t>
            </a:r>
            <a:endParaRPr lang="en-US" sz="1500" dirty="0"/>
          </a:p>
        </p:txBody>
      </p:sp>
      <p:sp>
        <p:nvSpPr>
          <p:cNvPr id="15" name="Text 10"/>
          <p:cNvSpPr txBox="1"/>
          <p:nvPr/>
        </p:nvSpPr>
        <p:spPr>
          <a:xfrm>
            <a:off x="5084064" y="4846320"/>
            <a:ext cx="2011680" cy="274320"/>
          </a:xfrm>
          <a:prstGeom prst="rect">
            <a:avLst/>
          </a:prstGeom>
          <a:noFill/>
          <a:ln/>
        </p:spPr>
        <p:txBody>
          <a:bodyPr wrap="square" lIns="0" tIns="0" rIns="0" bIns="0" rtlCol="0" anchor="t"/>
          <a:lstStyle/>
          <a:p>
            <a:pPr marL="0" indent="0">
              <a:buNone/>
            </a:pPr>
            <a:r>
              <a:rPr lang="en-US" sz="1200" dirty="0">
                <a:solidFill>
                  <a:schemeClr val="accent4"/>
                </a:solidFill>
                <a:latin typeface="Calibri" pitchFamily="34" charset="0"/>
                <a:ea typeface="Calibri" pitchFamily="34" charset="-122"/>
                <a:cs typeface="Calibri" pitchFamily="34" charset="-120"/>
              </a:rPr>
              <a:t>Alleen voor medewerkers</a:t>
            </a:r>
            <a:endParaRPr lang="en-US" sz="1200" dirty="0"/>
          </a:p>
        </p:txBody>
      </p:sp>
      <p:sp>
        <p:nvSpPr>
          <p:cNvPr id="16" name="Wireframe Beheer lijst"/>
          <p:cNvSpPr/>
          <p:nvPr/>
        </p:nvSpPr>
        <p:spPr>
          <a:xfrm>
            <a:off x="7342632" y="1417320"/>
            <a:ext cx="2011680" cy="297180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17" name="Wireframe Beheer" descr="Wireframe Beheer"/>
          <p:cNvPicPr>
            <a:picLocks noChangeAspect="1"/>
          </p:cNvPicPr>
          <p:nvPr/>
        </p:nvPicPr>
        <p:blipFill>
          <a:blip r:embed="rId6"/>
          <a:stretch>
            <a:fillRect/>
          </a:stretch>
        </p:blipFill>
        <p:spPr>
          <a:xfrm>
            <a:off x="7397496" y="1472184"/>
            <a:ext cx="1901952" cy="2862072"/>
          </a:xfrm>
          <a:prstGeom prst="rect">
            <a:avLst/>
          </a:prstGeom>
        </p:spPr>
      </p:pic>
      <p:sp>
        <p:nvSpPr>
          <p:cNvPr id="18" name="Text 12"/>
          <p:cNvSpPr txBox="1"/>
          <p:nvPr/>
        </p:nvSpPr>
        <p:spPr>
          <a:xfrm>
            <a:off x="7342632" y="4526280"/>
            <a:ext cx="2011680" cy="32004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Beheer</a:t>
            </a:r>
            <a:endParaRPr lang="en-US" sz="1500" dirty="0"/>
          </a:p>
        </p:txBody>
      </p:sp>
      <p:sp>
        <p:nvSpPr>
          <p:cNvPr id="19" name="Text 13"/>
          <p:cNvSpPr txBox="1"/>
          <p:nvPr/>
        </p:nvSpPr>
        <p:spPr>
          <a:xfrm>
            <a:off x="7342632" y="4846320"/>
            <a:ext cx="2011680" cy="274320"/>
          </a:xfrm>
          <a:prstGeom prst="rect">
            <a:avLst/>
          </a:prstGeom>
          <a:noFill/>
          <a:ln/>
        </p:spPr>
        <p:txBody>
          <a:bodyPr wrap="square" lIns="0" tIns="0" rIns="0" bIns="0" rtlCol="0" anchor="t"/>
          <a:lstStyle/>
          <a:p>
            <a:pPr marL="0" indent="0">
              <a:buNone/>
            </a:pPr>
            <a:r>
              <a:rPr lang="en-US" sz="1200" dirty="0">
                <a:solidFill>
                  <a:schemeClr val="accent4"/>
                </a:solidFill>
                <a:latin typeface="Calibri" pitchFamily="34" charset="0"/>
                <a:ea typeface="Calibri" pitchFamily="34" charset="-122"/>
                <a:cs typeface="Calibri" pitchFamily="34" charset="-120"/>
              </a:rPr>
              <a:t>Lijst met alle objecten</a:t>
            </a:r>
            <a:endParaRPr lang="en-US" sz="1200" dirty="0"/>
          </a:p>
        </p:txBody>
      </p:sp>
      <p:sp>
        <p:nvSpPr>
          <p:cNvPr id="20" name="Wireframe Toevoegen lijst"/>
          <p:cNvSpPr/>
          <p:nvPr/>
        </p:nvSpPr>
        <p:spPr>
          <a:xfrm>
            <a:off x="9601200" y="1417320"/>
            <a:ext cx="2011680" cy="297180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21" name="Wireframe Toevoegen" descr="Wireframe Toevoegen"/>
          <p:cNvPicPr>
            <a:picLocks noChangeAspect="1"/>
          </p:cNvPicPr>
          <p:nvPr/>
        </p:nvPicPr>
        <p:blipFill>
          <a:blip r:embed="rId7"/>
          <a:stretch>
            <a:fillRect/>
          </a:stretch>
        </p:blipFill>
        <p:spPr>
          <a:xfrm>
            <a:off x="9656064" y="1472184"/>
            <a:ext cx="1901952" cy="2862072"/>
          </a:xfrm>
          <a:prstGeom prst="rect">
            <a:avLst/>
          </a:prstGeom>
        </p:spPr>
      </p:pic>
      <p:sp>
        <p:nvSpPr>
          <p:cNvPr id="22" name="Text 15"/>
          <p:cNvSpPr txBox="1"/>
          <p:nvPr/>
        </p:nvSpPr>
        <p:spPr>
          <a:xfrm>
            <a:off x="9601200" y="4526280"/>
            <a:ext cx="2011680" cy="32004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Toevoegen</a:t>
            </a:r>
            <a:endParaRPr lang="en-US" sz="1500" dirty="0"/>
          </a:p>
        </p:txBody>
      </p:sp>
      <p:sp>
        <p:nvSpPr>
          <p:cNvPr id="23" name="Text 16"/>
          <p:cNvSpPr txBox="1"/>
          <p:nvPr/>
        </p:nvSpPr>
        <p:spPr>
          <a:xfrm>
            <a:off x="9601200" y="4846320"/>
            <a:ext cx="2011680" cy="274320"/>
          </a:xfrm>
          <a:prstGeom prst="rect">
            <a:avLst/>
          </a:prstGeom>
          <a:noFill/>
          <a:ln/>
        </p:spPr>
        <p:txBody>
          <a:bodyPr wrap="square" lIns="0" tIns="0" rIns="0" bIns="0" rtlCol="0" anchor="t"/>
          <a:lstStyle/>
          <a:p>
            <a:pPr marL="0" indent="0">
              <a:buNone/>
            </a:pPr>
            <a:r>
              <a:rPr lang="en-US" sz="1200" dirty="0">
                <a:solidFill>
                  <a:schemeClr val="accent4"/>
                </a:solidFill>
                <a:latin typeface="Calibri" pitchFamily="34" charset="0"/>
                <a:ea typeface="Calibri" pitchFamily="34" charset="-122"/>
                <a:cs typeface="Calibri" pitchFamily="34" charset="-120"/>
              </a:rPr>
              <a:t>Nieuw object invoeren</a:t>
            </a:r>
            <a:endParaRPr lang="en-US" sz="1200" dirty="0"/>
          </a:p>
        </p:txBody>
      </p:sp>
      <p:sp>
        <p:nvSpPr>
          <p:cNvPr id="24" name="Text 17"/>
          <p:cNvSpPr txBox="1"/>
          <p:nvPr/>
        </p:nvSpPr>
        <p:spPr>
          <a:xfrm>
            <a:off x="548640" y="5532120"/>
            <a:ext cx="10972800" cy="365760"/>
          </a:xfrm>
          <a:prstGeom prst="rect">
            <a:avLst/>
          </a:prstGeom>
          <a:noFill/>
          <a:ln/>
        </p:spPr>
        <p:txBody>
          <a:bodyPr wrap="square" lIns="0" tIns="0" rIns="0" bIns="0" rtlCol="0" anchor="t"/>
          <a:lstStyle/>
          <a:p>
            <a:pPr marL="0" indent="0">
              <a:buNone/>
            </a:pPr>
            <a:r>
              <a:rPr lang="en-US" sz="1400" i="1" dirty="0">
                <a:solidFill>
                  <a:schemeClr val="accent4"/>
                </a:solidFill>
                <a:latin typeface="Calibri" pitchFamily="34" charset="0"/>
                <a:ea typeface="Calibri" pitchFamily="34" charset="-122"/>
                <a:cs typeface="Calibri" pitchFamily="34" charset="-120"/>
              </a:rPr>
              <a:t>Met de wireframes konden we het ontwerp met het museum bespreken voordat we gingen programmeren.</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5D52"/>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latin typeface="Calibri" pitchFamily="34" charset="0"/>
                <a:ea typeface="Calibri" pitchFamily="34" charset="-122"/>
                <a:cs typeface="Calibri" pitchFamily="34" charset="-120"/>
              </a:rPr>
              <a:t>TECHNIEK</a:t>
            </a:r>
            <a:endParaRPr lang="en-US" sz="1100" dirty="0"/>
          </a:p>
        </p:txBody>
      </p:sp>
      <p:sp>
        <p:nvSpPr>
          <p:cNvPr id="3" name="Text 1"/>
          <p:cNvSpPr>
            <a:spLocks noGrp="1"/>
          </p:cNvSpPr>
          <p:nvPr>
            <p:ph type="title" idx="101" hasCustomPrompt="1"/>
          </p:nvPr>
        </p:nvSpPr>
        <p:spPr>
          <a:xfrm>
            <a:off x="548640" y="411480"/>
            <a:ext cx="11091672"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Gebouwd met Python, Kivy en SQLite</a:t>
            </a:r>
            <a:endParaRPr lang="en-US" sz="3400" dirty="0"/>
          </a:p>
        </p:txBody>
      </p:sp>
      <p:sp>
        <p:nvSpPr>
          <p:cNvPr id="4" name="Kaart"/>
          <p:cNvSpPr/>
          <p:nvPr/>
        </p:nvSpPr>
        <p:spPr>
          <a:xfrm>
            <a:off x="548640" y="1463040"/>
            <a:ext cx="3383280" cy="315468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5" name="Icoon FaTabletAlt"/>
          <p:cNvSpPr/>
          <p:nvPr/>
        </p:nvSpPr>
        <p:spPr>
          <a:xfrm>
            <a:off x="822960" y="1691640"/>
            <a:ext cx="731520" cy="731520"/>
          </a:xfrm>
          <a:prstGeom prst="ellipse">
            <a:avLst/>
          </a:prstGeom>
          <a:solidFill>
            <a:schemeClr val="accent1"/>
          </a:solidFill>
          <a:ln/>
        </p:spPr>
        <p:txBody>
          <a:bodyPr/>
          <a:lstStyle/>
          <a:p>
            <a:endParaRPr lang="nl-NL"/>
          </a:p>
        </p:txBody>
      </p:sp>
      <p:pic>
        <p:nvPicPr>
          <p:cNvPr id="6" name="Icoon FaTabletAlt beeld" descr="preencoded.png"/>
          <p:cNvPicPr>
            <a:picLocks noChangeAspect="1"/>
          </p:cNvPicPr>
          <p:nvPr/>
        </p:nvPicPr>
        <p:blipFill>
          <a:blip r:embed="rId3"/>
          <a:stretch>
            <a:fillRect/>
          </a:stretch>
        </p:blipFill>
        <p:spPr>
          <a:xfrm>
            <a:off x="1005840" y="1874520"/>
            <a:ext cx="365760" cy="365760"/>
          </a:xfrm>
          <a:prstGeom prst="rect">
            <a:avLst/>
          </a:prstGeom>
        </p:spPr>
      </p:pic>
      <p:sp>
        <p:nvSpPr>
          <p:cNvPr id="7" name="Text 4"/>
          <p:cNvSpPr txBox="1"/>
          <p:nvPr/>
        </p:nvSpPr>
        <p:spPr>
          <a:xfrm>
            <a:off x="1691640" y="1783080"/>
            <a:ext cx="2148840" cy="54864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Frontend · Kivy</a:t>
            </a:r>
            <a:endParaRPr lang="en-US" sz="1800" dirty="0"/>
          </a:p>
        </p:txBody>
      </p:sp>
      <p:sp>
        <p:nvSpPr>
          <p:cNvPr id="8" name="Text 5"/>
          <p:cNvSpPr txBox="1"/>
          <p:nvPr/>
        </p:nvSpPr>
        <p:spPr>
          <a:xfrm>
            <a:off x="822960" y="2651760"/>
            <a:ext cx="292608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Startscherm</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Objectenoverzicht</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Detailpagina</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Inloggen en beheer</a:t>
            </a:r>
            <a:endParaRPr lang="en-US" sz="1400" dirty="0"/>
          </a:p>
        </p:txBody>
      </p:sp>
      <p:sp>
        <p:nvSpPr>
          <p:cNvPr id="9" name="Text 6"/>
          <p:cNvSpPr txBox="1"/>
          <p:nvPr/>
        </p:nvSpPr>
        <p:spPr>
          <a:xfrm>
            <a:off x="822960" y="3840480"/>
            <a:ext cx="2880360" cy="822960"/>
          </a:xfrm>
          <a:prstGeom prst="rect">
            <a:avLst/>
          </a:prstGeom>
          <a:noFill/>
          <a:ln/>
        </p:spPr>
        <p:txBody>
          <a:bodyPr wrap="square" lIns="0" tIns="0" rIns="0" bIns="0" rtlCol="0" anchor="t"/>
          <a:lstStyle/>
          <a:p>
            <a:pPr marL="0" indent="0">
              <a:buNone/>
            </a:pPr>
            <a:r>
              <a:rPr lang="en-US" sz="1200" i="1" dirty="0">
                <a:solidFill>
                  <a:schemeClr val="accent4"/>
                </a:solidFill>
                <a:latin typeface="Calibri" pitchFamily="34" charset="0"/>
                <a:ea typeface="Calibri" pitchFamily="34" charset="-122"/>
                <a:cs typeface="Calibri" pitchFamily="34" charset="-120"/>
              </a:rPr>
              <a:t>.kv voor de vormgeving, .py voor de werking</a:t>
            </a:r>
            <a:endParaRPr lang="en-US" sz="1200" dirty="0"/>
          </a:p>
        </p:txBody>
      </p:sp>
      <p:sp>
        <p:nvSpPr>
          <p:cNvPr id="10" name="Icoon FaArrowRight"/>
          <p:cNvSpPr/>
          <p:nvPr/>
        </p:nvSpPr>
        <p:spPr>
          <a:xfrm>
            <a:off x="3995928" y="3063240"/>
            <a:ext cx="329184" cy="329184"/>
          </a:xfrm>
          <a:prstGeom prst="ellipse">
            <a:avLst/>
          </a:prstGeom>
          <a:solidFill>
            <a:schemeClr val="accent3"/>
          </a:solidFill>
          <a:ln/>
        </p:spPr>
        <p:txBody>
          <a:bodyPr/>
          <a:lstStyle/>
          <a:p>
            <a:endParaRPr lang="nl-NL"/>
          </a:p>
        </p:txBody>
      </p:sp>
      <p:pic>
        <p:nvPicPr>
          <p:cNvPr id="11" name="Icoon FaArrowRight beeld" descr="preencoded.png"/>
          <p:cNvPicPr>
            <a:picLocks noChangeAspect="1"/>
          </p:cNvPicPr>
          <p:nvPr/>
        </p:nvPicPr>
        <p:blipFill>
          <a:blip r:embed="rId4"/>
          <a:stretch>
            <a:fillRect/>
          </a:stretch>
        </p:blipFill>
        <p:spPr>
          <a:xfrm>
            <a:off x="4078224" y="3145536"/>
            <a:ext cx="164592" cy="164592"/>
          </a:xfrm>
          <a:prstGeom prst="rect">
            <a:avLst/>
          </a:prstGeom>
        </p:spPr>
      </p:pic>
      <p:sp>
        <p:nvSpPr>
          <p:cNvPr id="12" name="Kaart"/>
          <p:cNvSpPr/>
          <p:nvPr/>
        </p:nvSpPr>
        <p:spPr>
          <a:xfrm>
            <a:off x="4389120" y="1463040"/>
            <a:ext cx="3383280" cy="315468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13" name="Icoon FaCogs"/>
          <p:cNvSpPr/>
          <p:nvPr/>
        </p:nvSpPr>
        <p:spPr>
          <a:xfrm>
            <a:off x="4663440" y="1691640"/>
            <a:ext cx="731520" cy="731520"/>
          </a:xfrm>
          <a:prstGeom prst="ellipse">
            <a:avLst/>
          </a:prstGeom>
          <a:solidFill>
            <a:schemeClr val="accent2"/>
          </a:solidFill>
          <a:ln/>
        </p:spPr>
        <p:txBody>
          <a:bodyPr/>
          <a:lstStyle/>
          <a:p>
            <a:endParaRPr lang="nl-NL"/>
          </a:p>
        </p:txBody>
      </p:sp>
      <p:pic>
        <p:nvPicPr>
          <p:cNvPr id="14" name="Icoon FaCogs beeld" descr="preencoded.png"/>
          <p:cNvPicPr>
            <a:picLocks noChangeAspect="1"/>
          </p:cNvPicPr>
          <p:nvPr/>
        </p:nvPicPr>
        <p:blipFill>
          <a:blip r:embed="rId5"/>
          <a:stretch>
            <a:fillRect/>
          </a:stretch>
        </p:blipFill>
        <p:spPr>
          <a:xfrm>
            <a:off x="4846320" y="1874520"/>
            <a:ext cx="365760" cy="365760"/>
          </a:xfrm>
          <a:prstGeom prst="rect">
            <a:avLst/>
          </a:prstGeom>
        </p:spPr>
      </p:pic>
      <p:sp>
        <p:nvSpPr>
          <p:cNvPr id="15" name="Text 10"/>
          <p:cNvSpPr txBox="1"/>
          <p:nvPr/>
        </p:nvSpPr>
        <p:spPr>
          <a:xfrm>
            <a:off x="5532120" y="1783080"/>
            <a:ext cx="2148840" cy="54864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Backend · Python</a:t>
            </a:r>
            <a:endParaRPr lang="en-US" sz="1800" dirty="0"/>
          </a:p>
        </p:txBody>
      </p:sp>
      <p:sp>
        <p:nvSpPr>
          <p:cNvPr id="16" name="Text 11"/>
          <p:cNvSpPr txBox="1"/>
          <p:nvPr/>
        </p:nvSpPr>
        <p:spPr>
          <a:xfrm>
            <a:off x="4663440" y="2651760"/>
            <a:ext cx="292608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object_manager.py</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admin_manager.py</a:t>
            </a:r>
            <a:endParaRPr lang="en-US" sz="1400" dirty="0"/>
          </a:p>
        </p:txBody>
      </p:sp>
      <p:sp>
        <p:nvSpPr>
          <p:cNvPr id="17" name="Text 12"/>
          <p:cNvSpPr txBox="1"/>
          <p:nvPr/>
        </p:nvSpPr>
        <p:spPr>
          <a:xfrm>
            <a:off x="4663440" y="3840480"/>
            <a:ext cx="2880360" cy="822960"/>
          </a:xfrm>
          <a:prstGeom prst="rect">
            <a:avLst/>
          </a:prstGeom>
          <a:noFill/>
          <a:ln/>
        </p:spPr>
        <p:txBody>
          <a:bodyPr wrap="square" lIns="0" tIns="0" rIns="0" bIns="0" rtlCol="0" anchor="t"/>
          <a:lstStyle/>
          <a:p>
            <a:pPr marL="0" indent="0">
              <a:buNone/>
            </a:pPr>
            <a:r>
              <a:rPr lang="en-US" sz="1200" i="1" dirty="0">
                <a:solidFill>
                  <a:schemeClr val="accent4"/>
                </a:solidFill>
                <a:latin typeface="Calibri" pitchFamily="34" charset="0"/>
                <a:ea typeface="Calibri" pitchFamily="34" charset="-122"/>
                <a:cs typeface="Calibri" pitchFamily="34" charset="-120"/>
              </a:rPr>
              <a:t>Objecten toevoegen, bewerken, verwijderen en inlog controleren</a:t>
            </a:r>
            <a:endParaRPr lang="en-US" sz="1200" dirty="0"/>
          </a:p>
        </p:txBody>
      </p:sp>
      <p:sp>
        <p:nvSpPr>
          <p:cNvPr id="18" name="Icoon FaArrowRight"/>
          <p:cNvSpPr/>
          <p:nvPr/>
        </p:nvSpPr>
        <p:spPr>
          <a:xfrm>
            <a:off x="7836408" y="3063240"/>
            <a:ext cx="329184" cy="329184"/>
          </a:xfrm>
          <a:prstGeom prst="ellipse">
            <a:avLst/>
          </a:prstGeom>
          <a:solidFill>
            <a:schemeClr val="accent3"/>
          </a:solidFill>
          <a:ln/>
        </p:spPr>
        <p:txBody>
          <a:bodyPr/>
          <a:lstStyle/>
          <a:p>
            <a:endParaRPr lang="nl-NL"/>
          </a:p>
        </p:txBody>
      </p:sp>
      <p:pic>
        <p:nvPicPr>
          <p:cNvPr id="19" name="Icoon FaArrowRight beeld" descr="preencoded.png"/>
          <p:cNvPicPr>
            <a:picLocks noChangeAspect="1"/>
          </p:cNvPicPr>
          <p:nvPr/>
        </p:nvPicPr>
        <p:blipFill>
          <a:blip r:embed="rId4"/>
          <a:stretch>
            <a:fillRect/>
          </a:stretch>
        </p:blipFill>
        <p:spPr>
          <a:xfrm>
            <a:off x="7918704" y="3145536"/>
            <a:ext cx="164592" cy="164592"/>
          </a:xfrm>
          <a:prstGeom prst="rect">
            <a:avLst/>
          </a:prstGeom>
        </p:spPr>
      </p:pic>
      <p:sp>
        <p:nvSpPr>
          <p:cNvPr id="20" name="Kaart"/>
          <p:cNvSpPr/>
          <p:nvPr/>
        </p:nvSpPr>
        <p:spPr>
          <a:xfrm>
            <a:off x="8229600" y="1463040"/>
            <a:ext cx="3383280" cy="315468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21" name="Icoon FaDatabase"/>
          <p:cNvSpPr/>
          <p:nvPr/>
        </p:nvSpPr>
        <p:spPr>
          <a:xfrm>
            <a:off x="8503920" y="1691640"/>
            <a:ext cx="731520" cy="731520"/>
          </a:xfrm>
          <a:prstGeom prst="ellipse">
            <a:avLst/>
          </a:prstGeom>
          <a:solidFill>
            <a:schemeClr val="accent4"/>
          </a:solidFill>
          <a:ln/>
        </p:spPr>
        <p:txBody>
          <a:bodyPr/>
          <a:lstStyle/>
          <a:p>
            <a:endParaRPr lang="nl-NL"/>
          </a:p>
        </p:txBody>
      </p:sp>
      <p:pic>
        <p:nvPicPr>
          <p:cNvPr id="22" name="Icoon FaDatabase beeld" descr="preencoded.png"/>
          <p:cNvPicPr>
            <a:picLocks noChangeAspect="1"/>
          </p:cNvPicPr>
          <p:nvPr/>
        </p:nvPicPr>
        <p:blipFill>
          <a:blip r:embed="rId6"/>
          <a:stretch>
            <a:fillRect/>
          </a:stretch>
        </p:blipFill>
        <p:spPr>
          <a:xfrm>
            <a:off x="8686800" y="1874520"/>
            <a:ext cx="365760" cy="365760"/>
          </a:xfrm>
          <a:prstGeom prst="rect">
            <a:avLst/>
          </a:prstGeom>
        </p:spPr>
      </p:pic>
      <p:sp>
        <p:nvSpPr>
          <p:cNvPr id="23" name="Text 16"/>
          <p:cNvSpPr txBox="1"/>
          <p:nvPr/>
        </p:nvSpPr>
        <p:spPr>
          <a:xfrm>
            <a:off x="9372600" y="1783080"/>
            <a:ext cx="2148840" cy="54864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Database · SQLite</a:t>
            </a:r>
            <a:endParaRPr lang="en-US" sz="1800" dirty="0"/>
          </a:p>
        </p:txBody>
      </p:sp>
      <p:sp>
        <p:nvSpPr>
          <p:cNvPr id="24" name="Text 17"/>
          <p:cNvSpPr txBox="1"/>
          <p:nvPr/>
        </p:nvSpPr>
        <p:spPr>
          <a:xfrm>
            <a:off x="8503920" y="2651760"/>
            <a:ext cx="292608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objects</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object_afbeeldingen</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admin</a:t>
            </a:r>
            <a:endParaRPr lang="en-US" sz="1400" dirty="0"/>
          </a:p>
        </p:txBody>
      </p:sp>
      <p:sp>
        <p:nvSpPr>
          <p:cNvPr id="25" name="Text 18"/>
          <p:cNvSpPr txBox="1"/>
          <p:nvPr/>
        </p:nvSpPr>
        <p:spPr>
          <a:xfrm>
            <a:off x="8503920" y="3840480"/>
            <a:ext cx="2880360" cy="822960"/>
          </a:xfrm>
          <a:prstGeom prst="rect">
            <a:avLst/>
          </a:prstGeom>
          <a:noFill/>
          <a:ln/>
        </p:spPr>
        <p:txBody>
          <a:bodyPr wrap="square" lIns="0" tIns="0" rIns="0" bIns="0" rtlCol="0" anchor="t"/>
          <a:lstStyle/>
          <a:p>
            <a:pPr marL="0" indent="0">
              <a:buNone/>
            </a:pPr>
            <a:r>
              <a:rPr lang="en-US" sz="1200" i="1" dirty="0">
                <a:solidFill>
                  <a:schemeClr val="accent4"/>
                </a:solidFill>
                <a:latin typeface="Calibri" pitchFamily="34" charset="0"/>
                <a:ea typeface="Calibri" pitchFamily="34" charset="-122"/>
                <a:cs typeface="Calibri" pitchFamily="34" charset="-120"/>
              </a:rPr>
              <a:t>Alles staat in één bestand: museum.db</a:t>
            </a:r>
            <a:endParaRPr lang="en-US" sz="1200" dirty="0"/>
          </a:p>
        </p:txBody>
      </p:sp>
      <p:sp>
        <p:nvSpPr>
          <p:cNvPr id="26" name="Text 19"/>
          <p:cNvSpPr txBox="1"/>
          <p:nvPr/>
        </p:nvSpPr>
        <p:spPr>
          <a:xfrm>
            <a:off x="548640" y="4983480"/>
            <a:ext cx="11064240" cy="365760"/>
          </a:xfrm>
          <a:prstGeom prst="rect">
            <a:avLst/>
          </a:prstGeom>
          <a:noFill/>
          <a:ln/>
        </p:spPr>
        <p:txBody>
          <a:bodyPr wrap="square" lIns="0" tIns="0" rIns="0" bIns="0" rtlCol="0" anchor="t"/>
          <a:lstStyle/>
          <a:p>
            <a:pPr marL="0" indent="0">
              <a:buNone/>
            </a:pPr>
            <a:r>
              <a:rPr lang="en-US" sz="1400" i="1" dirty="0">
                <a:solidFill>
                  <a:schemeClr val="accent4"/>
                </a:solidFill>
                <a:latin typeface="Calibri" pitchFamily="34" charset="0"/>
                <a:ea typeface="Calibri" pitchFamily="34" charset="-122"/>
                <a:cs typeface="Calibri" pitchFamily="34" charset="-120"/>
              </a:rPr>
              <a:t>Python + Kivy werkt met aanraking, zodat de app goed bruikbaar is op een tablet.</a:t>
            </a:r>
            <a:endParaRPr lang="en-US" sz="1400" dirty="0"/>
          </a:p>
        </p:txBody>
      </p:sp>
      <p:sp>
        <p:nvSpPr>
          <p:cNvPr id="27"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5D52"/>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latin typeface="Calibri" pitchFamily="34" charset="0"/>
                <a:ea typeface="Calibri" pitchFamily="34" charset="-122"/>
                <a:cs typeface="Calibri" pitchFamily="34" charset="-120"/>
              </a:rPr>
              <a:t>WAT HEBBEN WE GELEERD</a:t>
            </a:r>
            <a:endParaRPr lang="en-US" sz="1100" dirty="0"/>
          </a:p>
        </p:txBody>
      </p:sp>
      <p:sp>
        <p:nvSpPr>
          <p:cNvPr id="3" name="Text 1"/>
          <p:cNvSpPr>
            <a:spLocks noGrp="1"/>
          </p:cNvSpPr>
          <p:nvPr>
            <p:ph type="title" idx="101" hasCustomPrompt="1"/>
          </p:nvPr>
        </p:nvSpPr>
        <p:spPr>
          <a:xfrm>
            <a:off x="548640" y="411480"/>
            <a:ext cx="11091672"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Een nieuw framework, betere Python-code</a:t>
            </a:r>
            <a:endParaRPr lang="en-US" sz="3400" dirty="0"/>
          </a:p>
        </p:txBody>
      </p:sp>
      <p:sp>
        <p:nvSpPr>
          <p:cNvPr id="4" name="Kaart"/>
          <p:cNvSpPr/>
          <p:nvPr/>
        </p:nvSpPr>
        <p:spPr>
          <a:xfrm>
            <a:off x="548640" y="1417320"/>
            <a:ext cx="3547872" cy="246888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5" name="Icoon FaCubes"/>
          <p:cNvSpPr/>
          <p:nvPr/>
        </p:nvSpPr>
        <p:spPr>
          <a:xfrm>
            <a:off x="777240" y="1645920"/>
            <a:ext cx="640080" cy="640080"/>
          </a:xfrm>
          <a:prstGeom prst="ellipse">
            <a:avLst/>
          </a:prstGeom>
          <a:solidFill>
            <a:schemeClr val="accent2"/>
          </a:solidFill>
          <a:ln/>
        </p:spPr>
        <p:txBody>
          <a:bodyPr/>
          <a:lstStyle/>
          <a:p>
            <a:endParaRPr lang="nl-NL"/>
          </a:p>
        </p:txBody>
      </p:sp>
      <p:pic>
        <p:nvPicPr>
          <p:cNvPr id="6" name="Icoon FaCubes beeld" descr="preencoded.png"/>
          <p:cNvPicPr>
            <a:picLocks noChangeAspect="1"/>
          </p:cNvPicPr>
          <p:nvPr/>
        </p:nvPicPr>
        <p:blipFill>
          <a:blip r:embed="rId3"/>
          <a:stretch>
            <a:fillRect/>
          </a:stretch>
        </p:blipFill>
        <p:spPr>
          <a:xfrm>
            <a:off x="937260" y="1805940"/>
            <a:ext cx="320040" cy="320040"/>
          </a:xfrm>
          <a:prstGeom prst="rect">
            <a:avLst/>
          </a:prstGeom>
        </p:spPr>
      </p:pic>
      <p:sp>
        <p:nvSpPr>
          <p:cNvPr id="7" name="Text 4"/>
          <p:cNvSpPr txBox="1"/>
          <p:nvPr/>
        </p:nvSpPr>
        <p:spPr>
          <a:xfrm>
            <a:off x="1554480" y="1691640"/>
            <a:ext cx="2377440" cy="228600"/>
          </a:xfrm>
          <a:prstGeom prst="rect">
            <a:avLst/>
          </a:prstGeom>
          <a:noFill/>
          <a:ln/>
        </p:spPr>
        <p:txBody>
          <a:bodyPr wrap="square" lIns="0" tIns="0" rIns="0" bIns="0" rtlCol="0" anchor="t"/>
          <a:lstStyle/>
          <a:p>
            <a:pPr marL="0" indent="0">
              <a:buNone/>
            </a:pPr>
            <a:r>
              <a:rPr lang="en-US" sz="1100" b="1" kern="0" spc="100" dirty="0">
                <a:solidFill>
                  <a:schemeClr val="accent4"/>
                </a:solidFill>
                <a:latin typeface="Calibri" pitchFamily="34" charset="0"/>
                <a:ea typeface="Calibri" pitchFamily="34" charset="-122"/>
                <a:cs typeface="Calibri" pitchFamily="34" charset="-120"/>
              </a:rPr>
              <a:t>LEERDOEL 1</a:t>
            </a:r>
            <a:endParaRPr lang="en-US" sz="1100" dirty="0"/>
          </a:p>
        </p:txBody>
      </p:sp>
      <p:sp>
        <p:nvSpPr>
          <p:cNvPr id="8" name="Text 5"/>
          <p:cNvSpPr txBox="1"/>
          <p:nvPr/>
        </p:nvSpPr>
        <p:spPr>
          <a:xfrm>
            <a:off x="1554480" y="1920240"/>
            <a:ext cx="2423160" cy="365760"/>
          </a:xfrm>
          <a:prstGeom prst="rect">
            <a:avLst/>
          </a:prstGeom>
          <a:noFill/>
          <a:ln/>
        </p:spPr>
        <p:txBody>
          <a:bodyPr wrap="square" lIns="0" tIns="0" rIns="0" bIns="0" rtlCol="0" anchor="t"/>
          <a:lstStyle/>
          <a:p>
            <a:pPr marL="0" indent="0">
              <a:buNone/>
            </a:pPr>
            <a:r>
              <a:rPr lang="en-US" sz="1900" b="1" dirty="0">
                <a:solidFill>
                  <a:schemeClr val="tx2"/>
                </a:solidFill>
                <a:latin typeface="Cambria" pitchFamily="34" charset="0"/>
                <a:ea typeface="Cambria" pitchFamily="34" charset="-122"/>
                <a:cs typeface="Cambria" pitchFamily="34" charset="-120"/>
              </a:rPr>
              <a:t>Kivy leren</a:t>
            </a:r>
            <a:endParaRPr lang="en-US" sz="1900" dirty="0"/>
          </a:p>
        </p:txBody>
      </p:sp>
      <p:sp>
        <p:nvSpPr>
          <p:cNvPr id="9" name="Text 6"/>
          <p:cNvSpPr txBox="1"/>
          <p:nvPr/>
        </p:nvSpPr>
        <p:spPr>
          <a:xfrm>
            <a:off x="777240" y="2468880"/>
            <a:ext cx="3108960" cy="7772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Structuur, componenten en de gegevensstroom van het framework begrijpen</a:t>
            </a:r>
            <a:endParaRPr lang="en-US" sz="1400" dirty="0"/>
          </a:p>
        </p:txBody>
      </p:sp>
      <p:sp>
        <p:nvSpPr>
          <p:cNvPr id="10" name="Status"/>
          <p:cNvSpPr/>
          <p:nvPr/>
        </p:nvSpPr>
        <p:spPr>
          <a:xfrm>
            <a:off x="777240" y="3337560"/>
            <a:ext cx="1463040" cy="347472"/>
          </a:xfrm>
          <a:prstGeom prst="roundRect">
            <a:avLst>
              <a:gd name="adj" fmla="val 50000"/>
            </a:avLst>
          </a:prstGeom>
          <a:solidFill>
            <a:schemeClr val="accent2"/>
          </a:solidFill>
          <a:ln/>
        </p:spPr>
        <p:txBody>
          <a:bodyPr/>
          <a:lstStyle/>
          <a:p>
            <a:endParaRPr lang="nl-NL"/>
          </a:p>
        </p:txBody>
      </p:sp>
      <p:sp>
        <p:nvSpPr>
          <p:cNvPr id="11" name="Text 8"/>
          <p:cNvSpPr txBox="1"/>
          <p:nvPr/>
        </p:nvSpPr>
        <p:spPr>
          <a:xfrm>
            <a:off x="777240" y="3337560"/>
            <a:ext cx="1463040" cy="347472"/>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Behaald</a:t>
            </a:r>
            <a:endParaRPr lang="en-US" sz="1200" dirty="0"/>
          </a:p>
        </p:txBody>
      </p:sp>
      <p:sp>
        <p:nvSpPr>
          <p:cNvPr id="12" name="Kaart"/>
          <p:cNvSpPr/>
          <p:nvPr/>
        </p:nvSpPr>
        <p:spPr>
          <a:xfrm>
            <a:off x="4315968" y="1417320"/>
            <a:ext cx="3547872" cy="246888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13" name="Icoon FaPython"/>
          <p:cNvSpPr/>
          <p:nvPr/>
        </p:nvSpPr>
        <p:spPr>
          <a:xfrm>
            <a:off x="4544568" y="1645920"/>
            <a:ext cx="640080" cy="640080"/>
          </a:xfrm>
          <a:prstGeom prst="ellipse">
            <a:avLst/>
          </a:prstGeom>
          <a:solidFill>
            <a:schemeClr val="accent1"/>
          </a:solidFill>
          <a:ln/>
        </p:spPr>
        <p:txBody>
          <a:bodyPr/>
          <a:lstStyle/>
          <a:p>
            <a:endParaRPr lang="nl-NL"/>
          </a:p>
        </p:txBody>
      </p:sp>
      <p:pic>
        <p:nvPicPr>
          <p:cNvPr id="14" name="Icoon FaPython beeld" descr="preencoded.png"/>
          <p:cNvPicPr>
            <a:picLocks noChangeAspect="1"/>
          </p:cNvPicPr>
          <p:nvPr/>
        </p:nvPicPr>
        <p:blipFill>
          <a:blip r:embed="rId4"/>
          <a:stretch>
            <a:fillRect/>
          </a:stretch>
        </p:blipFill>
        <p:spPr>
          <a:xfrm>
            <a:off x="4704588" y="1805940"/>
            <a:ext cx="320040" cy="320040"/>
          </a:xfrm>
          <a:prstGeom prst="rect">
            <a:avLst/>
          </a:prstGeom>
        </p:spPr>
      </p:pic>
      <p:sp>
        <p:nvSpPr>
          <p:cNvPr id="15" name="Text 11"/>
          <p:cNvSpPr txBox="1"/>
          <p:nvPr/>
        </p:nvSpPr>
        <p:spPr>
          <a:xfrm>
            <a:off x="5321808" y="1691640"/>
            <a:ext cx="2377440" cy="228600"/>
          </a:xfrm>
          <a:prstGeom prst="rect">
            <a:avLst/>
          </a:prstGeom>
          <a:noFill/>
          <a:ln/>
        </p:spPr>
        <p:txBody>
          <a:bodyPr wrap="square" lIns="0" tIns="0" rIns="0" bIns="0" rtlCol="0" anchor="t"/>
          <a:lstStyle/>
          <a:p>
            <a:pPr marL="0" indent="0">
              <a:buNone/>
            </a:pPr>
            <a:r>
              <a:rPr lang="en-US" sz="1100" b="1" kern="0" spc="100" dirty="0">
                <a:solidFill>
                  <a:schemeClr val="accent4"/>
                </a:solidFill>
                <a:latin typeface="Calibri" pitchFamily="34" charset="0"/>
                <a:ea typeface="Calibri" pitchFamily="34" charset="-122"/>
                <a:cs typeface="Calibri" pitchFamily="34" charset="-120"/>
              </a:rPr>
              <a:t>LEERDOEL 2</a:t>
            </a:r>
            <a:endParaRPr lang="en-US" sz="1100" dirty="0"/>
          </a:p>
        </p:txBody>
      </p:sp>
      <p:sp>
        <p:nvSpPr>
          <p:cNvPr id="16" name="Text 12"/>
          <p:cNvSpPr txBox="1"/>
          <p:nvPr/>
        </p:nvSpPr>
        <p:spPr>
          <a:xfrm>
            <a:off x="5321808" y="1920240"/>
            <a:ext cx="2423160" cy="365760"/>
          </a:xfrm>
          <a:prstGeom prst="rect">
            <a:avLst/>
          </a:prstGeom>
          <a:noFill/>
          <a:ln/>
        </p:spPr>
        <p:txBody>
          <a:bodyPr wrap="square" lIns="0" tIns="0" rIns="0" bIns="0" rtlCol="0" anchor="t"/>
          <a:lstStyle/>
          <a:p>
            <a:pPr marL="0" indent="0">
              <a:buNone/>
            </a:pPr>
            <a:r>
              <a:rPr lang="en-US" sz="1900" b="1" dirty="0">
                <a:solidFill>
                  <a:schemeClr val="tx2"/>
                </a:solidFill>
                <a:latin typeface="Cambria" pitchFamily="34" charset="0"/>
                <a:ea typeface="Cambria" pitchFamily="34" charset="-122"/>
                <a:cs typeface="Cambria" pitchFamily="34" charset="-120"/>
              </a:rPr>
              <a:t>Betere Python-code</a:t>
            </a:r>
            <a:endParaRPr lang="en-US" sz="1900" dirty="0"/>
          </a:p>
        </p:txBody>
      </p:sp>
      <p:sp>
        <p:nvSpPr>
          <p:cNvPr id="17" name="Text 13"/>
          <p:cNvSpPr txBox="1"/>
          <p:nvPr/>
        </p:nvSpPr>
        <p:spPr>
          <a:xfrm>
            <a:off x="4544568" y="2468880"/>
            <a:ext cx="3108960" cy="7772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Code opdelen in functies, modules en een nette mappenstructuur</a:t>
            </a:r>
            <a:endParaRPr lang="en-US" sz="1400" dirty="0"/>
          </a:p>
        </p:txBody>
      </p:sp>
      <p:sp>
        <p:nvSpPr>
          <p:cNvPr id="18" name="Status"/>
          <p:cNvSpPr/>
          <p:nvPr/>
        </p:nvSpPr>
        <p:spPr>
          <a:xfrm>
            <a:off x="4544568" y="3337560"/>
            <a:ext cx="1463040" cy="347472"/>
          </a:xfrm>
          <a:prstGeom prst="roundRect">
            <a:avLst>
              <a:gd name="adj" fmla="val 50000"/>
            </a:avLst>
          </a:prstGeom>
          <a:solidFill>
            <a:schemeClr val="accent1"/>
          </a:solidFill>
          <a:ln/>
        </p:spPr>
        <p:txBody>
          <a:bodyPr/>
          <a:lstStyle/>
          <a:p>
            <a:endParaRPr lang="nl-NL"/>
          </a:p>
        </p:txBody>
      </p:sp>
      <p:sp>
        <p:nvSpPr>
          <p:cNvPr id="19" name="Text 15"/>
          <p:cNvSpPr txBox="1"/>
          <p:nvPr/>
        </p:nvSpPr>
        <p:spPr>
          <a:xfrm>
            <a:off x="4544568" y="3337560"/>
            <a:ext cx="1463040" cy="347472"/>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Bezig</a:t>
            </a:r>
            <a:endParaRPr lang="en-US" sz="1200" dirty="0"/>
          </a:p>
        </p:txBody>
      </p:sp>
      <p:sp>
        <p:nvSpPr>
          <p:cNvPr id="20" name="Kaart"/>
          <p:cNvSpPr/>
          <p:nvPr/>
        </p:nvSpPr>
        <p:spPr>
          <a:xfrm>
            <a:off x="8083296" y="1417320"/>
            <a:ext cx="3547872" cy="246888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21" name="Icoon FaClipboardList"/>
          <p:cNvSpPr/>
          <p:nvPr/>
        </p:nvSpPr>
        <p:spPr>
          <a:xfrm>
            <a:off x="8311896" y="1645920"/>
            <a:ext cx="640080" cy="640080"/>
          </a:xfrm>
          <a:prstGeom prst="ellipse">
            <a:avLst/>
          </a:prstGeom>
          <a:solidFill>
            <a:schemeClr val="accent4"/>
          </a:solidFill>
          <a:ln/>
        </p:spPr>
        <p:txBody>
          <a:bodyPr/>
          <a:lstStyle/>
          <a:p>
            <a:endParaRPr lang="nl-NL"/>
          </a:p>
        </p:txBody>
      </p:sp>
      <p:pic>
        <p:nvPicPr>
          <p:cNvPr id="22" name="Icoon FaClipboardList beeld" descr="preencoded.png"/>
          <p:cNvPicPr>
            <a:picLocks noChangeAspect="1"/>
          </p:cNvPicPr>
          <p:nvPr/>
        </p:nvPicPr>
        <p:blipFill>
          <a:blip r:embed="rId5"/>
          <a:stretch>
            <a:fillRect/>
          </a:stretch>
        </p:blipFill>
        <p:spPr>
          <a:xfrm>
            <a:off x="8471916" y="1805940"/>
            <a:ext cx="320040" cy="320040"/>
          </a:xfrm>
          <a:prstGeom prst="rect">
            <a:avLst/>
          </a:prstGeom>
        </p:spPr>
      </p:pic>
      <p:sp>
        <p:nvSpPr>
          <p:cNvPr id="23" name="Text 18"/>
          <p:cNvSpPr txBox="1"/>
          <p:nvPr/>
        </p:nvSpPr>
        <p:spPr>
          <a:xfrm>
            <a:off x="9089136" y="1691640"/>
            <a:ext cx="2377440" cy="228600"/>
          </a:xfrm>
          <a:prstGeom prst="rect">
            <a:avLst/>
          </a:prstGeom>
          <a:noFill/>
          <a:ln/>
        </p:spPr>
        <p:txBody>
          <a:bodyPr wrap="square" lIns="0" tIns="0" rIns="0" bIns="0" rtlCol="0" anchor="t"/>
          <a:lstStyle/>
          <a:p>
            <a:pPr marL="0" indent="0">
              <a:buNone/>
            </a:pPr>
            <a:r>
              <a:rPr lang="en-US" sz="1100" b="1" kern="0" spc="100" dirty="0">
                <a:solidFill>
                  <a:schemeClr val="accent4"/>
                </a:solidFill>
                <a:latin typeface="Calibri" pitchFamily="34" charset="0"/>
                <a:ea typeface="Calibri" pitchFamily="34" charset="-122"/>
                <a:cs typeface="Calibri" pitchFamily="34" charset="-120"/>
              </a:rPr>
              <a:t>LEERDOEL 3</a:t>
            </a:r>
            <a:endParaRPr lang="en-US" sz="1100" dirty="0"/>
          </a:p>
        </p:txBody>
      </p:sp>
      <p:sp>
        <p:nvSpPr>
          <p:cNvPr id="24" name="Text 19"/>
          <p:cNvSpPr txBox="1"/>
          <p:nvPr/>
        </p:nvSpPr>
        <p:spPr>
          <a:xfrm>
            <a:off x="9089136" y="1920240"/>
            <a:ext cx="2423160" cy="365760"/>
          </a:xfrm>
          <a:prstGeom prst="rect">
            <a:avLst/>
          </a:prstGeom>
          <a:noFill/>
          <a:ln/>
        </p:spPr>
        <p:txBody>
          <a:bodyPr wrap="square" lIns="0" tIns="0" rIns="0" bIns="0" rtlCol="0" anchor="t"/>
          <a:lstStyle/>
          <a:p>
            <a:pPr marL="0" indent="0">
              <a:buNone/>
            </a:pPr>
            <a:r>
              <a:rPr lang="en-US" sz="1900" b="1" dirty="0">
                <a:solidFill>
                  <a:schemeClr val="tx2"/>
                </a:solidFill>
                <a:latin typeface="Cambria" pitchFamily="34" charset="0"/>
                <a:ea typeface="Cambria" pitchFamily="34" charset="-122"/>
                <a:cs typeface="Cambria" pitchFamily="34" charset="-120"/>
              </a:rPr>
              <a:t>Systematisch testen</a:t>
            </a:r>
            <a:endParaRPr lang="en-US" sz="1900" dirty="0"/>
          </a:p>
        </p:txBody>
      </p:sp>
      <p:sp>
        <p:nvSpPr>
          <p:cNvPr id="25" name="Text 20"/>
          <p:cNvSpPr txBox="1"/>
          <p:nvPr/>
        </p:nvSpPr>
        <p:spPr>
          <a:xfrm>
            <a:off x="8311896" y="2468880"/>
            <a:ext cx="3108960" cy="7772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Voor elke oplevering testen met een checklist en elkaar laten meekijken</a:t>
            </a:r>
            <a:endParaRPr lang="en-US" sz="1400" dirty="0"/>
          </a:p>
        </p:txBody>
      </p:sp>
      <p:sp>
        <p:nvSpPr>
          <p:cNvPr id="26" name="Status"/>
          <p:cNvSpPr/>
          <p:nvPr/>
        </p:nvSpPr>
        <p:spPr>
          <a:xfrm>
            <a:off x="8311896" y="3337560"/>
            <a:ext cx="1463040" cy="347472"/>
          </a:xfrm>
          <a:prstGeom prst="roundRect">
            <a:avLst>
              <a:gd name="adj" fmla="val 50000"/>
            </a:avLst>
          </a:prstGeom>
          <a:solidFill>
            <a:schemeClr val="accent4"/>
          </a:solidFill>
          <a:ln/>
        </p:spPr>
        <p:txBody>
          <a:bodyPr/>
          <a:lstStyle/>
          <a:p>
            <a:endParaRPr lang="nl-NL"/>
          </a:p>
        </p:txBody>
      </p:sp>
      <p:sp>
        <p:nvSpPr>
          <p:cNvPr id="27" name="Text 22"/>
          <p:cNvSpPr txBox="1"/>
          <p:nvPr/>
        </p:nvSpPr>
        <p:spPr>
          <a:xfrm>
            <a:off x="8311896" y="3337560"/>
            <a:ext cx="1463040" cy="347472"/>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In de testfase</a:t>
            </a:r>
            <a:endParaRPr lang="en-US" sz="1200" dirty="0"/>
          </a:p>
        </p:txBody>
      </p:sp>
      <p:sp>
        <p:nvSpPr>
          <p:cNvPr id="28" name="Icoon FaThumbsUp"/>
          <p:cNvSpPr/>
          <p:nvPr/>
        </p:nvSpPr>
        <p:spPr>
          <a:xfrm>
            <a:off x="548640" y="4251960"/>
            <a:ext cx="548640" cy="548640"/>
          </a:xfrm>
          <a:prstGeom prst="ellipse">
            <a:avLst/>
          </a:prstGeom>
          <a:solidFill>
            <a:schemeClr val="accent3"/>
          </a:solidFill>
          <a:ln/>
        </p:spPr>
        <p:txBody>
          <a:bodyPr/>
          <a:lstStyle/>
          <a:p>
            <a:endParaRPr lang="nl-NL"/>
          </a:p>
        </p:txBody>
      </p:sp>
      <p:pic>
        <p:nvPicPr>
          <p:cNvPr id="29" name="Icoon FaThumbsUp beeld" descr="preencoded.png"/>
          <p:cNvPicPr>
            <a:picLocks noChangeAspect="1"/>
          </p:cNvPicPr>
          <p:nvPr/>
        </p:nvPicPr>
        <p:blipFill>
          <a:blip r:embed="rId6"/>
          <a:stretch>
            <a:fillRect/>
          </a:stretch>
        </p:blipFill>
        <p:spPr>
          <a:xfrm>
            <a:off x="685800" y="4389120"/>
            <a:ext cx="274320" cy="274320"/>
          </a:xfrm>
          <a:prstGeom prst="rect">
            <a:avLst/>
          </a:prstGeom>
        </p:spPr>
      </p:pic>
      <p:sp>
        <p:nvSpPr>
          <p:cNvPr id="30" name="Text 24"/>
          <p:cNvSpPr txBox="1"/>
          <p:nvPr/>
        </p:nvSpPr>
        <p:spPr>
          <a:xfrm>
            <a:off x="1280160" y="4224528"/>
            <a:ext cx="2743200" cy="32004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Ging goed</a:t>
            </a:r>
            <a:endParaRPr lang="en-US" sz="1600" dirty="0"/>
          </a:p>
        </p:txBody>
      </p:sp>
      <p:sp>
        <p:nvSpPr>
          <p:cNvPr id="31" name="Text 25"/>
          <p:cNvSpPr txBox="1"/>
          <p:nvPr/>
        </p:nvSpPr>
        <p:spPr>
          <a:xfrm>
            <a:off x="1280160" y="4553712"/>
            <a:ext cx="2788920" cy="7315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We hebben onze eerste app met Python gebouwd</a:t>
            </a:r>
            <a:endParaRPr lang="en-US" sz="1400" dirty="0"/>
          </a:p>
        </p:txBody>
      </p:sp>
      <p:sp>
        <p:nvSpPr>
          <p:cNvPr id="32" name="Icoon FaMountain"/>
          <p:cNvSpPr/>
          <p:nvPr/>
        </p:nvSpPr>
        <p:spPr>
          <a:xfrm>
            <a:off x="4315968" y="4251960"/>
            <a:ext cx="548640" cy="548640"/>
          </a:xfrm>
          <a:prstGeom prst="ellipse">
            <a:avLst/>
          </a:prstGeom>
          <a:solidFill>
            <a:schemeClr val="accent3"/>
          </a:solidFill>
          <a:ln/>
        </p:spPr>
        <p:txBody>
          <a:bodyPr/>
          <a:lstStyle/>
          <a:p>
            <a:endParaRPr lang="nl-NL"/>
          </a:p>
        </p:txBody>
      </p:sp>
      <p:pic>
        <p:nvPicPr>
          <p:cNvPr id="33" name="Icoon FaMountain beeld" descr="preencoded.png"/>
          <p:cNvPicPr>
            <a:picLocks noChangeAspect="1"/>
          </p:cNvPicPr>
          <p:nvPr/>
        </p:nvPicPr>
        <p:blipFill>
          <a:blip r:embed="rId7"/>
          <a:stretch>
            <a:fillRect/>
          </a:stretch>
        </p:blipFill>
        <p:spPr>
          <a:xfrm>
            <a:off x="4453128" y="4389120"/>
            <a:ext cx="274320" cy="274320"/>
          </a:xfrm>
          <a:prstGeom prst="rect">
            <a:avLst/>
          </a:prstGeom>
        </p:spPr>
      </p:pic>
      <p:sp>
        <p:nvSpPr>
          <p:cNvPr id="34" name="Text 27"/>
          <p:cNvSpPr txBox="1"/>
          <p:nvPr/>
        </p:nvSpPr>
        <p:spPr>
          <a:xfrm>
            <a:off x="5047488" y="4224528"/>
            <a:ext cx="2743200" cy="32004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Was lastig</a:t>
            </a:r>
            <a:endParaRPr lang="en-US" sz="1600" dirty="0"/>
          </a:p>
        </p:txBody>
      </p:sp>
      <p:sp>
        <p:nvSpPr>
          <p:cNvPr id="35" name="Text 28"/>
          <p:cNvSpPr txBox="1"/>
          <p:nvPr/>
        </p:nvSpPr>
        <p:spPr>
          <a:xfrm>
            <a:off x="5047488" y="4553712"/>
            <a:ext cx="2788920" cy="7315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Een nieuw framework leren, vooral in het begin</a:t>
            </a:r>
            <a:endParaRPr lang="en-US" sz="1400" dirty="0"/>
          </a:p>
        </p:txBody>
      </p:sp>
      <p:sp>
        <p:nvSpPr>
          <p:cNvPr id="36" name="Icoon FaRedo"/>
          <p:cNvSpPr/>
          <p:nvPr/>
        </p:nvSpPr>
        <p:spPr>
          <a:xfrm>
            <a:off x="8083296" y="4251960"/>
            <a:ext cx="548640" cy="548640"/>
          </a:xfrm>
          <a:prstGeom prst="ellipse">
            <a:avLst/>
          </a:prstGeom>
          <a:solidFill>
            <a:schemeClr val="accent3"/>
          </a:solidFill>
          <a:ln/>
        </p:spPr>
        <p:txBody>
          <a:bodyPr/>
          <a:lstStyle/>
          <a:p>
            <a:endParaRPr lang="nl-NL"/>
          </a:p>
        </p:txBody>
      </p:sp>
      <p:pic>
        <p:nvPicPr>
          <p:cNvPr id="37" name="Icoon FaRedo beeld" descr="preencoded.png"/>
          <p:cNvPicPr>
            <a:picLocks noChangeAspect="1"/>
          </p:cNvPicPr>
          <p:nvPr/>
        </p:nvPicPr>
        <p:blipFill>
          <a:blip r:embed="rId8"/>
          <a:stretch>
            <a:fillRect/>
          </a:stretch>
        </p:blipFill>
        <p:spPr>
          <a:xfrm>
            <a:off x="8220456" y="4389120"/>
            <a:ext cx="274320" cy="274320"/>
          </a:xfrm>
          <a:prstGeom prst="rect">
            <a:avLst/>
          </a:prstGeom>
        </p:spPr>
      </p:pic>
      <p:sp>
        <p:nvSpPr>
          <p:cNvPr id="38" name="Text 30"/>
          <p:cNvSpPr txBox="1"/>
          <p:nvPr/>
        </p:nvSpPr>
        <p:spPr>
          <a:xfrm>
            <a:off x="8814816" y="4224528"/>
            <a:ext cx="2743200" cy="32004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Volgende keer</a:t>
            </a:r>
            <a:endParaRPr lang="en-US" sz="1600" dirty="0"/>
          </a:p>
        </p:txBody>
      </p:sp>
      <p:sp>
        <p:nvSpPr>
          <p:cNvPr id="39" name="Text 31"/>
          <p:cNvSpPr txBox="1"/>
          <p:nvPr/>
        </p:nvSpPr>
        <p:spPr>
          <a:xfrm>
            <a:off x="8814816" y="4553712"/>
            <a:ext cx="2788920" cy="7315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De projectbestanden vanaf het begin beter scheiden</a:t>
            </a:r>
            <a:endParaRPr lang="en-US" sz="1400" dirty="0"/>
          </a:p>
        </p:txBody>
      </p:sp>
      <p:sp>
        <p:nvSpPr>
          <p:cNvPr id="40" name="Text 32"/>
          <p:cNvSpPr txBox="1"/>
          <p:nvPr/>
        </p:nvSpPr>
        <p:spPr>
          <a:xfrm>
            <a:off x="548640" y="5760720"/>
            <a:ext cx="7315200" cy="274320"/>
          </a:xfrm>
          <a:prstGeom prst="rect">
            <a:avLst/>
          </a:prstGeom>
          <a:noFill/>
          <a:ln/>
        </p:spPr>
        <p:txBody>
          <a:bodyPr wrap="square" lIns="0" tIns="0" rIns="0" bIns="0" rtlCol="0" anchor="t"/>
          <a:lstStyle/>
          <a:p>
            <a:pPr marL="0" indent="0">
              <a:buNone/>
            </a:pPr>
            <a:r>
              <a:rPr lang="en-US" sz="1200" i="1" dirty="0">
                <a:solidFill>
                  <a:schemeClr val="accent4"/>
                </a:solidFill>
                <a:latin typeface="Calibri" pitchFamily="34" charset="0"/>
                <a:ea typeface="Calibri" pitchFamily="34" charset="-122"/>
                <a:cs typeface="Calibri" pitchFamily="34" charset="-120"/>
              </a:rPr>
              <a:t>Uit onze tussentijdse zelfevaluaties (30 oktober)</a:t>
            </a:r>
            <a:endParaRPr lang="en-US" sz="1200" dirty="0"/>
          </a:p>
        </p:txBody>
      </p:sp>
      <p:sp>
        <p:nvSpPr>
          <p:cNvPr id="41"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5D52"/>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latin typeface="Calibri" pitchFamily="34" charset="0"/>
                <a:ea typeface="Calibri" pitchFamily="34" charset="-122"/>
                <a:cs typeface="Calibri" pitchFamily="34" charset="-120"/>
              </a:rPr>
              <a:t>SAMENWERKING</a:t>
            </a:r>
            <a:endParaRPr lang="en-US" sz="1100" dirty="0"/>
          </a:p>
        </p:txBody>
      </p:sp>
      <p:sp>
        <p:nvSpPr>
          <p:cNvPr id="3" name="Text 1"/>
          <p:cNvSpPr>
            <a:spLocks noGrp="1"/>
          </p:cNvSpPr>
          <p:nvPr>
            <p:ph type="title" idx="101" hasCustomPrompt="1"/>
          </p:nvPr>
        </p:nvSpPr>
        <p:spPr>
          <a:xfrm>
            <a:off x="548640" y="411480"/>
            <a:ext cx="11091672"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Duidelijke taken, elkaar helpen</a:t>
            </a:r>
            <a:endParaRPr lang="en-US" sz="3400" dirty="0"/>
          </a:p>
        </p:txBody>
      </p:sp>
      <p:sp>
        <p:nvSpPr>
          <p:cNvPr id="4" name="Kaart"/>
          <p:cNvSpPr/>
          <p:nvPr/>
        </p:nvSpPr>
        <p:spPr>
          <a:xfrm>
            <a:off x="548640" y="1417320"/>
            <a:ext cx="5120640" cy="201168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5" name="Icoon FaUser"/>
          <p:cNvSpPr/>
          <p:nvPr/>
        </p:nvSpPr>
        <p:spPr>
          <a:xfrm>
            <a:off x="777240" y="1645920"/>
            <a:ext cx="685800" cy="685800"/>
          </a:xfrm>
          <a:prstGeom prst="ellipse">
            <a:avLst/>
          </a:prstGeom>
          <a:solidFill>
            <a:schemeClr val="accent1"/>
          </a:solidFill>
          <a:ln/>
        </p:spPr>
        <p:txBody>
          <a:bodyPr/>
          <a:lstStyle/>
          <a:p>
            <a:endParaRPr lang="nl-NL"/>
          </a:p>
        </p:txBody>
      </p:sp>
      <p:pic>
        <p:nvPicPr>
          <p:cNvPr id="6" name="Icoon FaUser beeld" descr="preencoded.png"/>
          <p:cNvPicPr>
            <a:picLocks noChangeAspect="1"/>
          </p:cNvPicPr>
          <p:nvPr/>
        </p:nvPicPr>
        <p:blipFill>
          <a:blip r:embed="rId3"/>
          <a:stretch>
            <a:fillRect/>
          </a:stretch>
        </p:blipFill>
        <p:spPr>
          <a:xfrm>
            <a:off x="948690" y="1817370"/>
            <a:ext cx="342900" cy="342900"/>
          </a:xfrm>
          <a:prstGeom prst="rect">
            <a:avLst/>
          </a:prstGeom>
        </p:spPr>
      </p:pic>
      <p:sp>
        <p:nvSpPr>
          <p:cNvPr id="7" name="Text 4"/>
          <p:cNvSpPr txBox="1"/>
          <p:nvPr/>
        </p:nvSpPr>
        <p:spPr>
          <a:xfrm>
            <a:off x="1645920" y="1691640"/>
            <a:ext cx="3840480" cy="54864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Efe</a:t>
            </a:r>
            <a:endParaRPr lang="en-US" sz="2200" dirty="0"/>
          </a:p>
        </p:txBody>
      </p:sp>
      <p:sp>
        <p:nvSpPr>
          <p:cNvPr id="8" name="Text 5"/>
          <p:cNvSpPr txBox="1"/>
          <p:nvPr/>
        </p:nvSpPr>
        <p:spPr>
          <a:xfrm>
            <a:off x="777240" y="2514600"/>
            <a:ext cx="4663440" cy="7772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Ontwerpdocument en moodboard, database, beheerpaneel en inloggen</a:t>
            </a:r>
            <a:endParaRPr lang="en-US" sz="1400" dirty="0"/>
          </a:p>
        </p:txBody>
      </p:sp>
      <p:sp>
        <p:nvSpPr>
          <p:cNvPr id="9" name="Kaart"/>
          <p:cNvSpPr/>
          <p:nvPr/>
        </p:nvSpPr>
        <p:spPr>
          <a:xfrm>
            <a:off x="548640" y="3657600"/>
            <a:ext cx="5120640" cy="201168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10" name="Icoon FaUser"/>
          <p:cNvSpPr/>
          <p:nvPr/>
        </p:nvSpPr>
        <p:spPr>
          <a:xfrm>
            <a:off x="777240" y="3886200"/>
            <a:ext cx="685800" cy="685800"/>
          </a:xfrm>
          <a:prstGeom prst="ellipse">
            <a:avLst/>
          </a:prstGeom>
          <a:solidFill>
            <a:schemeClr val="accent2"/>
          </a:solidFill>
          <a:ln/>
        </p:spPr>
        <p:txBody>
          <a:bodyPr/>
          <a:lstStyle/>
          <a:p>
            <a:endParaRPr lang="nl-NL"/>
          </a:p>
        </p:txBody>
      </p:sp>
      <p:pic>
        <p:nvPicPr>
          <p:cNvPr id="11" name="Icoon FaUser beeld" descr="preencoded.png"/>
          <p:cNvPicPr>
            <a:picLocks noChangeAspect="1"/>
          </p:cNvPicPr>
          <p:nvPr/>
        </p:nvPicPr>
        <p:blipFill>
          <a:blip r:embed="rId3"/>
          <a:stretch>
            <a:fillRect/>
          </a:stretch>
        </p:blipFill>
        <p:spPr>
          <a:xfrm>
            <a:off x="948690" y="4057650"/>
            <a:ext cx="342900" cy="342900"/>
          </a:xfrm>
          <a:prstGeom prst="rect">
            <a:avLst/>
          </a:prstGeom>
        </p:spPr>
      </p:pic>
      <p:sp>
        <p:nvSpPr>
          <p:cNvPr id="12" name="Text 8"/>
          <p:cNvSpPr txBox="1"/>
          <p:nvPr/>
        </p:nvSpPr>
        <p:spPr>
          <a:xfrm>
            <a:off x="1645920" y="3931920"/>
            <a:ext cx="3840480" cy="54864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Ufuk</a:t>
            </a:r>
            <a:endParaRPr lang="en-US" sz="2200" dirty="0"/>
          </a:p>
        </p:txBody>
      </p:sp>
      <p:sp>
        <p:nvSpPr>
          <p:cNvPr id="13" name="Text 9"/>
          <p:cNvSpPr txBox="1"/>
          <p:nvPr/>
        </p:nvSpPr>
        <p:spPr>
          <a:xfrm>
            <a:off x="777240" y="4754880"/>
            <a:ext cx="4663440" cy="7772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Projectstructuur, objectpagina's, fotoformaat, lettertypes en code opruimen</a:t>
            </a:r>
            <a:endParaRPr lang="en-US" sz="1400" dirty="0"/>
          </a:p>
        </p:txBody>
      </p:sp>
      <p:sp>
        <p:nvSpPr>
          <p:cNvPr id="14" name="Text 10"/>
          <p:cNvSpPr txBox="1"/>
          <p:nvPr/>
        </p:nvSpPr>
        <p:spPr>
          <a:xfrm>
            <a:off x="6172200" y="1417320"/>
            <a:ext cx="5394960" cy="384048"/>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Wat goed ging</a:t>
            </a:r>
            <a:endParaRPr lang="en-US" sz="2000" dirty="0"/>
          </a:p>
        </p:txBody>
      </p:sp>
      <p:sp>
        <p:nvSpPr>
          <p:cNvPr id="15" name="Icoon FaCheck"/>
          <p:cNvSpPr/>
          <p:nvPr/>
        </p:nvSpPr>
        <p:spPr>
          <a:xfrm>
            <a:off x="6172200" y="1920240"/>
            <a:ext cx="365760" cy="365760"/>
          </a:xfrm>
          <a:prstGeom prst="ellipse">
            <a:avLst/>
          </a:prstGeom>
          <a:solidFill>
            <a:schemeClr val="accent2"/>
          </a:solidFill>
          <a:ln/>
        </p:spPr>
        <p:txBody>
          <a:bodyPr/>
          <a:lstStyle/>
          <a:p>
            <a:endParaRPr lang="nl-NL"/>
          </a:p>
        </p:txBody>
      </p:sp>
      <p:pic>
        <p:nvPicPr>
          <p:cNvPr id="16" name="Icoon FaCheck beeld" descr="preencoded.png"/>
          <p:cNvPicPr>
            <a:picLocks noChangeAspect="1"/>
          </p:cNvPicPr>
          <p:nvPr/>
        </p:nvPicPr>
        <p:blipFill>
          <a:blip r:embed="rId4"/>
          <a:stretch>
            <a:fillRect/>
          </a:stretch>
        </p:blipFill>
        <p:spPr>
          <a:xfrm>
            <a:off x="6263640" y="2011680"/>
            <a:ext cx="182880" cy="182880"/>
          </a:xfrm>
          <a:prstGeom prst="rect">
            <a:avLst/>
          </a:prstGeom>
        </p:spPr>
      </p:pic>
      <p:sp>
        <p:nvSpPr>
          <p:cNvPr id="17" name="Text 12"/>
          <p:cNvSpPr txBox="1"/>
          <p:nvPr/>
        </p:nvSpPr>
        <p:spPr>
          <a:xfrm>
            <a:off x="6675120" y="1892808"/>
            <a:ext cx="4937760" cy="420624"/>
          </a:xfrm>
          <a:prstGeom prst="rect">
            <a:avLst/>
          </a:prstGeom>
          <a:noFill/>
          <a:ln/>
        </p:spPr>
        <p:txBody>
          <a:bodyPr wrap="square" lIns="0" tIns="0" rIns="0" bIns="0" rtlCol="0" anchor="ctr"/>
          <a:lstStyle/>
          <a:p>
            <a:pPr marL="0" indent="0">
              <a:buNone/>
            </a:pPr>
            <a:r>
              <a:rPr lang="en-US" sz="1500" dirty="0">
                <a:solidFill>
                  <a:schemeClr val="tx1"/>
                </a:solidFill>
                <a:latin typeface="Calibri" pitchFamily="34" charset="0"/>
                <a:ea typeface="Calibri" pitchFamily="34" charset="-122"/>
                <a:cs typeface="Calibri" pitchFamily="34" charset="-120"/>
              </a:rPr>
              <a:t>We spreken duidelijk af wie wat doet</a:t>
            </a:r>
            <a:endParaRPr lang="en-US" sz="1500" dirty="0"/>
          </a:p>
        </p:txBody>
      </p:sp>
      <p:sp>
        <p:nvSpPr>
          <p:cNvPr id="18" name="Icoon FaCheck"/>
          <p:cNvSpPr/>
          <p:nvPr/>
        </p:nvSpPr>
        <p:spPr>
          <a:xfrm>
            <a:off x="6172200" y="2423160"/>
            <a:ext cx="365760" cy="365760"/>
          </a:xfrm>
          <a:prstGeom prst="ellipse">
            <a:avLst/>
          </a:prstGeom>
          <a:solidFill>
            <a:schemeClr val="accent2"/>
          </a:solidFill>
          <a:ln/>
        </p:spPr>
        <p:txBody>
          <a:bodyPr/>
          <a:lstStyle/>
          <a:p>
            <a:endParaRPr lang="nl-NL"/>
          </a:p>
        </p:txBody>
      </p:sp>
      <p:pic>
        <p:nvPicPr>
          <p:cNvPr id="19" name="Icoon FaCheck beeld" descr="preencoded.png"/>
          <p:cNvPicPr>
            <a:picLocks noChangeAspect="1"/>
          </p:cNvPicPr>
          <p:nvPr/>
        </p:nvPicPr>
        <p:blipFill>
          <a:blip r:embed="rId4"/>
          <a:stretch>
            <a:fillRect/>
          </a:stretch>
        </p:blipFill>
        <p:spPr>
          <a:xfrm>
            <a:off x="6263640" y="2514600"/>
            <a:ext cx="182880" cy="182880"/>
          </a:xfrm>
          <a:prstGeom prst="rect">
            <a:avLst/>
          </a:prstGeom>
        </p:spPr>
      </p:pic>
      <p:sp>
        <p:nvSpPr>
          <p:cNvPr id="20" name="Text 14"/>
          <p:cNvSpPr txBox="1"/>
          <p:nvPr/>
        </p:nvSpPr>
        <p:spPr>
          <a:xfrm>
            <a:off x="6675120" y="2395728"/>
            <a:ext cx="4937760" cy="420624"/>
          </a:xfrm>
          <a:prstGeom prst="rect">
            <a:avLst/>
          </a:prstGeom>
          <a:noFill/>
          <a:ln/>
        </p:spPr>
        <p:txBody>
          <a:bodyPr wrap="square" lIns="0" tIns="0" rIns="0" bIns="0" rtlCol="0" anchor="ctr"/>
          <a:lstStyle/>
          <a:p>
            <a:pPr marL="0" indent="0">
              <a:buNone/>
            </a:pPr>
            <a:r>
              <a:rPr lang="en-US" sz="1500" dirty="0">
                <a:solidFill>
                  <a:schemeClr val="tx1"/>
                </a:solidFill>
                <a:latin typeface="Calibri" pitchFamily="34" charset="0"/>
                <a:ea typeface="Calibri" pitchFamily="34" charset="-122"/>
                <a:cs typeface="Calibri" pitchFamily="34" charset="-120"/>
              </a:rPr>
              <a:t>Samen plannen en prioriteiten stellen</a:t>
            </a:r>
            <a:endParaRPr lang="en-US" sz="1500" dirty="0"/>
          </a:p>
        </p:txBody>
      </p:sp>
      <p:sp>
        <p:nvSpPr>
          <p:cNvPr id="21" name="Icoon FaCheck"/>
          <p:cNvSpPr/>
          <p:nvPr/>
        </p:nvSpPr>
        <p:spPr>
          <a:xfrm>
            <a:off x="6172200" y="2926080"/>
            <a:ext cx="365760" cy="365760"/>
          </a:xfrm>
          <a:prstGeom prst="ellipse">
            <a:avLst/>
          </a:prstGeom>
          <a:solidFill>
            <a:schemeClr val="accent2"/>
          </a:solidFill>
          <a:ln/>
        </p:spPr>
        <p:txBody>
          <a:bodyPr/>
          <a:lstStyle/>
          <a:p>
            <a:endParaRPr lang="nl-NL"/>
          </a:p>
        </p:txBody>
      </p:sp>
      <p:pic>
        <p:nvPicPr>
          <p:cNvPr id="22" name="Icoon FaCheck beeld" descr="preencoded.png"/>
          <p:cNvPicPr>
            <a:picLocks noChangeAspect="1"/>
          </p:cNvPicPr>
          <p:nvPr/>
        </p:nvPicPr>
        <p:blipFill>
          <a:blip r:embed="rId4"/>
          <a:stretch>
            <a:fillRect/>
          </a:stretch>
        </p:blipFill>
        <p:spPr>
          <a:xfrm>
            <a:off x="6263640" y="3017520"/>
            <a:ext cx="182880" cy="182880"/>
          </a:xfrm>
          <a:prstGeom prst="rect">
            <a:avLst/>
          </a:prstGeom>
        </p:spPr>
      </p:pic>
      <p:sp>
        <p:nvSpPr>
          <p:cNvPr id="23" name="Text 16"/>
          <p:cNvSpPr txBox="1"/>
          <p:nvPr/>
        </p:nvSpPr>
        <p:spPr>
          <a:xfrm>
            <a:off x="6675120" y="2898648"/>
            <a:ext cx="4937760" cy="420624"/>
          </a:xfrm>
          <a:prstGeom prst="rect">
            <a:avLst/>
          </a:prstGeom>
          <a:noFill/>
          <a:ln/>
        </p:spPr>
        <p:txBody>
          <a:bodyPr wrap="square" lIns="0" tIns="0" rIns="0" bIns="0" rtlCol="0" anchor="ctr"/>
          <a:lstStyle/>
          <a:p>
            <a:pPr marL="0" indent="0">
              <a:buNone/>
            </a:pPr>
            <a:r>
              <a:rPr lang="en-US" sz="1500" dirty="0">
                <a:solidFill>
                  <a:schemeClr val="tx1"/>
                </a:solidFill>
                <a:latin typeface="Calibri" pitchFamily="34" charset="0"/>
                <a:ea typeface="Calibri" pitchFamily="34" charset="-122"/>
                <a:cs typeface="Calibri" pitchFamily="34" charset="-120"/>
              </a:rPr>
              <a:t>Vaak op tijd of eerder klaar</a:t>
            </a:r>
            <a:endParaRPr lang="en-US" sz="1500" dirty="0"/>
          </a:p>
        </p:txBody>
      </p:sp>
      <p:sp>
        <p:nvSpPr>
          <p:cNvPr id="24" name="Icoon FaCheck"/>
          <p:cNvSpPr/>
          <p:nvPr/>
        </p:nvSpPr>
        <p:spPr>
          <a:xfrm>
            <a:off x="6172200" y="3429000"/>
            <a:ext cx="365760" cy="365760"/>
          </a:xfrm>
          <a:prstGeom prst="ellipse">
            <a:avLst/>
          </a:prstGeom>
          <a:solidFill>
            <a:schemeClr val="accent2"/>
          </a:solidFill>
          <a:ln/>
        </p:spPr>
        <p:txBody>
          <a:bodyPr/>
          <a:lstStyle/>
          <a:p>
            <a:endParaRPr lang="nl-NL"/>
          </a:p>
        </p:txBody>
      </p:sp>
      <p:pic>
        <p:nvPicPr>
          <p:cNvPr id="25" name="Icoon FaCheck beeld" descr="preencoded.png"/>
          <p:cNvPicPr>
            <a:picLocks noChangeAspect="1"/>
          </p:cNvPicPr>
          <p:nvPr/>
        </p:nvPicPr>
        <p:blipFill>
          <a:blip r:embed="rId4"/>
          <a:stretch>
            <a:fillRect/>
          </a:stretch>
        </p:blipFill>
        <p:spPr>
          <a:xfrm>
            <a:off x="6263640" y="3520440"/>
            <a:ext cx="182880" cy="182880"/>
          </a:xfrm>
          <a:prstGeom prst="rect">
            <a:avLst/>
          </a:prstGeom>
        </p:spPr>
      </p:pic>
      <p:sp>
        <p:nvSpPr>
          <p:cNvPr id="26" name="Text 18"/>
          <p:cNvSpPr txBox="1"/>
          <p:nvPr/>
        </p:nvSpPr>
        <p:spPr>
          <a:xfrm>
            <a:off x="6675120" y="3401568"/>
            <a:ext cx="4937760" cy="420624"/>
          </a:xfrm>
          <a:prstGeom prst="rect">
            <a:avLst/>
          </a:prstGeom>
          <a:noFill/>
          <a:ln/>
        </p:spPr>
        <p:txBody>
          <a:bodyPr wrap="square" lIns="0" tIns="0" rIns="0" bIns="0" rtlCol="0" anchor="ctr"/>
          <a:lstStyle/>
          <a:p>
            <a:pPr marL="0" indent="0">
              <a:buNone/>
            </a:pPr>
            <a:r>
              <a:rPr lang="en-US" sz="1500" dirty="0">
                <a:solidFill>
                  <a:schemeClr val="tx1"/>
                </a:solidFill>
                <a:latin typeface="Calibri" pitchFamily="34" charset="0"/>
                <a:ea typeface="Calibri" pitchFamily="34" charset="-122"/>
                <a:cs typeface="Calibri" pitchFamily="34" charset="-120"/>
              </a:rPr>
              <a:t>Bij vastlopen vragen we elkaar of de begeleiders</a:t>
            </a:r>
            <a:endParaRPr lang="en-US" sz="1500" dirty="0"/>
          </a:p>
        </p:txBody>
      </p:sp>
      <p:sp>
        <p:nvSpPr>
          <p:cNvPr id="27" name="Text 19"/>
          <p:cNvSpPr txBox="1"/>
          <p:nvPr/>
        </p:nvSpPr>
        <p:spPr>
          <a:xfrm>
            <a:off x="6172200" y="4069080"/>
            <a:ext cx="5394960" cy="384048"/>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Wat beter kan</a:t>
            </a:r>
            <a:endParaRPr lang="en-US" sz="2000" dirty="0"/>
          </a:p>
        </p:txBody>
      </p:sp>
      <p:sp>
        <p:nvSpPr>
          <p:cNvPr id="28" name="Icoon FaArrowUp"/>
          <p:cNvSpPr/>
          <p:nvPr/>
        </p:nvSpPr>
        <p:spPr>
          <a:xfrm>
            <a:off x="6172200" y="4572000"/>
            <a:ext cx="365760" cy="365760"/>
          </a:xfrm>
          <a:prstGeom prst="ellipse">
            <a:avLst/>
          </a:prstGeom>
          <a:solidFill>
            <a:schemeClr val="accent3"/>
          </a:solidFill>
          <a:ln/>
        </p:spPr>
        <p:txBody>
          <a:bodyPr/>
          <a:lstStyle/>
          <a:p>
            <a:endParaRPr lang="nl-NL"/>
          </a:p>
        </p:txBody>
      </p:sp>
      <p:pic>
        <p:nvPicPr>
          <p:cNvPr id="29" name="Icoon FaArrowUp beeld" descr="preencoded.png"/>
          <p:cNvPicPr>
            <a:picLocks noChangeAspect="1"/>
          </p:cNvPicPr>
          <p:nvPr/>
        </p:nvPicPr>
        <p:blipFill>
          <a:blip r:embed="rId5"/>
          <a:stretch>
            <a:fillRect/>
          </a:stretch>
        </p:blipFill>
        <p:spPr>
          <a:xfrm>
            <a:off x="6263640" y="4663440"/>
            <a:ext cx="182880" cy="182880"/>
          </a:xfrm>
          <a:prstGeom prst="rect">
            <a:avLst/>
          </a:prstGeom>
        </p:spPr>
      </p:pic>
      <p:sp>
        <p:nvSpPr>
          <p:cNvPr id="30" name="Text 21"/>
          <p:cNvSpPr txBox="1"/>
          <p:nvPr/>
        </p:nvSpPr>
        <p:spPr>
          <a:xfrm>
            <a:off x="6675120" y="4544568"/>
            <a:ext cx="4937760" cy="420624"/>
          </a:xfrm>
          <a:prstGeom prst="rect">
            <a:avLst/>
          </a:prstGeom>
          <a:noFill/>
          <a:ln/>
        </p:spPr>
        <p:txBody>
          <a:bodyPr wrap="square" lIns="0" tIns="0" rIns="0" bIns="0" rtlCol="0" anchor="ctr"/>
          <a:lstStyle/>
          <a:p>
            <a:pPr marL="0" indent="0">
              <a:buNone/>
            </a:pPr>
            <a:r>
              <a:rPr lang="en-US" sz="1500" dirty="0">
                <a:solidFill>
                  <a:schemeClr val="tx1"/>
                </a:solidFill>
                <a:latin typeface="Calibri" pitchFamily="34" charset="0"/>
                <a:ea typeface="Calibri" pitchFamily="34" charset="-122"/>
                <a:cs typeface="Calibri" pitchFamily="34" charset="-120"/>
              </a:rPr>
              <a:t>Het werk nog verzorgder opleveren</a:t>
            </a:r>
            <a:endParaRPr lang="en-US" sz="1500" dirty="0"/>
          </a:p>
        </p:txBody>
      </p:sp>
      <p:sp>
        <p:nvSpPr>
          <p:cNvPr id="31" name="Icoon FaArrowUp"/>
          <p:cNvSpPr/>
          <p:nvPr/>
        </p:nvSpPr>
        <p:spPr>
          <a:xfrm>
            <a:off x="6172200" y="5074920"/>
            <a:ext cx="365760" cy="365760"/>
          </a:xfrm>
          <a:prstGeom prst="ellipse">
            <a:avLst/>
          </a:prstGeom>
          <a:solidFill>
            <a:schemeClr val="accent3"/>
          </a:solidFill>
          <a:ln/>
        </p:spPr>
        <p:txBody>
          <a:bodyPr/>
          <a:lstStyle/>
          <a:p>
            <a:endParaRPr lang="nl-NL"/>
          </a:p>
        </p:txBody>
      </p:sp>
      <p:pic>
        <p:nvPicPr>
          <p:cNvPr id="32" name="Icoon FaArrowUp beeld" descr="preencoded.png"/>
          <p:cNvPicPr>
            <a:picLocks noChangeAspect="1"/>
          </p:cNvPicPr>
          <p:nvPr/>
        </p:nvPicPr>
        <p:blipFill>
          <a:blip r:embed="rId5"/>
          <a:stretch>
            <a:fillRect/>
          </a:stretch>
        </p:blipFill>
        <p:spPr>
          <a:xfrm>
            <a:off x="6263640" y="5166360"/>
            <a:ext cx="182880" cy="182880"/>
          </a:xfrm>
          <a:prstGeom prst="rect">
            <a:avLst/>
          </a:prstGeom>
        </p:spPr>
      </p:pic>
      <p:sp>
        <p:nvSpPr>
          <p:cNvPr id="33" name="Text 23"/>
          <p:cNvSpPr txBox="1"/>
          <p:nvPr/>
        </p:nvSpPr>
        <p:spPr>
          <a:xfrm>
            <a:off x="6675120" y="5047488"/>
            <a:ext cx="4937760" cy="420624"/>
          </a:xfrm>
          <a:prstGeom prst="rect">
            <a:avLst/>
          </a:prstGeom>
          <a:noFill/>
          <a:ln/>
        </p:spPr>
        <p:txBody>
          <a:bodyPr wrap="square" lIns="0" tIns="0" rIns="0" bIns="0" rtlCol="0" anchor="ctr"/>
          <a:lstStyle/>
          <a:p>
            <a:pPr marL="0" indent="0">
              <a:buNone/>
            </a:pPr>
            <a:r>
              <a:rPr lang="en-US" sz="1500" dirty="0">
                <a:solidFill>
                  <a:schemeClr val="tx1"/>
                </a:solidFill>
                <a:latin typeface="Calibri" pitchFamily="34" charset="0"/>
                <a:ea typeface="Calibri" pitchFamily="34" charset="-122"/>
                <a:cs typeface="Calibri" pitchFamily="34" charset="-120"/>
              </a:rPr>
              <a:t>Feedback sneller toepassen</a:t>
            </a:r>
            <a:endParaRPr lang="en-US" sz="1500" dirty="0"/>
          </a:p>
        </p:txBody>
      </p:sp>
      <p:sp>
        <p:nvSpPr>
          <p:cNvPr id="34" name="Icoon FaArrowUp"/>
          <p:cNvSpPr/>
          <p:nvPr/>
        </p:nvSpPr>
        <p:spPr>
          <a:xfrm>
            <a:off x="6172200" y="5577840"/>
            <a:ext cx="365760" cy="365760"/>
          </a:xfrm>
          <a:prstGeom prst="ellipse">
            <a:avLst/>
          </a:prstGeom>
          <a:solidFill>
            <a:schemeClr val="accent3"/>
          </a:solidFill>
          <a:ln/>
        </p:spPr>
        <p:txBody>
          <a:bodyPr/>
          <a:lstStyle/>
          <a:p>
            <a:endParaRPr lang="nl-NL"/>
          </a:p>
        </p:txBody>
      </p:sp>
      <p:pic>
        <p:nvPicPr>
          <p:cNvPr id="35" name="Icoon FaArrowUp beeld" descr="preencoded.png"/>
          <p:cNvPicPr>
            <a:picLocks noChangeAspect="1"/>
          </p:cNvPicPr>
          <p:nvPr/>
        </p:nvPicPr>
        <p:blipFill>
          <a:blip r:embed="rId5"/>
          <a:stretch>
            <a:fillRect/>
          </a:stretch>
        </p:blipFill>
        <p:spPr>
          <a:xfrm>
            <a:off x="6263640" y="5669280"/>
            <a:ext cx="182880" cy="182880"/>
          </a:xfrm>
          <a:prstGeom prst="rect">
            <a:avLst/>
          </a:prstGeom>
        </p:spPr>
      </p:pic>
      <p:sp>
        <p:nvSpPr>
          <p:cNvPr id="36" name="Text 25"/>
          <p:cNvSpPr txBox="1"/>
          <p:nvPr/>
        </p:nvSpPr>
        <p:spPr>
          <a:xfrm>
            <a:off x="6675120" y="5550408"/>
            <a:ext cx="4937760" cy="420624"/>
          </a:xfrm>
          <a:prstGeom prst="rect">
            <a:avLst/>
          </a:prstGeom>
          <a:noFill/>
          <a:ln/>
        </p:spPr>
        <p:txBody>
          <a:bodyPr wrap="square" lIns="0" tIns="0" rIns="0" bIns="0" rtlCol="0" anchor="ctr"/>
          <a:lstStyle/>
          <a:p>
            <a:pPr marL="0" indent="0">
              <a:buNone/>
            </a:pPr>
            <a:r>
              <a:rPr lang="en-US" sz="1500" dirty="0">
                <a:solidFill>
                  <a:schemeClr val="tx1"/>
                </a:solidFill>
                <a:latin typeface="Calibri" pitchFamily="34" charset="0"/>
                <a:ea typeface="Calibri" pitchFamily="34" charset="-122"/>
                <a:cs typeface="Calibri" pitchFamily="34" charset="-120"/>
              </a:rPr>
              <a:t>Afspraken en werktijden strakker volgen</a:t>
            </a:r>
            <a:endParaRPr lang="en-US" sz="1500" dirty="0"/>
          </a:p>
        </p:txBody>
      </p:sp>
      <p:sp>
        <p:nvSpPr>
          <p:cNvPr id="37"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5D52"/>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latin typeface="Calibri" pitchFamily="34" charset="0"/>
                <a:ea typeface="Calibri" pitchFamily="34" charset="-122"/>
                <a:cs typeface="Calibri" pitchFamily="34" charset="-120"/>
              </a:rPr>
              <a:t>VRAGEN AAN HET MUSEUM</a:t>
            </a:r>
            <a:endParaRPr lang="en-US" sz="1100" dirty="0"/>
          </a:p>
        </p:txBody>
      </p:sp>
      <p:sp>
        <p:nvSpPr>
          <p:cNvPr id="3" name="Text 1"/>
          <p:cNvSpPr>
            <a:spLocks noGrp="1"/>
          </p:cNvSpPr>
          <p:nvPr>
            <p:ph type="title" idx="101" hasCustomPrompt="1"/>
          </p:nvPr>
        </p:nvSpPr>
        <p:spPr>
          <a:xfrm>
            <a:off x="548640" y="411480"/>
            <a:ext cx="11091672"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Wat we nog van jullie nodig hebben</a:t>
            </a:r>
            <a:endParaRPr lang="en-US" sz="3400" dirty="0"/>
          </a:p>
        </p:txBody>
      </p:sp>
      <p:sp>
        <p:nvSpPr>
          <p:cNvPr id="4" name="Kaart"/>
          <p:cNvSpPr/>
          <p:nvPr/>
        </p:nvSpPr>
        <p:spPr>
          <a:xfrm>
            <a:off x="548640" y="1417320"/>
            <a:ext cx="11091672" cy="123444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5" name="Nummer"/>
          <p:cNvSpPr/>
          <p:nvPr/>
        </p:nvSpPr>
        <p:spPr>
          <a:xfrm>
            <a:off x="822960" y="1709928"/>
            <a:ext cx="640080" cy="640080"/>
          </a:xfrm>
          <a:prstGeom prst="ellipse">
            <a:avLst/>
          </a:prstGeom>
          <a:solidFill>
            <a:schemeClr val="accent2"/>
          </a:solidFill>
          <a:ln/>
        </p:spPr>
        <p:txBody>
          <a:bodyPr/>
          <a:lstStyle/>
          <a:p>
            <a:endParaRPr lang="nl-NL"/>
          </a:p>
        </p:txBody>
      </p:sp>
      <p:sp>
        <p:nvSpPr>
          <p:cNvPr id="6" name="Text 4"/>
          <p:cNvSpPr txBox="1"/>
          <p:nvPr/>
        </p:nvSpPr>
        <p:spPr>
          <a:xfrm>
            <a:off x="822960" y="1709928"/>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1600200" y="1618488"/>
            <a:ext cx="9784080" cy="411480"/>
          </a:xfrm>
          <a:prstGeom prst="rect">
            <a:avLst/>
          </a:prstGeom>
          <a:noFill/>
          <a:ln/>
        </p:spPr>
        <p:txBody>
          <a:bodyPr wrap="square" lIns="0" tIns="0" rIns="0" bIns="0" rtlCol="0" anchor="ctr"/>
          <a:lstStyle/>
          <a:p>
            <a:pPr marL="0" indent="0">
              <a:buNone/>
            </a:pPr>
            <a:r>
              <a:rPr lang="en-US" sz="1900" b="1" dirty="0">
                <a:solidFill>
                  <a:schemeClr val="tx2"/>
                </a:solidFill>
                <a:latin typeface="Calibri" pitchFamily="34" charset="0"/>
                <a:ea typeface="Calibri" pitchFamily="34" charset="-122"/>
                <a:cs typeface="Calibri" pitchFamily="34" charset="-120"/>
              </a:rPr>
              <a:t>Zijn er foto's van de objecten zonder afbeelding?</a:t>
            </a:r>
            <a:endParaRPr lang="en-US" sz="1900" dirty="0"/>
          </a:p>
        </p:txBody>
      </p:sp>
      <p:sp>
        <p:nvSpPr>
          <p:cNvPr id="8" name="Text 6"/>
          <p:cNvSpPr txBox="1"/>
          <p:nvPr/>
        </p:nvSpPr>
        <p:spPr>
          <a:xfrm>
            <a:off x="1600200" y="2075688"/>
            <a:ext cx="9784080" cy="36576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En mogen wij alle foto's in de app gebruiken?</a:t>
            </a:r>
            <a:endParaRPr lang="en-US" sz="1500" dirty="0"/>
          </a:p>
        </p:txBody>
      </p:sp>
      <p:sp>
        <p:nvSpPr>
          <p:cNvPr id="9" name="Kaart"/>
          <p:cNvSpPr/>
          <p:nvPr/>
        </p:nvSpPr>
        <p:spPr>
          <a:xfrm>
            <a:off x="548640" y="2880360"/>
            <a:ext cx="11091672" cy="123444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10" name="Nummer"/>
          <p:cNvSpPr/>
          <p:nvPr/>
        </p:nvSpPr>
        <p:spPr>
          <a:xfrm>
            <a:off x="822960" y="3172968"/>
            <a:ext cx="640080" cy="640080"/>
          </a:xfrm>
          <a:prstGeom prst="ellipse">
            <a:avLst/>
          </a:prstGeom>
          <a:solidFill>
            <a:schemeClr val="accent2"/>
          </a:solidFill>
          <a:ln/>
        </p:spPr>
        <p:txBody>
          <a:bodyPr/>
          <a:lstStyle/>
          <a:p>
            <a:endParaRPr lang="nl-NL"/>
          </a:p>
        </p:txBody>
      </p:sp>
      <p:sp>
        <p:nvSpPr>
          <p:cNvPr id="11" name="Text 9"/>
          <p:cNvSpPr txBox="1"/>
          <p:nvPr/>
        </p:nvSpPr>
        <p:spPr>
          <a:xfrm>
            <a:off x="822960" y="3172968"/>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2</a:t>
            </a:r>
            <a:endParaRPr lang="en-US" sz="2200" dirty="0"/>
          </a:p>
        </p:txBody>
      </p:sp>
      <p:sp>
        <p:nvSpPr>
          <p:cNvPr id="12" name="Text 10"/>
          <p:cNvSpPr txBox="1"/>
          <p:nvPr/>
        </p:nvSpPr>
        <p:spPr>
          <a:xfrm>
            <a:off x="1600200" y="3081528"/>
            <a:ext cx="9784080" cy="411480"/>
          </a:xfrm>
          <a:prstGeom prst="rect">
            <a:avLst/>
          </a:prstGeom>
          <a:noFill/>
          <a:ln/>
        </p:spPr>
        <p:txBody>
          <a:bodyPr wrap="square" lIns="0" tIns="0" rIns="0" bIns="0" rtlCol="0" anchor="ctr"/>
          <a:lstStyle/>
          <a:p>
            <a:pPr marL="0" indent="0">
              <a:buNone/>
            </a:pPr>
            <a:r>
              <a:rPr lang="en-US" sz="1900" b="1" dirty="0">
                <a:solidFill>
                  <a:schemeClr val="tx2"/>
                </a:solidFill>
                <a:latin typeface="Calibri" pitchFamily="34" charset="0"/>
                <a:ea typeface="Calibri" pitchFamily="34" charset="-122"/>
                <a:cs typeface="Calibri" pitchFamily="34" charset="-120"/>
              </a:rPr>
              <a:t>Wanneer kunnen we in het museum testen?</a:t>
            </a:r>
            <a:endParaRPr lang="en-US" sz="1900" dirty="0"/>
          </a:p>
        </p:txBody>
      </p:sp>
      <p:sp>
        <p:nvSpPr>
          <p:cNvPr id="13" name="Text 11"/>
          <p:cNvSpPr txBox="1"/>
          <p:nvPr/>
        </p:nvSpPr>
        <p:spPr>
          <a:xfrm>
            <a:off x="1600200" y="3538728"/>
            <a:ext cx="9784080" cy="36576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We willen de app voor 4 december met bezoekers testen.</a:t>
            </a:r>
            <a:endParaRPr lang="en-US" sz="1500" dirty="0"/>
          </a:p>
        </p:txBody>
      </p:sp>
      <p:sp>
        <p:nvSpPr>
          <p:cNvPr id="14" name="Kaart"/>
          <p:cNvSpPr/>
          <p:nvPr/>
        </p:nvSpPr>
        <p:spPr>
          <a:xfrm>
            <a:off x="548640" y="4343400"/>
            <a:ext cx="11091672" cy="123444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15" name="Nummer"/>
          <p:cNvSpPr/>
          <p:nvPr/>
        </p:nvSpPr>
        <p:spPr>
          <a:xfrm>
            <a:off x="822960" y="4636008"/>
            <a:ext cx="640080" cy="640080"/>
          </a:xfrm>
          <a:prstGeom prst="ellipse">
            <a:avLst/>
          </a:prstGeom>
          <a:solidFill>
            <a:schemeClr val="accent2"/>
          </a:solidFill>
          <a:ln/>
        </p:spPr>
        <p:txBody>
          <a:bodyPr/>
          <a:lstStyle/>
          <a:p>
            <a:endParaRPr lang="nl-NL"/>
          </a:p>
        </p:txBody>
      </p:sp>
      <p:sp>
        <p:nvSpPr>
          <p:cNvPr id="16" name="Text 14"/>
          <p:cNvSpPr txBox="1"/>
          <p:nvPr/>
        </p:nvSpPr>
        <p:spPr>
          <a:xfrm>
            <a:off x="822960" y="4636008"/>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3</a:t>
            </a:r>
            <a:endParaRPr lang="en-US" sz="2200" dirty="0"/>
          </a:p>
        </p:txBody>
      </p:sp>
      <p:sp>
        <p:nvSpPr>
          <p:cNvPr id="17" name="Text 15"/>
          <p:cNvSpPr txBox="1"/>
          <p:nvPr/>
        </p:nvSpPr>
        <p:spPr>
          <a:xfrm>
            <a:off x="1600200" y="4544568"/>
            <a:ext cx="9784080" cy="411480"/>
          </a:xfrm>
          <a:prstGeom prst="rect">
            <a:avLst/>
          </a:prstGeom>
          <a:noFill/>
          <a:ln/>
        </p:spPr>
        <p:txBody>
          <a:bodyPr wrap="square" lIns="0" tIns="0" rIns="0" bIns="0" rtlCol="0" anchor="ctr"/>
          <a:lstStyle/>
          <a:p>
            <a:pPr marL="0" indent="0">
              <a:buNone/>
            </a:pPr>
            <a:r>
              <a:rPr lang="en-US" sz="1900" b="1" dirty="0">
                <a:solidFill>
                  <a:schemeClr val="tx2"/>
                </a:solidFill>
                <a:latin typeface="Calibri" pitchFamily="34" charset="0"/>
                <a:ea typeface="Calibri" pitchFamily="34" charset="-122"/>
                <a:cs typeface="Calibri" pitchFamily="34" charset="-120"/>
              </a:rPr>
              <a:t>Wat vinden jullie van de app tot nu toe?</a:t>
            </a:r>
            <a:endParaRPr lang="en-US" sz="1900" dirty="0"/>
          </a:p>
        </p:txBody>
      </p:sp>
      <p:sp>
        <p:nvSpPr>
          <p:cNvPr id="18" name="Text 16"/>
          <p:cNvSpPr txBox="1"/>
          <p:nvPr/>
        </p:nvSpPr>
        <p:spPr>
          <a:xfrm>
            <a:off x="1600200" y="5001768"/>
            <a:ext cx="9784080" cy="36576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Wat moet er nog anders voordat hij aan de wand hangt?</a:t>
            </a:r>
            <a:endParaRPr lang="en-US" sz="15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5D52"/>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640080"/>
            <a:ext cx="5486400" cy="274320"/>
          </a:xfrm>
          <a:prstGeom prst="rect">
            <a:avLst/>
          </a:prstGeom>
          <a:noFill/>
          <a:ln/>
        </p:spPr>
        <p:txBody>
          <a:bodyPr wrap="square" lIns="0" tIns="0" rIns="0" bIns="0" rtlCol="0" anchor="t"/>
          <a:lstStyle/>
          <a:p>
            <a:pPr marL="0" indent="0">
              <a:buNone/>
            </a:pPr>
            <a:r>
              <a:rPr lang="en-US" sz="1200" b="1" kern="0" spc="300" dirty="0">
                <a:solidFill>
                  <a:srgbClr val="C9A66B"/>
                </a:solidFill>
                <a:latin typeface="Calibri" pitchFamily="34" charset="0"/>
                <a:ea typeface="Calibri" pitchFamily="34" charset="-122"/>
                <a:cs typeface="Calibri" pitchFamily="34" charset="-120"/>
              </a:rPr>
              <a:t>VOLGENDE STAPPEN</a:t>
            </a:r>
            <a:endParaRPr lang="en-US" sz="1200" dirty="0"/>
          </a:p>
        </p:txBody>
      </p:sp>
      <p:sp>
        <p:nvSpPr>
          <p:cNvPr id="3" name="Text 1"/>
          <p:cNvSpPr txBox="1"/>
          <p:nvPr/>
        </p:nvSpPr>
        <p:spPr>
          <a:xfrm>
            <a:off x="640080" y="960120"/>
            <a:ext cx="6400800" cy="822960"/>
          </a:xfrm>
          <a:prstGeom prst="rect">
            <a:avLst/>
          </a:prstGeom>
          <a:noFill/>
          <a:ln/>
        </p:spPr>
        <p:txBody>
          <a:bodyPr wrap="square" lIns="0" tIns="0" rIns="0" bIns="0" rtlCol="0" anchor="t"/>
          <a:lstStyle/>
          <a:p>
            <a:pPr marL="0" indent="0">
              <a:buNone/>
            </a:pPr>
            <a:r>
              <a:rPr lang="en-US" sz="4000" b="1" dirty="0">
                <a:solidFill>
                  <a:schemeClr val="bg1"/>
                </a:solidFill>
                <a:latin typeface="Cambria" pitchFamily="34" charset="0"/>
                <a:ea typeface="Cambria" pitchFamily="34" charset="-122"/>
                <a:cs typeface="Cambria" pitchFamily="34" charset="-120"/>
              </a:rPr>
              <a:t>Klaar voor de wand</a:t>
            </a:r>
            <a:endParaRPr lang="en-US" sz="4000" dirty="0"/>
          </a:p>
        </p:txBody>
      </p:sp>
      <p:sp>
        <p:nvSpPr>
          <p:cNvPr id="4" name="Text 2"/>
          <p:cNvSpPr txBox="1"/>
          <p:nvPr/>
        </p:nvSpPr>
        <p:spPr>
          <a:xfrm>
            <a:off x="640080" y="6172200"/>
            <a:ext cx="5486400" cy="365760"/>
          </a:xfrm>
          <a:prstGeom prst="rect">
            <a:avLst/>
          </a:prstGeom>
          <a:noFill/>
          <a:ln/>
        </p:spPr>
        <p:txBody>
          <a:bodyPr wrap="square" lIns="0" tIns="0" rIns="0" bIns="0" rtlCol="0" anchor="t"/>
          <a:lstStyle/>
          <a:p>
            <a:pPr marL="0" indent="0">
              <a:buNone/>
            </a:pPr>
            <a:r>
              <a:rPr lang="en-US" sz="1600" b="1" dirty="0">
                <a:solidFill>
                  <a:srgbClr val="C9A66B"/>
                </a:solidFill>
                <a:latin typeface="Calibri" pitchFamily="34" charset="0"/>
                <a:ea typeface="Calibri" pitchFamily="34" charset="-122"/>
                <a:cs typeface="Calibri" pitchFamily="34" charset="-120"/>
              </a:rPr>
              <a:t>Oplevering: 4 december</a:t>
            </a:r>
            <a:endParaRPr lang="en-US" sz="1600" dirty="0"/>
          </a:p>
        </p:txBody>
      </p:sp>
      <p:sp>
        <p:nvSpPr>
          <p:cNvPr id="5" name="Icoon FaPen"/>
          <p:cNvSpPr/>
          <p:nvPr/>
        </p:nvSpPr>
        <p:spPr>
          <a:xfrm>
            <a:off x="640080" y="1874520"/>
            <a:ext cx="685800" cy="685800"/>
          </a:xfrm>
          <a:prstGeom prst="ellipse">
            <a:avLst/>
          </a:prstGeom>
          <a:solidFill>
            <a:schemeClr val="accent2"/>
          </a:solidFill>
          <a:ln/>
        </p:spPr>
        <p:txBody>
          <a:bodyPr/>
          <a:lstStyle/>
          <a:p>
            <a:endParaRPr lang="nl-NL"/>
          </a:p>
        </p:txBody>
      </p:sp>
      <p:pic>
        <p:nvPicPr>
          <p:cNvPr id="6" name="Icoon FaPen beeld" descr="preencoded.png"/>
          <p:cNvPicPr>
            <a:picLocks noChangeAspect="1"/>
          </p:cNvPicPr>
          <p:nvPr/>
        </p:nvPicPr>
        <p:blipFill>
          <a:blip r:embed="rId3"/>
          <a:stretch>
            <a:fillRect/>
          </a:stretch>
        </p:blipFill>
        <p:spPr>
          <a:xfrm>
            <a:off x="811530" y="2045970"/>
            <a:ext cx="342900" cy="342900"/>
          </a:xfrm>
          <a:prstGeom prst="rect">
            <a:avLst/>
          </a:prstGeom>
        </p:spPr>
      </p:pic>
      <p:sp>
        <p:nvSpPr>
          <p:cNvPr id="7" name="Text 4"/>
          <p:cNvSpPr txBox="1"/>
          <p:nvPr/>
        </p:nvSpPr>
        <p:spPr>
          <a:xfrm>
            <a:off x="1554480" y="1874520"/>
            <a:ext cx="5029200" cy="365760"/>
          </a:xfrm>
          <a:prstGeom prst="rect">
            <a:avLst/>
          </a:prstGeom>
          <a:noFill/>
          <a:ln/>
        </p:spPr>
        <p:txBody>
          <a:bodyPr wrap="square" lIns="0" tIns="0" rIns="0" bIns="0" rtlCol="0" anchor="t"/>
          <a:lstStyle/>
          <a:p>
            <a:pPr marL="0" indent="0">
              <a:buNone/>
            </a:pPr>
            <a:r>
              <a:rPr lang="en-US" sz="1800" b="1" dirty="0">
                <a:solidFill>
                  <a:schemeClr val="bg1"/>
                </a:solidFill>
                <a:latin typeface="Calibri" pitchFamily="34" charset="0"/>
                <a:ea typeface="Calibri" pitchFamily="34" charset="-122"/>
                <a:cs typeface="Calibri" pitchFamily="34" charset="-120"/>
              </a:rPr>
              <a:t>Laatste tekst aanvullen</a:t>
            </a:r>
            <a:endParaRPr lang="en-US" sz="1800" dirty="0"/>
          </a:p>
        </p:txBody>
      </p:sp>
      <p:sp>
        <p:nvSpPr>
          <p:cNvPr id="8" name="Text 5"/>
          <p:cNvSpPr txBox="1"/>
          <p:nvPr/>
        </p:nvSpPr>
        <p:spPr>
          <a:xfrm>
            <a:off x="1554480" y="2240280"/>
            <a:ext cx="5029200" cy="320040"/>
          </a:xfrm>
          <a:prstGeom prst="rect">
            <a:avLst/>
          </a:prstGeom>
          <a:noFill/>
          <a:ln/>
        </p:spPr>
        <p:txBody>
          <a:bodyPr wrap="square" lIns="0" tIns="0" rIns="0" bIns="0" rtlCol="0" anchor="t"/>
          <a:lstStyle/>
          <a:p>
            <a:pPr marL="0" indent="0">
              <a:buNone/>
            </a:pPr>
            <a:r>
              <a:rPr lang="en-US" sz="1400" dirty="0">
                <a:solidFill>
                  <a:schemeClr val="bg2"/>
                </a:solidFill>
                <a:latin typeface="Calibri" pitchFamily="34" charset="0"/>
                <a:ea typeface="Calibri" pitchFamily="34" charset="-122"/>
                <a:cs typeface="Calibri" pitchFamily="34" charset="-120"/>
              </a:rPr>
              <a:t>Alleen Treintje oorlogswand heeft nog tijdelijke tekst</a:t>
            </a:r>
            <a:endParaRPr lang="en-US" sz="1400" dirty="0"/>
          </a:p>
        </p:txBody>
      </p:sp>
      <p:sp>
        <p:nvSpPr>
          <p:cNvPr id="9" name="Icoon FaCamera"/>
          <p:cNvSpPr/>
          <p:nvPr/>
        </p:nvSpPr>
        <p:spPr>
          <a:xfrm>
            <a:off x="640080" y="2715768"/>
            <a:ext cx="685800" cy="685800"/>
          </a:xfrm>
          <a:prstGeom prst="ellipse">
            <a:avLst/>
          </a:prstGeom>
          <a:solidFill>
            <a:schemeClr val="accent2"/>
          </a:solidFill>
          <a:ln/>
        </p:spPr>
        <p:txBody>
          <a:bodyPr/>
          <a:lstStyle/>
          <a:p>
            <a:endParaRPr lang="nl-NL"/>
          </a:p>
        </p:txBody>
      </p:sp>
      <p:pic>
        <p:nvPicPr>
          <p:cNvPr id="10" name="Icoon FaCamera beeld" descr="preencoded.png"/>
          <p:cNvPicPr>
            <a:picLocks noChangeAspect="1"/>
          </p:cNvPicPr>
          <p:nvPr/>
        </p:nvPicPr>
        <p:blipFill>
          <a:blip r:embed="rId4"/>
          <a:stretch>
            <a:fillRect/>
          </a:stretch>
        </p:blipFill>
        <p:spPr>
          <a:xfrm>
            <a:off x="811530" y="2887218"/>
            <a:ext cx="342900" cy="342900"/>
          </a:xfrm>
          <a:prstGeom prst="rect">
            <a:avLst/>
          </a:prstGeom>
        </p:spPr>
      </p:pic>
      <p:sp>
        <p:nvSpPr>
          <p:cNvPr id="11" name="Text 7"/>
          <p:cNvSpPr txBox="1"/>
          <p:nvPr/>
        </p:nvSpPr>
        <p:spPr>
          <a:xfrm>
            <a:off x="1554480" y="2715768"/>
            <a:ext cx="5029200" cy="365760"/>
          </a:xfrm>
          <a:prstGeom prst="rect">
            <a:avLst/>
          </a:prstGeom>
          <a:noFill/>
          <a:ln/>
        </p:spPr>
        <p:txBody>
          <a:bodyPr wrap="square" lIns="0" tIns="0" rIns="0" bIns="0" rtlCol="0" anchor="t"/>
          <a:lstStyle/>
          <a:p>
            <a:pPr marL="0" indent="0">
              <a:buNone/>
            </a:pPr>
            <a:r>
              <a:rPr lang="en-US" sz="1800" b="1" dirty="0">
                <a:solidFill>
                  <a:schemeClr val="bg1"/>
                </a:solidFill>
                <a:latin typeface="Calibri" pitchFamily="34" charset="0"/>
                <a:ea typeface="Calibri" pitchFamily="34" charset="-122"/>
                <a:cs typeface="Calibri" pitchFamily="34" charset="-120"/>
              </a:rPr>
              <a:t>Foto's toevoegen</a:t>
            </a:r>
            <a:endParaRPr lang="en-US" sz="1800" dirty="0"/>
          </a:p>
        </p:txBody>
      </p:sp>
      <p:sp>
        <p:nvSpPr>
          <p:cNvPr id="12" name="Text 8"/>
          <p:cNvSpPr txBox="1"/>
          <p:nvPr/>
        </p:nvSpPr>
        <p:spPr>
          <a:xfrm>
            <a:off x="1554480" y="3081528"/>
            <a:ext cx="5029200" cy="320040"/>
          </a:xfrm>
          <a:prstGeom prst="rect">
            <a:avLst/>
          </a:prstGeom>
          <a:noFill/>
          <a:ln/>
        </p:spPr>
        <p:txBody>
          <a:bodyPr wrap="square" lIns="0" tIns="0" rIns="0" bIns="0" rtlCol="0" anchor="t"/>
          <a:lstStyle/>
          <a:p>
            <a:pPr marL="0" indent="0">
              <a:buNone/>
            </a:pPr>
            <a:r>
              <a:rPr lang="en-US" sz="1400" dirty="0">
                <a:solidFill>
                  <a:schemeClr val="bg2"/>
                </a:solidFill>
                <a:latin typeface="Calibri" pitchFamily="34" charset="0"/>
                <a:ea typeface="Calibri" pitchFamily="34" charset="-122"/>
                <a:cs typeface="Calibri" pitchFamily="34" charset="-120"/>
              </a:rPr>
              <a:t>12 objecten hebben nog geen hoofdfoto</a:t>
            </a:r>
            <a:endParaRPr lang="en-US" sz="1400" dirty="0"/>
          </a:p>
        </p:txBody>
      </p:sp>
      <p:sp>
        <p:nvSpPr>
          <p:cNvPr id="13" name="Icoon FaAndroid"/>
          <p:cNvSpPr/>
          <p:nvPr/>
        </p:nvSpPr>
        <p:spPr>
          <a:xfrm>
            <a:off x="640080" y="3557016"/>
            <a:ext cx="685800" cy="685800"/>
          </a:xfrm>
          <a:prstGeom prst="ellipse">
            <a:avLst/>
          </a:prstGeom>
          <a:solidFill>
            <a:schemeClr val="accent2"/>
          </a:solidFill>
          <a:ln/>
        </p:spPr>
        <p:txBody>
          <a:bodyPr/>
          <a:lstStyle/>
          <a:p>
            <a:endParaRPr lang="nl-NL"/>
          </a:p>
        </p:txBody>
      </p:sp>
      <p:pic>
        <p:nvPicPr>
          <p:cNvPr id="14" name="Icoon FaAndroid beeld" descr="preencoded.png"/>
          <p:cNvPicPr>
            <a:picLocks noChangeAspect="1"/>
          </p:cNvPicPr>
          <p:nvPr/>
        </p:nvPicPr>
        <p:blipFill>
          <a:blip r:embed="rId5"/>
          <a:stretch>
            <a:fillRect/>
          </a:stretch>
        </p:blipFill>
        <p:spPr>
          <a:xfrm>
            <a:off x="811530" y="3728466"/>
            <a:ext cx="342900" cy="342900"/>
          </a:xfrm>
          <a:prstGeom prst="rect">
            <a:avLst/>
          </a:prstGeom>
        </p:spPr>
      </p:pic>
      <p:sp>
        <p:nvSpPr>
          <p:cNvPr id="15" name="Text 10"/>
          <p:cNvSpPr txBox="1"/>
          <p:nvPr/>
        </p:nvSpPr>
        <p:spPr>
          <a:xfrm>
            <a:off x="1554480" y="3557016"/>
            <a:ext cx="5029200" cy="365760"/>
          </a:xfrm>
          <a:prstGeom prst="rect">
            <a:avLst/>
          </a:prstGeom>
          <a:noFill/>
          <a:ln/>
        </p:spPr>
        <p:txBody>
          <a:bodyPr wrap="square" lIns="0" tIns="0" rIns="0" bIns="0" rtlCol="0" anchor="t"/>
          <a:lstStyle/>
          <a:p>
            <a:pPr marL="0" indent="0">
              <a:buNone/>
            </a:pPr>
            <a:r>
              <a:rPr lang="en-US" sz="1800" b="1" dirty="0">
                <a:solidFill>
                  <a:schemeClr val="bg1"/>
                </a:solidFill>
                <a:latin typeface="Calibri" pitchFamily="34" charset="0"/>
                <a:ea typeface="Calibri" pitchFamily="34" charset="-122"/>
                <a:cs typeface="Calibri" pitchFamily="34" charset="-120"/>
              </a:rPr>
              <a:t>Testen op Android</a:t>
            </a:r>
            <a:endParaRPr lang="en-US" sz="1800" dirty="0"/>
          </a:p>
        </p:txBody>
      </p:sp>
      <p:sp>
        <p:nvSpPr>
          <p:cNvPr id="16" name="Text 11"/>
          <p:cNvSpPr txBox="1"/>
          <p:nvPr/>
        </p:nvSpPr>
        <p:spPr>
          <a:xfrm>
            <a:off x="1554480" y="3922776"/>
            <a:ext cx="5029200" cy="320040"/>
          </a:xfrm>
          <a:prstGeom prst="rect">
            <a:avLst/>
          </a:prstGeom>
          <a:noFill/>
          <a:ln/>
        </p:spPr>
        <p:txBody>
          <a:bodyPr wrap="square" lIns="0" tIns="0" rIns="0" bIns="0" rtlCol="0" anchor="t"/>
          <a:lstStyle/>
          <a:p>
            <a:pPr marL="0" indent="0">
              <a:buNone/>
            </a:pPr>
            <a:r>
              <a:rPr lang="en-US" sz="1400" dirty="0">
                <a:solidFill>
                  <a:schemeClr val="bg2"/>
                </a:solidFill>
                <a:latin typeface="Calibri" pitchFamily="34" charset="0"/>
                <a:ea typeface="Calibri" pitchFamily="34" charset="-122"/>
                <a:cs typeface="Calibri" pitchFamily="34" charset="-120"/>
              </a:rPr>
              <a:t>De app op een echte Android-tablet draaien</a:t>
            </a:r>
            <a:endParaRPr lang="en-US" sz="1400" dirty="0"/>
          </a:p>
        </p:txBody>
      </p:sp>
      <p:sp>
        <p:nvSpPr>
          <p:cNvPr id="17" name="Icoon FaClipboardCheck"/>
          <p:cNvSpPr/>
          <p:nvPr/>
        </p:nvSpPr>
        <p:spPr>
          <a:xfrm>
            <a:off x="640080" y="4398264"/>
            <a:ext cx="685800" cy="685800"/>
          </a:xfrm>
          <a:prstGeom prst="ellipse">
            <a:avLst/>
          </a:prstGeom>
          <a:solidFill>
            <a:schemeClr val="accent2"/>
          </a:solidFill>
          <a:ln/>
        </p:spPr>
        <p:txBody>
          <a:bodyPr/>
          <a:lstStyle/>
          <a:p>
            <a:endParaRPr lang="nl-NL"/>
          </a:p>
        </p:txBody>
      </p:sp>
      <p:pic>
        <p:nvPicPr>
          <p:cNvPr id="18" name="Icoon FaClipboardCheck beeld" descr="preencoded.png"/>
          <p:cNvPicPr>
            <a:picLocks noChangeAspect="1"/>
          </p:cNvPicPr>
          <p:nvPr/>
        </p:nvPicPr>
        <p:blipFill>
          <a:blip r:embed="rId6"/>
          <a:stretch>
            <a:fillRect/>
          </a:stretch>
        </p:blipFill>
        <p:spPr>
          <a:xfrm>
            <a:off x="811530" y="4569714"/>
            <a:ext cx="342900" cy="342900"/>
          </a:xfrm>
          <a:prstGeom prst="rect">
            <a:avLst/>
          </a:prstGeom>
        </p:spPr>
      </p:pic>
      <p:sp>
        <p:nvSpPr>
          <p:cNvPr id="19" name="Text 13"/>
          <p:cNvSpPr txBox="1"/>
          <p:nvPr/>
        </p:nvSpPr>
        <p:spPr>
          <a:xfrm>
            <a:off x="1554480" y="4398264"/>
            <a:ext cx="5029200" cy="365760"/>
          </a:xfrm>
          <a:prstGeom prst="rect">
            <a:avLst/>
          </a:prstGeom>
          <a:noFill/>
          <a:ln/>
        </p:spPr>
        <p:txBody>
          <a:bodyPr wrap="square" lIns="0" tIns="0" rIns="0" bIns="0" rtlCol="0" anchor="t"/>
          <a:lstStyle/>
          <a:p>
            <a:pPr marL="0" indent="0">
              <a:buNone/>
            </a:pPr>
            <a:r>
              <a:rPr lang="en-US" sz="1800" b="1" dirty="0">
                <a:solidFill>
                  <a:schemeClr val="bg1"/>
                </a:solidFill>
                <a:latin typeface="Calibri" pitchFamily="34" charset="0"/>
                <a:ea typeface="Calibri" pitchFamily="34" charset="-122"/>
                <a:cs typeface="Calibri" pitchFamily="34" charset="-120"/>
              </a:rPr>
              <a:t>Testen met bezoekers</a:t>
            </a:r>
            <a:endParaRPr lang="en-US" sz="1800" dirty="0"/>
          </a:p>
        </p:txBody>
      </p:sp>
      <p:sp>
        <p:nvSpPr>
          <p:cNvPr id="20" name="Text 14"/>
          <p:cNvSpPr txBox="1"/>
          <p:nvPr/>
        </p:nvSpPr>
        <p:spPr>
          <a:xfrm>
            <a:off x="1554480" y="4764024"/>
            <a:ext cx="5029200" cy="320040"/>
          </a:xfrm>
          <a:prstGeom prst="rect">
            <a:avLst/>
          </a:prstGeom>
          <a:noFill/>
          <a:ln/>
        </p:spPr>
        <p:txBody>
          <a:bodyPr wrap="square" lIns="0" tIns="0" rIns="0" bIns="0" rtlCol="0" anchor="t"/>
          <a:lstStyle/>
          <a:p>
            <a:pPr marL="0" indent="0">
              <a:buNone/>
            </a:pPr>
            <a:r>
              <a:rPr lang="en-US" sz="1400" dirty="0">
                <a:solidFill>
                  <a:schemeClr val="bg2"/>
                </a:solidFill>
                <a:latin typeface="Calibri" pitchFamily="34" charset="0"/>
                <a:ea typeface="Calibri" pitchFamily="34" charset="-122"/>
                <a:cs typeface="Calibri" pitchFamily="34" charset="-120"/>
              </a:rPr>
              <a:t>Testrapport invullen en verbeteren</a:t>
            </a:r>
            <a:endParaRPr lang="en-US" sz="1400" dirty="0"/>
          </a:p>
        </p:txBody>
      </p:sp>
      <p:sp>
        <p:nvSpPr>
          <p:cNvPr id="21" name="Icoon FaLock"/>
          <p:cNvSpPr/>
          <p:nvPr/>
        </p:nvSpPr>
        <p:spPr>
          <a:xfrm>
            <a:off x="640080" y="5239512"/>
            <a:ext cx="685800" cy="685800"/>
          </a:xfrm>
          <a:prstGeom prst="ellipse">
            <a:avLst/>
          </a:prstGeom>
          <a:solidFill>
            <a:schemeClr val="accent2"/>
          </a:solidFill>
          <a:ln/>
        </p:spPr>
        <p:txBody>
          <a:bodyPr/>
          <a:lstStyle/>
          <a:p>
            <a:endParaRPr lang="nl-NL"/>
          </a:p>
        </p:txBody>
      </p:sp>
      <p:pic>
        <p:nvPicPr>
          <p:cNvPr id="22" name="Icoon FaLock beeld" descr="preencoded.png"/>
          <p:cNvPicPr>
            <a:picLocks noChangeAspect="1"/>
          </p:cNvPicPr>
          <p:nvPr/>
        </p:nvPicPr>
        <p:blipFill>
          <a:blip r:embed="rId7"/>
          <a:stretch>
            <a:fillRect/>
          </a:stretch>
        </p:blipFill>
        <p:spPr>
          <a:xfrm>
            <a:off x="811530" y="5410962"/>
            <a:ext cx="342900" cy="342900"/>
          </a:xfrm>
          <a:prstGeom prst="rect">
            <a:avLst/>
          </a:prstGeom>
        </p:spPr>
      </p:pic>
      <p:sp>
        <p:nvSpPr>
          <p:cNvPr id="23" name="Text 16"/>
          <p:cNvSpPr txBox="1"/>
          <p:nvPr/>
        </p:nvSpPr>
        <p:spPr>
          <a:xfrm>
            <a:off x="1554480" y="5239512"/>
            <a:ext cx="5029200" cy="365760"/>
          </a:xfrm>
          <a:prstGeom prst="rect">
            <a:avLst/>
          </a:prstGeom>
          <a:noFill/>
          <a:ln/>
        </p:spPr>
        <p:txBody>
          <a:bodyPr wrap="square" lIns="0" tIns="0" rIns="0" bIns="0" rtlCol="0" anchor="t"/>
          <a:lstStyle/>
          <a:p>
            <a:pPr marL="0" indent="0">
              <a:buNone/>
            </a:pPr>
            <a:r>
              <a:rPr lang="en-US" sz="1800" b="1" dirty="0">
                <a:solidFill>
                  <a:schemeClr val="bg1"/>
                </a:solidFill>
                <a:latin typeface="Calibri" pitchFamily="34" charset="0"/>
                <a:ea typeface="Calibri" pitchFamily="34" charset="-122"/>
                <a:cs typeface="Calibri" pitchFamily="34" charset="-120"/>
              </a:rPr>
              <a:t>Inlog beter beveiligen</a:t>
            </a:r>
            <a:endParaRPr lang="en-US" sz="1800" dirty="0"/>
          </a:p>
        </p:txBody>
      </p:sp>
      <p:sp>
        <p:nvSpPr>
          <p:cNvPr id="24" name="Text 17"/>
          <p:cNvSpPr txBox="1"/>
          <p:nvPr/>
        </p:nvSpPr>
        <p:spPr>
          <a:xfrm>
            <a:off x="1554480" y="5605272"/>
            <a:ext cx="5029200" cy="320040"/>
          </a:xfrm>
          <a:prstGeom prst="rect">
            <a:avLst/>
          </a:prstGeom>
          <a:noFill/>
          <a:ln/>
        </p:spPr>
        <p:txBody>
          <a:bodyPr wrap="square" lIns="0" tIns="0" rIns="0" bIns="0" rtlCol="0" anchor="t"/>
          <a:lstStyle/>
          <a:p>
            <a:pPr marL="0" indent="0">
              <a:buNone/>
            </a:pPr>
            <a:r>
              <a:rPr lang="en-US" sz="1400" dirty="0">
                <a:solidFill>
                  <a:schemeClr val="bg2"/>
                </a:solidFill>
                <a:latin typeface="Calibri" pitchFamily="34" charset="0"/>
                <a:ea typeface="Calibri" pitchFamily="34" charset="-122"/>
                <a:cs typeface="Calibri" pitchFamily="34" charset="-120"/>
              </a:rPr>
              <a:t>Wachtwoord versleuteld opslaan</a:t>
            </a:r>
            <a:endParaRPr lang="en-US" sz="1400" dirty="0"/>
          </a:p>
        </p:txBody>
      </p:sp>
      <p:sp>
        <p:nvSpPr>
          <p:cNvPr id="25" name="Bedankt kaart"/>
          <p:cNvSpPr/>
          <p:nvPr/>
        </p:nvSpPr>
        <p:spPr>
          <a:xfrm>
            <a:off x="7589520" y="914400"/>
            <a:ext cx="3959352" cy="5029200"/>
          </a:xfrm>
          <a:prstGeom prst="rect">
            <a:avLst/>
          </a:prstGeom>
          <a:solidFill>
            <a:schemeClr val="bg1"/>
          </a:solidFill>
          <a:ln/>
        </p:spPr>
        <p:txBody>
          <a:bodyPr/>
          <a:lstStyle/>
          <a:p>
            <a:endParaRPr lang="nl-NL"/>
          </a:p>
        </p:txBody>
      </p:sp>
      <p:pic>
        <p:nvPicPr>
          <p:cNvPr id="26" name="Logo" descr="Logo Stadsmuseum Veenendaal"/>
          <p:cNvPicPr>
            <a:picLocks noChangeAspect="1"/>
          </p:cNvPicPr>
          <p:nvPr/>
        </p:nvPicPr>
        <p:blipFill>
          <a:blip r:embed="rId8"/>
          <a:stretch>
            <a:fillRect/>
          </a:stretch>
        </p:blipFill>
        <p:spPr>
          <a:xfrm>
            <a:off x="7918704" y="1371600"/>
            <a:ext cx="3291840" cy="905256"/>
          </a:xfrm>
          <a:prstGeom prst="rect">
            <a:avLst/>
          </a:prstGeom>
        </p:spPr>
      </p:pic>
      <p:sp>
        <p:nvSpPr>
          <p:cNvPr id="27" name="Text 19"/>
          <p:cNvSpPr txBox="1"/>
          <p:nvPr/>
        </p:nvSpPr>
        <p:spPr>
          <a:xfrm>
            <a:off x="7918704" y="2834640"/>
            <a:ext cx="3291840" cy="82296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Bedankt!</a:t>
            </a:r>
            <a:endParaRPr lang="en-US" sz="4000" dirty="0"/>
          </a:p>
        </p:txBody>
      </p:sp>
      <p:sp>
        <p:nvSpPr>
          <p:cNvPr id="28" name="Text 20"/>
          <p:cNvSpPr txBox="1"/>
          <p:nvPr/>
        </p:nvSpPr>
        <p:spPr>
          <a:xfrm>
            <a:off x="7918704" y="3657600"/>
            <a:ext cx="3291840" cy="548640"/>
          </a:xfrm>
          <a:prstGeom prst="rect">
            <a:avLst/>
          </a:prstGeom>
          <a:noFill/>
          <a:ln/>
        </p:spPr>
        <p:txBody>
          <a:bodyPr wrap="square" lIns="0" tIns="0" rIns="0" bIns="0" rtlCol="0" anchor="t"/>
          <a:lstStyle/>
          <a:p>
            <a:pPr marL="0" indent="0">
              <a:buNone/>
            </a:pPr>
            <a:r>
              <a:rPr lang="en-US" sz="2600" dirty="0">
                <a:solidFill>
                  <a:schemeClr val="tx2"/>
                </a:solidFill>
                <a:latin typeface="Cambria" pitchFamily="34" charset="0"/>
                <a:ea typeface="Cambria" pitchFamily="34" charset="-122"/>
                <a:cs typeface="Cambria" pitchFamily="34" charset="-120"/>
              </a:rPr>
              <a:t>Vragen?</a:t>
            </a:r>
            <a:endParaRPr lang="en-US" sz="2600" dirty="0"/>
          </a:p>
        </p:txBody>
      </p:sp>
      <p:sp>
        <p:nvSpPr>
          <p:cNvPr id="29" name="Text 21"/>
          <p:cNvSpPr txBox="1"/>
          <p:nvPr/>
        </p:nvSpPr>
        <p:spPr>
          <a:xfrm>
            <a:off x="7918704" y="4754880"/>
            <a:ext cx="3291840" cy="731520"/>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Efe Kahveci &amp; Ufuk Durmus</a:t>
            </a:r>
            <a:endParaRPr lang="en-US" sz="1400" dirty="0"/>
          </a:p>
          <a:p>
            <a:pPr marL="0" indent="0">
              <a:buNone/>
            </a:pPr>
            <a:r>
              <a:rPr lang="en-US" sz="1400" dirty="0">
                <a:solidFill>
                  <a:schemeClr val="accent4"/>
                </a:solidFill>
                <a:latin typeface="Calibri" pitchFamily="34" charset="0"/>
                <a:ea typeface="Calibri" pitchFamily="34" charset="-122"/>
                <a:cs typeface="Calibri" pitchFamily="34" charset="-120"/>
              </a:rPr>
              <a:t>DigiLab · TID24D4A</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2377440"/>
            <a:ext cx="5486400" cy="274320"/>
          </a:xfrm>
          <a:prstGeom prst="rect">
            <a:avLst/>
          </a:prstGeom>
          <a:noFill/>
          <a:ln/>
        </p:spPr>
        <p:txBody>
          <a:bodyPr wrap="square" lIns="0" tIns="0" rIns="0" bIns="0" rtlCol="0" anchor="t"/>
          <a:lstStyle/>
          <a:p>
            <a:pPr marL="0" indent="0">
              <a:buNone/>
            </a:pPr>
            <a:r>
              <a:rPr lang="en-US" sz="1200" b="1" kern="0" spc="300" dirty="0">
                <a:solidFill>
                  <a:srgbClr val="C9A66B"/>
                </a:solidFill>
                <a:latin typeface="Calibri" pitchFamily="34" charset="0"/>
                <a:ea typeface="Calibri" pitchFamily="34" charset="-122"/>
                <a:cs typeface="Calibri" pitchFamily="34" charset="-120"/>
              </a:rPr>
              <a:t>RESERVE</a:t>
            </a:r>
            <a:endParaRPr lang="en-US" sz="1200" dirty="0"/>
          </a:p>
        </p:txBody>
      </p:sp>
      <p:sp>
        <p:nvSpPr>
          <p:cNvPr id="3" name="Text 1"/>
          <p:cNvSpPr txBox="1"/>
          <p:nvPr/>
        </p:nvSpPr>
        <p:spPr>
          <a:xfrm>
            <a:off x="640080" y="2697480"/>
            <a:ext cx="7315200" cy="822960"/>
          </a:xfrm>
          <a:prstGeom prst="rect">
            <a:avLst/>
          </a:prstGeom>
          <a:noFill/>
          <a:ln/>
        </p:spPr>
        <p:txBody>
          <a:bodyPr wrap="square" lIns="0" tIns="0" rIns="0" bIns="0" rtlCol="0" anchor="t"/>
          <a:lstStyle/>
          <a:p>
            <a:pPr marL="0" indent="0">
              <a:buNone/>
            </a:pPr>
            <a:r>
              <a:rPr lang="en-US" sz="4000" b="1" dirty="0">
                <a:solidFill>
                  <a:schemeClr val="bg1"/>
                </a:solidFill>
                <a:latin typeface="Cambria" pitchFamily="34" charset="0"/>
                <a:ea typeface="Cambria" pitchFamily="34" charset="-122"/>
                <a:cs typeface="Cambria" pitchFamily="34" charset="-120"/>
              </a:rPr>
              <a:t>Extra slides</a:t>
            </a:r>
            <a:endParaRPr lang="en-US" sz="4000" dirty="0"/>
          </a:p>
        </p:txBody>
      </p:sp>
      <p:sp>
        <p:nvSpPr>
          <p:cNvPr id="4" name="Text 2"/>
          <p:cNvSpPr txBox="1"/>
          <p:nvPr/>
        </p:nvSpPr>
        <p:spPr>
          <a:xfrm>
            <a:off x="640080" y="3611880"/>
            <a:ext cx="6858000" cy="731520"/>
          </a:xfrm>
          <a:prstGeom prst="rect">
            <a:avLst/>
          </a:prstGeom>
          <a:noFill/>
          <a:ln/>
        </p:spPr>
        <p:txBody>
          <a:bodyPr wrap="square" lIns="0" tIns="0" rIns="0" bIns="0" rtlCol="0" anchor="t"/>
          <a:lstStyle/>
          <a:p>
            <a:pPr marL="0" indent="0">
              <a:buNone/>
            </a:pPr>
            <a:r>
              <a:rPr lang="en-US" sz="1800" dirty="0">
                <a:solidFill>
                  <a:schemeClr val="bg2"/>
                </a:solidFill>
                <a:latin typeface="Calibri" pitchFamily="34" charset="0"/>
                <a:ea typeface="Calibri" pitchFamily="34" charset="-122"/>
                <a:cs typeface="Calibri" pitchFamily="34" charset="-120"/>
              </a:rPr>
              <a:t>Voor als er vragen komen over de doelgroep, de detailpagina, de navigatie of de collectie.</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latin typeface="Calibri" pitchFamily="34" charset="0"/>
                <a:ea typeface="Calibri" pitchFamily="34" charset="-122"/>
                <a:cs typeface="Calibri" pitchFamily="34" charset="-120"/>
              </a:rPr>
              <a:t>DOELGROEP</a:t>
            </a:r>
            <a:endParaRPr lang="en-US" sz="1100" dirty="0"/>
          </a:p>
        </p:txBody>
      </p:sp>
      <p:sp>
        <p:nvSpPr>
          <p:cNvPr id="3" name="Text 1"/>
          <p:cNvSpPr>
            <a:spLocks noGrp="1"/>
          </p:cNvSpPr>
          <p:nvPr>
            <p:ph type="title" idx="101" hasCustomPrompt="1"/>
          </p:nvPr>
        </p:nvSpPr>
        <p:spPr>
          <a:xfrm>
            <a:off x="548640" y="411480"/>
            <a:ext cx="11091672"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Voor elke bezoeker, zonder uitleg</a:t>
            </a:r>
            <a:endParaRPr lang="en-US" sz="3400" dirty="0"/>
          </a:p>
        </p:txBody>
      </p:sp>
      <p:sp>
        <p:nvSpPr>
          <p:cNvPr id="4" name="Icoon FaChild"/>
          <p:cNvSpPr/>
          <p:nvPr/>
        </p:nvSpPr>
        <p:spPr>
          <a:xfrm>
            <a:off x="868680" y="1508760"/>
            <a:ext cx="914400" cy="914400"/>
          </a:xfrm>
          <a:prstGeom prst="ellipse">
            <a:avLst/>
          </a:prstGeom>
          <a:solidFill>
            <a:schemeClr val="accent2"/>
          </a:solidFill>
          <a:ln/>
        </p:spPr>
        <p:txBody>
          <a:bodyPr/>
          <a:lstStyle/>
          <a:p>
            <a:endParaRPr lang="nl-NL"/>
          </a:p>
        </p:txBody>
      </p:sp>
      <p:pic>
        <p:nvPicPr>
          <p:cNvPr id="5" name="Icoon FaChild beeld" descr="preencoded.png"/>
          <p:cNvPicPr>
            <a:picLocks noChangeAspect="1"/>
          </p:cNvPicPr>
          <p:nvPr/>
        </p:nvPicPr>
        <p:blipFill>
          <a:blip r:embed="rId3"/>
          <a:stretch>
            <a:fillRect/>
          </a:stretch>
        </p:blipFill>
        <p:spPr>
          <a:xfrm>
            <a:off x="1097280" y="1737360"/>
            <a:ext cx="457200" cy="457200"/>
          </a:xfrm>
          <a:prstGeom prst="rect">
            <a:avLst/>
          </a:prstGeom>
        </p:spPr>
      </p:pic>
      <p:sp>
        <p:nvSpPr>
          <p:cNvPr id="6" name="Text 3"/>
          <p:cNvSpPr txBox="1"/>
          <p:nvPr/>
        </p:nvSpPr>
        <p:spPr>
          <a:xfrm>
            <a:off x="548640" y="2514600"/>
            <a:ext cx="1554480" cy="365760"/>
          </a:xfrm>
          <a:prstGeom prst="rect">
            <a:avLst/>
          </a:prstGeom>
          <a:noFill/>
          <a:ln/>
        </p:spPr>
        <p:txBody>
          <a:bodyPr wrap="square" lIns="0" tIns="0" rIns="0" bIns="0" rtlCol="0" anchor="t"/>
          <a:lstStyle/>
          <a:p>
            <a:pPr marL="0" indent="0" algn="ctr">
              <a:buNone/>
            </a:pPr>
            <a:r>
              <a:rPr lang="en-US" sz="1500" b="1" dirty="0">
                <a:solidFill>
                  <a:schemeClr val="tx2"/>
                </a:solidFill>
                <a:latin typeface="Calibri" pitchFamily="34" charset="0"/>
                <a:ea typeface="Calibri" pitchFamily="34" charset="-122"/>
                <a:cs typeface="Calibri" pitchFamily="34" charset="-120"/>
              </a:rPr>
              <a:t>Jongeren</a:t>
            </a:r>
            <a:endParaRPr lang="en-US" sz="1500" dirty="0"/>
          </a:p>
        </p:txBody>
      </p:sp>
      <p:sp>
        <p:nvSpPr>
          <p:cNvPr id="7" name="Icoon FaUser"/>
          <p:cNvSpPr/>
          <p:nvPr/>
        </p:nvSpPr>
        <p:spPr>
          <a:xfrm>
            <a:off x="2697480" y="1508760"/>
            <a:ext cx="914400" cy="914400"/>
          </a:xfrm>
          <a:prstGeom prst="ellipse">
            <a:avLst/>
          </a:prstGeom>
          <a:solidFill>
            <a:schemeClr val="accent2"/>
          </a:solidFill>
          <a:ln/>
        </p:spPr>
        <p:txBody>
          <a:bodyPr/>
          <a:lstStyle/>
          <a:p>
            <a:endParaRPr lang="nl-NL"/>
          </a:p>
        </p:txBody>
      </p:sp>
      <p:pic>
        <p:nvPicPr>
          <p:cNvPr id="8" name="Icoon FaUser beeld" descr="preencoded.png"/>
          <p:cNvPicPr>
            <a:picLocks noChangeAspect="1"/>
          </p:cNvPicPr>
          <p:nvPr/>
        </p:nvPicPr>
        <p:blipFill>
          <a:blip r:embed="rId4"/>
          <a:stretch>
            <a:fillRect/>
          </a:stretch>
        </p:blipFill>
        <p:spPr>
          <a:xfrm>
            <a:off x="2926080" y="1737360"/>
            <a:ext cx="457200" cy="457200"/>
          </a:xfrm>
          <a:prstGeom prst="rect">
            <a:avLst/>
          </a:prstGeom>
        </p:spPr>
      </p:pic>
      <p:sp>
        <p:nvSpPr>
          <p:cNvPr id="9" name="Text 5"/>
          <p:cNvSpPr txBox="1"/>
          <p:nvPr/>
        </p:nvSpPr>
        <p:spPr>
          <a:xfrm>
            <a:off x="2377440" y="2514600"/>
            <a:ext cx="1554480" cy="365760"/>
          </a:xfrm>
          <a:prstGeom prst="rect">
            <a:avLst/>
          </a:prstGeom>
          <a:noFill/>
          <a:ln/>
        </p:spPr>
        <p:txBody>
          <a:bodyPr wrap="square" lIns="0" tIns="0" rIns="0" bIns="0" rtlCol="0" anchor="t"/>
          <a:lstStyle/>
          <a:p>
            <a:pPr marL="0" indent="0" algn="ctr">
              <a:buNone/>
            </a:pPr>
            <a:r>
              <a:rPr lang="en-US" sz="1500" b="1" dirty="0">
                <a:solidFill>
                  <a:schemeClr val="tx2"/>
                </a:solidFill>
                <a:latin typeface="Calibri" pitchFamily="34" charset="0"/>
                <a:ea typeface="Calibri" pitchFamily="34" charset="-122"/>
                <a:cs typeface="Calibri" pitchFamily="34" charset="-120"/>
              </a:rPr>
              <a:t>Volwassenen</a:t>
            </a:r>
            <a:endParaRPr lang="en-US" sz="1500" dirty="0"/>
          </a:p>
        </p:txBody>
      </p:sp>
      <p:sp>
        <p:nvSpPr>
          <p:cNvPr id="10" name="Icoon FaGlasses"/>
          <p:cNvSpPr/>
          <p:nvPr/>
        </p:nvSpPr>
        <p:spPr>
          <a:xfrm>
            <a:off x="4526280" y="1508760"/>
            <a:ext cx="914400" cy="914400"/>
          </a:xfrm>
          <a:prstGeom prst="ellipse">
            <a:avLst/>
          </a:prstGeom>
          <a:solidFill>
            <a:schemeClr val="accent2"/>
          </a:solidFill>
          <a:ln/>
        </p:spPr>
        <p:txBody>
          <a:bodyPr/>
          <a:lstStyle/>
          <a:p>
            <a:endParaRPr lang="nl-NL"/>
          </a:p>
        </p:txBody>
      </p:sp>
      <p:pic>
        <p:nvPicPr>
          <p:cNvPr id="11" name="Icoon FaGlasses beeld" descr="preencoded.png"/>
          <p:cNvPicPr>
            <a:picLocks noChangeAspect="1"/>
          </p:cNvPicPr>
          <p:nvPr/>
        </p:nvPicPr>
        <p:blipFill>
          <a:blip r:embed="rId5"/>
          <a:stretch>
            <a:fillRect/>
          </a:stretch>
        </p:blipFill>
        <p:spPr>
          <a:xfrm>
            <a:off x="4754880" y="1737360"/>
            <a:ext cx="457200" cy="457200"/>
          </a:xfrm>
          <a:prstGeom prst="rect">
            <a:avLst/>
          </a:prstGeom>
        </p:spPr>
      </p:pic>
      <p:sp>
        <p:nvSpPr>
          <p:cNvPr id="12" name="Text 7"/>
          <p:cNvSpPr txBox="1"/>
          <p:nvPr/>
        </p:nvSpPr>
        <p:spPr>
          <a:xfrm>
            <a:off x="4206240" y="2514600"/>
            <a:ext cx="1554480" cy="365760"/>
          </a:xfrm>
          <a:prstGeom prst="rect">
            <a:avLst/>
          </a:prstGeom>
          <a:noFill/>
          <a:ln/>
        </p:spPr>
        <p:txBody>
          <a:bodyPr wrap="square" lIns="0" tIns="0" rIns="0" bIns="0" rtlCol="0" anchor="t"/>
          <a:lstStyle/>
          <a:p>
            <a:pPr marL="0" indent="0" algn="ctr">
              <a:buNone/>
            </a:pPr>
            <a:r>
              <a:rPr lang="en-US" sz="1500" b="1" dirty="0">
                <a:solidFill>
                  <a:schemeClr val="tx2"/>
                </a:solidFill>
                <a:latin typeface="Calibri" pitchFamily="34" charset="0"/>
                <a:ea typeface="Calibri" pitchFamily="34" charset="-122"/>
                <a:cs typeface="Calibri" pitchFamily="34" charset="-120"/>
              </a:rPr>
              <a:t>Ouderen</a:t>
            </a:r>
            <a:endParaRPr lang="en-US" sz="1500" dirty="0"/>
          </a:p>
        </p:txBody>
      </p:sp>
      <p:sp>
        <p:nvSpPr>
          <p:cNvPr id="13" name="Icoon FaUsers"/>
          <p:cNvSpPr/>
          <p:nvPr/>
        </p:nvSpPr>
        <p:spPr>
          <a:xfrm>
            <a:off x="6355080" y="1508760"/>
            <a:ext cx="914400" cy="914400"/>
          </a:xfrm>
          <a:prstGeom prst="ellipse">
            <a:avLst/>
          </a:prstGeom>
          <a:solidFill>
            <a:schemeClr val="accent2"/>
          </a:solidFill>
          <a:ln/>
        </p:spPr>
        <p:txBody>
          <a:bodyPr/>
          <a:lstStyle/>
          <a:p>
            <a:endParaRPr lang="nl-NL"/>
          </a:p>
        </p:txBody>
      </p:sp>
      <p:pic>
        <p:nvPicPr>
          <p:cNvPr id="14" name="Icoon FaUsers beeld" descr="preencoded.png"/>
          <p:cNvPicPr>
            <a:picLocks noChangeAspect="1"/>
          </p:cNvPicPr>
          <p:nvPr/>
        </p:nvPicPr>
        <p:blipFill>
          <a:blip r:embed="rId6"/>
          <a:stretch>
            <a:fillRect/>
          </a:stretch>
        </p:blipFill>
        <p:spPr>
          <a:xfrm>
            <a:off x="6583680" y="1737360"/>
            <a:ext cx="457200" cy="457200"/>
          </a:xfrm>
          <a:prstGeom prst="rect">
            <a:avLst/>
          </a:prstGeom>
        </p:spPr>
      </p:pic>
      <p:sp>
        <p:nvSpPr>
          <p:cNvPr id="15" name="Text 9"/>
          <p:cNvSpPr txBox="1"/>
          <p:nvPr/>
        </p:nvSpPr>
        <p:spPr>
          <a:xfrm>
            <a:off x="6035040" y="2514600"/>
            <a:ext cx="1554480" cy="365760"/>
          </a:xfrm>
          <a:prstGeom prst="rect">
            <a:avLst/>
          </a:prstGeom>
          <a:noFill/>
          <a:ln/>
        </p:spPr>
        <p:txBody>
          <a:bodyPr wrap="square" lIns="0" tIns="0" rIns="0" bIns="0" rtlCol="0" anchor="t"/>
          <a:lstStyle/>
          <a:p>
            <a:pPr marL="0" indent="0" algn="ctr">
              <a:buNone/>
            </a:pPr>
            <a:r>
              <a:rPr lang="en-US" sz="1500" b="1" dirty="0">
                <a:solidFill>
                  <a:schemeClr val="tx2"/>
                </a:solidFill>
                <a:latin typeface="Calibri" pitchFamily="34" charset="0"/>
                <a:ea typeface="Calibri" pitchFamily="34" charset="-122"/>
                <a:cs typeface="Calibri" pitchFamily="34" charset="-120"/>
              </a:rPr>
              <a:t>Gezinnen</a:t>
            </a:r>
            <a:endParaRPr lang="en-US" sz="1500" dirty="0"/>
          </a:p>
        </p:txBody>
      </p:sp>
      <p:sp>
        <p:nvSpPr>
          <p:cNvPr id="16" name="Text 10"/>
          <p:cNvSpPr txBox="1"/>
          <p:nvPr/>
        </p:nvSpPr>
        <p:spPr>
          <a:xfrm>
            <a:off x="548640" y="3200400"/>
            <a:ext cx="6949440" cy="36576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Daarom moet de app:</a:t>
            </a:r>
            <a:endParaRPr lang="en-US" sz="2000" dirty="0"/>
          </a:p>
        </p:txBody>
      </p:sp>
      <p:sp>
        <p:nvSpPr>
          <p:cNvPr id="17" name="Kaart"/>
          <p:cNvSpPr/>
          <p:nvPr/>
        </p:nvSpPr>
        <p:spPr>
          <a:xfrm>
            <a:off x="548640" y="3703320"/>
            <a:ext cx="6949440" cy="64008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18" name="Icoon FaHandPointer"/>
          <p:cNvSpPr/>
          <p:nvPr/>
        </p:nvSpPr>
        <p:spPr>
          <a:xfrm>
            <a:off x="685800" y="3794760"/>
            <a:ext cx="457200" cy="457200"/>
          </a:xfrm>
          <a:prstGeom prst="ellipse">
            <a:avLst/>
          </a:prstGeom>
          <a:solidFill>
            <a:schemeClr val="accent1"/>
          </a:solidFill>
          <a:ln/>
        </p:spPr>
        <p:txBody>
          <a:bodyPr/>
          <a:lstStyle/>
          <a:p>
            <a:endParaRPr lang="nl-NL"/>
          </a:p>
        </p:txBody>
      </p:sp>
      <p:pic>
        <p:nvPicPr>
          <p:cNvPr id="19" name="Icoon FaHandPointer beeld" descr="preencoded.png"/>
          <p:cNvPicPr>
            <a:picLocks noChangeAspect="1"/>
          </p:cNvPicPr>
          <p:nvPr/>
        </p:nvPicPr>
        <p:blipFill>
          <a:blip r:embed="rId7"/>
          <a:stretch>
            <a:fillRect/>
          </a:stretch>
        </p:blipFill>
        <p:spPr>
          <a:xfrm>
            <a:off x="800100" y="3909060"/>
            <a:ext cx="228600" cy="228600"/>
          </a:xfrm>
          <a:prstGeom prst="rect">
            <a:avLst/>
          </a:prstGeom>
        </p:spPr>
      </p:pic>
      <p:sp>
        <p:nvSpPr>
          <p:cNvPr id="20" name="Text 13"/>
          <p:cNvSpPr txBox="1"/>
          <p:nvPr/>
        </p:nvSpPr>
        <p:spPr>
          <a:xfrm>
            <a:off x="1325880" y="3813048"/>
            <a:ext cx="6035040" cy="420624"/>
          </a:xfrm>
          <a:prstGeom prst="rect">
            <a:avLst/>
          </a:prstGeom>
          <a:noFill/>
          <a:ln/>
        </p:spPr>
        <p:txBody>
          <a:bodyPr wrap="square" lIns="0" tIns="0" rIns="0" bIns="0" rtlCol="0" anchor="ctr"/>
          <a:lstStyle/>
          <a:p>
            <a:pPr marL="0" indent="0">
              <a:buNone/>
            </a:pPr>
            <a:r>
              <a:rPr lang="en-US" sz="1500" dirty="0">
                <a:solidFill>
                  <a:schemeClr val="tx1"/>
                </a:solidFill>
                <a:latin typeface="Calibri" pitchFamily="34" charset="0"/>
                <a:ea typeface="Calibri" pitchFamily="34" charset="-122"/>
                <a:cs typeface="Calibri" pitchFamily="34" charset="-120"/>
              </a:rPr>
              <a:t>Grote, goed zichtbare knoppen</a:t>
            </a:r>
            <a:endParaRPr lang="en-US" sz="1500" dirty="0"/>
          </a:p>
        </p:txBody>
      </p:sp>
      <p:sp>
        <p:nvSpPr>
          <p:cNvPr id="21" name="Kaart"/>
          <p:cNvSpPr/>
          <p:nvPr/>
        </p:nvSpPr>
        <p:spPr>
          <a:xfrm>
            <a:off x="548640" y="4480560"/>
            <a:ext cx="6949440" cy="64008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22" name="Icoon FaFont"/>
          <p:cNvSpPr/>
          <p:nvPr/>
        </p:nvSpPr>
        <p:spPr>
          <a:xfrm>
            <a:off x="685800" y="4572000"/>
            <a:ext cx="457200" cy="457200"/>
          </a:xfrm>
          <a:prstGeom prst="ellipse">
            <a:avLst/>
          </a:prstGeom>
          <a:solidFill>
            <a:schemeClr val="accent1"/>
          </a:solidFill>
          <a:ln/>
        </p:spPr>
        <p:txBody>
          <a:bodyPr/>
          <a:lstStyle/>
          <a:p>
            <a:endParaRPr lang="nl-NL"/>
          </a:p>
        </p:txBody>
      </p:sp>
      <p:pic>
        <p:nvPicPr>
          <p:cNvPr id="23" name="Icoon FaFont beeld" descr="preencoded.png"/>
          <p:cNvPicPr>
            <a:picLocks noChangeAspect="1"/>
          </p:cNvPicPr>
          <p:nvPr/>
        </p:nvPicPr>
        <p:blipFill>
          <a:blip r:embed="rId8"/>
          <a:stretch>
            <a:fillRect/>
          </a:stretch>
        </p:blipFill>
        <p:spPr>
          <a:xfrm>
            <a:off x="800100" y="4686300"/>
            <a:ext cx="228600" cy="228600"/>
          </a:xfrm>
          <a:prstGeom prst="rect">
            <a:avLst/>
          </a:prstGeom>
        </p:spPr>
      </p:pic>
      <p:sp>
        <p:nvSpPr>
          <p:cNvPr id="24" name="Text 16"/>
          <p:cNvSpPr txBox="1"/>
          <p:nvPr/>
        </p:nvSpPr>
        <p:spPr>
          <a:xfrm>
            <a:off x="1325880" y="4590288"/>
            <a:ext cx="6035040" cy="420624"/>
          </a:xfrm>
          <a:prstGeom prst="rect">
            <a:avLst/>
          </a:prstGeom>
          <a:noFill/>
          <a:ln/>
        </p:spPr>
        <p:txBody>
          <a:bodyPr wrap="square" lIns="0" tIns="0" rIns="0" bIns="0" rtlCol="0" anchor="ctr"/>
          <a:lstStyle/>
          <a:p>
            <a:pPr marL="0" indent="0">
              <a:buNone/>
            </a:pPr>
            <a:r>
              <a:rPr lang="en-US" sz="1500" dirty="0">
                <a:solidFill>
                  <a:schemeClr val="tx1"/>
                </a:solidFill>
                <a:latin typeface="Calibri" pitchFamily="34" charset="0"/>
                <a:ea typeface="Calibri" pitchFamily="34" charset="-122"/>
                <a:cs typeface="Calibri" pitchFamily="34" charset="-120"/>
              </a:rPr>
              <a:t>Teksten die makkelijk leesbaar zijn</a:t>
            </a:r>
            <a:endParaRPr lang="en-US" sz="1500" dirty="0"/>
          </a:p>
        </p:txBody>
      </p:sp>
      <p:sp>
        <p:nvSpPr>
          <p:cNvPr id="25" name="Kaart"/>
          <p:cNvSpPr/>
          <p:nvPr/>
        </p:nvSpPr>
        <p:spPr>
          <a:xfrm>
            <a:off x="548640" y="5257800"/>
            <a:ext cx="6949440" cy="64008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sp>
        <p:nvSpPr>
          <p:cNvPr id="26" name="Icoon FaCheckCircle"/>
          <p:cNvSpPr/>
          <p:nvPr/>
        </p:nvSpPr>
        <p:spPr>
          <a:xfrm>
            <a:off x="685800" y="5349240"/>
            <a:ext cx="457200" cy="457200"/>
          </a:xfrm>
          <a:prstGeom prst="ellipse">
            <a:avLst/>
          </a:prstGeom>
          <a:solidFill>
            <a:schemeClr val="accent1"/>
          </a:solidFill>
          <a:ln/>
        </p:spPr>
        <p:txBody>
          <a:bodyPr/>
          <a:lstStyle/>
          <a:p>
            <a:endParaRPr lang="nl-NL"/>
          </a:p>
        </p:txBody>
      </p:sp>
      <p:pic>
        <p:nvPicPr>
          <p:cNvPr id="27" name="Icoon FaCheckCircle beeld" descr="preencoded.png"/>
          <p:cNvPicPr>
            <a:picLocks noChangeAspect="1"/>
          </p:cNvPicPr>
          <p:nvPr/>
        </p:nvPicPr>
        <p:blipFill>
          <a:blip r:embed="rId9"/>
          <a:stretch>
            <a:fillRect/>
          </a:stretch>
        </p:blipFill>
        <p:spPr>
          <a:xfrm>
            <a:off x="800100" y="5463540"/>
            <a:ext cx="228600" cy="228600"/>
          </a:xfrm>
          <a:prstGeom prst="rect">
            <a:avLst/>
          </a:prstGeom>
        </p:spPr>
      </p:pic>
      <p:sp>
        <p:nvSpPr>
          <p:cNvPr id="28" name="Text 19"/>
          <p:cNvSpPr txBox="1"/>
          <p:nvPr/>
        </p:nvSpPr>
        <p:spPr>
          <a:xfrm>
            <a:off x="1325880" y="5367528"/>
            <a:ext cx="6035040" cy="420624"/>
          </a:xfrm>
          <a:prstGeom prst="rect">
            <a:avLst/>
          </a:prstGeom>
          <a:noFill/>
          <a:ln/>
        </p:spPr>
        <p:txBody>
          <a:bodyPr wrap="square" lIns="0" tIns="0" rIns="0" bIns="0" rtlCol="0" anchor="ctr"/>
          <a:lstStyle/>
          <a:p>
            <a:pPr marL="0" indent="0">
              <a:buNone/>
            </a:pPr>
            <a:r>
              <a:rPr lang="en-US" sz="1500" dirty="0">
                <a:solidFill>
                  <a:schemeClr val="tx1"/>
                </a:solidFill>
                <a:latin typeface="Calibri" pitchFamily="34" charset="0"/>
                <a:ea typeface="Calibri" pitchFamily="34" charset="-122"/>
                <a:cs typeface="Calibri" pitchFamily="34" charset="-120"/>
              </a:rPr>
              <a:t>Te gebruiken zonder uitleg of hulp</a:t>
            </a:r>
            <a:endParaRPr lang="en-US" sz="1500" dirty="0"/>
          </a:p>
        </p:txBody>
      </p:sp>
      <p:sp>
        <p:nvSpPr>
          <p:cNvPr id="29" name="Groepsfoto lijst"/>
          <p:cNvSpPr/>
          <p:nvPr/>
        </p:nvSpPr>
        <p:spPr>
          <a:xfrm>
            <a:off x="8138160" y="1417320"/>
            <a:ext cx="3502152" cy="457200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30" name="Groepsfoto" descr="Historische groepsfoto: Belgische vluchtelingen op het station, 1914"/>
          <p:cNvPicPr>
            <a:picLocks noChangeAspect="1"/>
          </p:cNvPicPr>
          <p:nvPr/>
        </p:nvPicPr>
        <p:blipFill>
          <a:blip r:embed="rId10"/>
          <a:stretch>
            <a:fillRect/>
          </a:stretch>
        </p:blipFill>
        <p:spPr>
          <a:xfrm>
            <a:off x="8211312" y="1490472"/>
            <a:ext cx="3355848" cy="4425696"/>
          </a:xfrm>
          <a:prstGeom prst="rect">
            <a:avLst/>
          </a:prstGeom>
        </p:spPr>
      </p:pic>
      <p:sp>
        <p:nvSpPr>
          <p:cNvPr id="31" name="Text 21"/>
          <p:cNvSpPr txBox="1"/>
          <p:nvPr/>
        </p:nvSpPr>
        <p:spPr>
          <a:xfrm>
            <a:off x="8138160" y="6035040"/>
            <a:ext cx="3502152" cy="274320"/>
          </a:xfrm>
          <a:prstGeom prst="rect">
            <a:avLst/>
          </a:prstGeom>
          <a:noFill/>
          <a:ln/>
        </p:spPr>
        <p:txBody>
          <a:bodyPr wrap="square" lIns="0" tIns="0" rIns="0" bIns="0" rtlCol="0" anchor="t"/>
          <a:lstStyle/>
          <a:p>
            <a:pPr marL="0" indent="0">
              <a:buNone/>
            </a:pPr>
            <a:r>
              <a:rPr lang="en-US" sz="1000" i="1" dirty="0">
                <a:solidFill>
                  <a:schemeClr val="accent4"/>
                </a:solidFill>
                <a:latin typeface="Calibri" pitchFamily="34" charset="0"/>
                <a:ea typeface="Calibri" pitchFamily="34" charset="-122"/>
                <a:cs typeface="Calibri" pitchFamily="34" charset="-120"/>
              </a:rPr>
              <a:t>Belgische vluchtelingen op het station, 1914</a:t>
            </a:r>
            <a:endParaRPr lang="en-US" sz="1000" dirty="0"/>
          </a:p>
        </p:txBody>
      </p:sp>
      <p:sp>
        <p:nvSpPr>
          <p:cNvPr id="32"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5D52"/>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latin typeface="Calibri" pitchFamily="34" charset="0"/>
                <a:ea typeface="Calibri" pitchFamily="34" charset="-122"/>
                <a:cs typeface="Calibri" pitchFamily="34" charset="-120"/>
              </a:rPr>
              <a:t>DETAILPAGINA</a:t>
            </a:r>
            <a:endParaRPr lang="en-US" sz="1100" dirty="0"/>
          </a:p>
        </p:txBody>
      </p:sp>
      <p:sp>
        <p:nvSpPr>
          <p:cNvPr id="3" name="Text 1"/>
          <p:cNvSpPr>
            <a:spLocks noGrp="1"/>
          </p:cNvSpPr>
          <p:nvPr>
            <p:ph type="title" idx="101" hasCustomPrompt="1"/>
          </p:nvPr>
        </p:nvSpPr>
        <p:spPr>
          <a:xfrm>
            <a:off x="548640" y="411480"/>
            <a:ext cx="11091672"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Het verhaal bij elk object</a:t>
            </a:r>
            <a:endParaRPr lang="en-US" sz="3400" dirty="0"/>
          </a:p>
        </p:txBody>
      </p:sp>
      <p:sp>
        <p:nvSpPr>
          <p:cNvPr id="4" name="Screenshot kaart Slaperdijk lijst"/>
          <p:cNvSpPr/>
          <p:nvPr/>
        </p:nvSpPr>
        <p:spPr>
          <a:xfrm>
            <a:off x="548640" y="1325880"/>
            <a:ext cx="2834640" cy="4535424"/>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5" name="Screenshot kaart Slaperdijk" descr="Detailpagina van de kaart van de Slaperdijk"/>
          <p:cNvPicPr>
            <a:picLocks noChangeAspect="1"/>
          </p:cNvPicPr>
          <p:nvPr/>
        </p:nvPicPr>
        <p:blipFill>
          <a:blip r:embed="rId3"/>
          <a:stretch>
            <a:fillRect/>
          </a:stretch>
        </p:blipFill>
        <p:spPr>
          <a:xfrm>
            <a:off x="621792" y="1399032"/>
            <a:ext cx="2688336" cy="4389120"/>
          </a:xfrm>
          <a:prstGeom prst="rect">
            <a:avLst/>
          </a:prstGeom>
        </p:spPr>
      </p:pic>
      <p:sp>
        <p:nvSpPr>
          <p:cNvPr id="6" name="Screenshot kanonskogels lijst"/>
          <p:cNvSpPr/>
          <p:nvPr/>
        </p:nvSpPr>
        <p:spPr>
          <a:xfrm>
            <a:off x="3611880" y="1325880"/>
            <a:ext cx="2834640" cy="4535424"/>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7" name="Screenshot kanonskogels" descr="Detailpagina van de Spaanse kanonskogels"/>
          <p:cNvPicPr>
            <a:picLocks noChangeAspect="1"/>
          </p:cNvPicPr>
          <p:nvPr/>
        </p:nvPicPr>
        <p:blipFill>
          <a:blip r:embed="rId4"/>
          <a:stretch>
            <a:fillRect/>
          </a:stretch>
        </p:blipFill>
        <p:spPr>
          <a:xfrm>
            <a:off x="3685032" y="1399032"/>
            <a:ext cx="2688336" cy="4389120"/>
          </a:xfrm>
          <a:prstGeom prst="rect">
            <a:avLst/>
          </a:prstGeom>
        </p:spPr>
      </p:pic>
      <p:sp>
        <p:nvSpPr>
          <p:cNvPr id="8" name="Icoon FaImage"/>
          <p:cNvSpPr/>
          <p:nvPr/>
        </p:nvSpPr>
        <p:spPr>
          <a:xfrm>
            <a:off x="6903720" y="1371600"/>
            <a:ext cx="640080" cy="640080"/>
          </a:xfrm>
          <a:prstGeom prst="ellipse">
            <a:avLst/>
          </a:prstGeom>
          <a:solidFill>
            <a:schemeClr val="accent1"/>
          </a:solidFill>
          <a:ln/>
        </p:spPr>
        <p:txBody>
          <a:bodyPr/>
          <a:lstStyle/>
          <a:p>
            <a:endParaRPr lang="nl-NL"/>
          </a:p>
        </p:txBody>
      </p:sp>
      <p:pic>
        <p:nvPicPr>
          <p:cNvPr id="9" name="Icoon FaImage beeld" descr="preencoded.png"/>
          <p:cNvPicPr>
            <a:picLocks noChangeAspect="1"/>
          </p:cNvPicPr>
          <p:nvPr/>
        </p:nvPicPr>
        <p:blipFill>
          <a:blip r:embed="rId5"/>
          <a:stretch>
            <a:fillRect/>
          </a:stretch>
        </p:blipFill>
        <p:spPr>
          <a:xfrm>
            <a:off x="7063740" y="1531620"/>
            <a:ext cx="320040" cy="320040"/>
          </a:xfrm>
          <a:prstGeom prst="rect">
            <a:avLst/>
          </a:prstGeom>
        </p:spPr>
      </p:pic>
      <p:sp>
        <p:nvSpPr>
          <p:cNvPr id="10" name="Text 5"/>
          <p:cNvSpPr txBox="1"/>
          <p:nvPr/>
        </p:nvSpPr>
        <p:spPr>
          <a:xfrm>
            <a:off x="7726680" y="1371600"/>
            <a:ext cx="3931920" cy="347472"/>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Hoofdfoto in een lijst</a:t>
            </a:r>
            <a:endParaRPr lang="en-US" sz="1700" dirty="0"/>
          </a:p>
        </p:txBody>
      </p:sp>
      <p:sp>
        <p:nvSpPr>
          <p:cNvPr id="11" name="Text 6"/>
          <p:cNvSpPr txBox="1"/>
          <p:nvPr/>
        </p:nvSpPr>
        <p:spPr>
          <a:xfrm>
            <a:off x="7726680" y="1737360"/>
            <a:ext cx="3931920" cy="320040"/>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Zoals een schilderij in het museum</a:t>
            </a:r>
            <a:endParaRPr lang="en-US" sz="1400" dirty="0"/>
          </a:p>
        </p:txBody>
      </p:sp>
      <p:sp>
        <p:nvSpPr>
          <p:cNvPr id="12" name="Icoon FaImages"/>
          <p:cNvSpPr/>
          <p:nvPr/>
        </p:nvSpPr>
        <p:spPr>
          <a:xfrm>
            <a:off x="6903720" y="2487168"/>
            <a:ext cx="640080" cy="640080"/>
          </a:xfrm>
          <a:prstGeom prst="ellipse">
            <a:avLst/>
          </a:prstGeom>
          <a:solidFill>
            <a:schemeClr val="accent1"/>
          </a:solidFill>
          <a:ln/>
        </p:spPr>
        <p:txBody>
          <a:bodyPr/>
          <a:lstStyle/>
          <a:p>
            <a:endParaRPr lang="nl-NL"/>
          </a:p>
        </p:txBody>
      </p:sp>
      <p:pic>
        <p:nvPicPr>
          <p:cNvPr id="13" name="Icoon FaImages beeld" descr="preencoded.png"/>
          <p:cNvPicPr>
            <a:picLocks noChangeAspect="1"/>
          </p:cNvPicPr>
          <p:nvPr/>
        </p:nvPicPr>
        <p:blipFill>
          <a:blip r:embed="rId6"/>
          <a:stretch>
            <a:fillRect/>
          </a:stretch>
        </p:blipFill>
        <p:spPr>
          <a:xfrm>
            <a:off x="7063740" y="2647188"/>
            <a:ext cx="320040" cy="320040"/>
          </a:xfrm>
          <a:prstGeom prst="rect">
            <a:avLst/>
          </a:prstGeom>
        </p:spPr>
      </p:pic>
      <p:sp>
        <p:nvSpPr>
          <p:cNvPr id="14" name="Text 8"/>
          <p:cNvSpPr txBox="1"/>
          <p:nvPr/>
        </p:nvSpPr>
        <p:spPr>
          <a:xfrm>
            <a:off x="7726680" y="2487168"/>
            <a:ext cx="3931920" cy="347472"/>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Extra foto's naast de tekst</a:t>
            </a:r>
            <a:endParaRPr lang="en-US" sz="1700" dirty="0"/>
          </a:p>
        </p:txBody>
      </p:sp>
      <p:sp>
        <p:nvSpPr>
          <p:cNvPr id="15" name="Text 9"/>
          <p:cNvSpPr txBox="1"/>
          <p:nvPr/>
        </p:nvSpPr>
        <p:spPr>
          <a:xfrm>
            <a:off x="7726680" y="2852928"/>
            <a:ext cx="3931920" cy="320040"/>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Kruis op de Berg heeft er bijvoorbeeld acht</a:t>
            </a:r>
            <a:endParaRPr lang="en-US" sz="1400" dirty="0"/>
          </a:p>
        </p:txBody>
      </p:sp>
      <p:sp>
        <p:nvSpPr>
          <p:cNvPr id="16" name="Icoon FaExpand"/>
          <p:cNvSpPr/>
          <p:nvPr/>
        </p:nvSpPr>
        <p:spPr>
          <a:xfrm>
            <a:off x="6903720" y="3602736"/>
            <a:ext cx="640080" cy="640080"/>
          </a:xfrm>
          <a:prstGeom prst="ellipse">
            <a:avLst/>
          </a:prstGeom>
          <a:solidFill>
            <a:schemeClr val="accent1"/>
          </a:solidFill>
          <a:ln/>
        </p:spPr>
        <p:txBody>
          <a:bodyPr/>
          <a:lstStyle/>
          <a:p>
            <a:endParaRPr lang="nl-NL"/>
          </a:p>
        </p:txBody>
      </p:sp>
      <p:pic>
        <p:nvPicPr>
          <p:cNvPr id="17" name="Icoon FaExpand beeld" descr="preencoded.png"/>
          <p:cNvPicPr>
            <a:picLocks noChangeAspect="1"/>
          </p:cNvPicPr>
          <p:nvPr/>
        </p:nvPicPr>
        <p:blipFill>
          <a:blip r:embed="rId7"/>
          <a:stretch>
            <a:fillRect/>
          </a:stretch>
        </p:blipFill>
        <p:spPr>
          <a:xfrm>
            <a:off x="7063740" y="3762756"/>
            <a:ext cx="320040" cy="320040"/>
          </a:xfrm>
          <a:prstGeom prst="rect">
            <a:avLst/>
          </a:prstGeom>
        </p:spPr>
      </p:pic>
      <p:sp>
        <p:nvSpPr>
          <p:cNvPr id="18" name="Text 11"/>
          <p:cNvSpPr txBox="1"/>
          <p:nvPr/>
        </p:nvSpPr>
        <p:spPr>
          <a:xfrm>
            <a:off x="7726680" y="3602736"/>
            <a:ext cx="3931920" cy="347472"/>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Formaat instelbaar</a:t>
            </a:r>
            <a:endParaRPr lang="en-US" sz="1700" dirty="0"/>
          </a:p>
        </p:txBody>
      </p:sp>
      <p:sp>
        <p:nvSpPr>
          <p:cNvPr id="19" name="Text 12"/>
          <p:cNvSpPr txBox="1"/>
          <p:nvPr/>
        </p:nvSpPr>
        <p:spPr>
          <a:xfrm>
            <a:off x="7726680" y="3968496"/>
            <a:ext cx="3931920" cy="320040"/>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Klein, normaal, groot of origineel</a:t>
            </a:r>
            <a:endParaRPr lang="en-US" sz="1400" dirty="0"/>
          </a:p>
        </p:txBody>
      </p:sp>
      <p:sp>
        <p:nvSpPr>
          <p:cNvPr id="20" name="Icoon FaArrowLeft"/>
          <p:cNvSpPr/>
          <p:nvPr/>
        </p:nvSpPr>
        <p:spPr>
          <a:xfrm>
            <a:off x="6903720" y="4718304"/>
            <a:ext cx="640080" cy="640080"/>
          </a:xfrm>
          <a:prstGeom prst="ellipse">
            <a:avLst/>
          </a:prstGeom>
          <a:solidFill>
            <a:schemeClr val="accent1"/>
          </a:solidFill>
          <a:ln/>
        </p:spPr>
        <p:txBody>
          <a:bodyPr/>
          <a:lstStyle/>
          <a:p>
            <a:endParaRPr lang="nl-NL"/>
          </a:p>
        </p:txBody>
      </p:sp>
      <p:pic>
        <p:nvPicPr>
          <p:cNvPr id="21" name="Icoon FaArrowLeft beeld" descr="preencoded.png"/>
          <p:cNvPicPr>
            <a:picLocks noChangeAspect="1"/>
          </p:cNvPicPr>
          <p:nvPr/>
        </p:nvPicPr>
        <p:blipFill>
          <a:blip r:embed="rId8"/>
          <a:stretch>
            <a:fillRect/>
          </a:stretch>
        </p:blipFill>
        <p:spPr>
          <a:xfrm>
            <a:off x="7063740" y="4878324"/>
            <a:ext cx="320040" cy="320040"/>
          </a:xfrm>
          <a:prstGeom prst="rect">
            <a:avLst/>
          </a:prstGeom>
        </p:spPr>
      </p:pic>
      <p:sp>
        <p:nvSpPr>
          <p:cNvPr id="22" name="Text 14"/>
          <p:cNvSpPr txBox="1"/>
          <p:nvPr/>
        </p:nvSpPr>
        <p:spPr>
          <a:xfrm>
            <a:off x="7726680" y="4718304"/>
            <a:ext cx="3931920" cy="347472"/>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Altijd terug</a:t>
            </a:r>
            <a:endParaRPr lang="en-US" sz="1700" dirty="0"/>
          </a:p>
        </p:txBody>
      </p:sp>
      <p:sp>
        <p:nvSpPr>
          <p:cNvPr id="23" name="Text 15"/>
          <p:cNvSpPr txBox="1"/>
          <p:nvPr/>
        </p:nvSpPr>
        <p:spPr>
          <a:xfrm>
            <a:off x="7726680" y="5084064"/>
            <a:ext cx="3931920" cy="320040"/>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Eén tik terug naar het overzicht</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5D52"/>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latin typeface="Calibri" pitchFamily="34" charset="0"/>
                <a:ea typeface="Calibri" pitchFamily="34" charset="-122"/>
                <a:cs typeface="Calibri" pitchFamily="34" charset="-120"/>
              </a:rPr>
              <a:t>NAVIGATIE</a:t>
            </a:r>
            <a:endParaRPr lang="en-US" sz="1100" dirty="0"/>
          </a:p>
        </p:txBody>
      </p:sp>
      <p:sp>
        <p:nvSpPr>
          <p:cNvPr id="3" name="Text 1"/>
          <p:cNvSpPr>
            <a:spLocks noGrp="1"/>
          </p:cNvSpPr>
          <p:nvPr>
            <p:ph type="title" idx="101" hasCustomPrompt="1"/>
          </p:nvPr>
        </p:nvSpPr>
        <p:spPr>
          <a:xfrm>
            <a:off x="548640" y="411480"/>
            <a:ext cx="11091672"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De navigatie in twee diagrammen</a:t>
            </a:r>
            <a:endParaRPr lang="en-US" sz="3400" dirty="0"/>
          </a:p>
        </p:txBody>
      </p:sp>
      <p:sp>
        <p:nvSpPr>
          <p:cNvPr id="4" name="Bezoekersdiagram lijst"/>
          <p:cNvSpPr/>
          <p:nvPr/>
        </p:nvSpPr>
        <p:spPr>
          <a:xfrm>
            <a:off x="1188720" y="1371600"/>
            <a:ext cx="5120640" cy="425196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5" name="Bezoekersdiagram" descr="Stroomdiagram voor bezoekers"/>
          <p:cNvPicPr>
            <a:picLocks noChangeAspect="1"/>
          </p:cNvPicPr>
          <p:nvPr/>
        </p:nvPicPr>
        <p:blipFill>
          <a:blip r:embed="rId3"/>
          <a:stretch>
            <a:fillRect/>
          </a:stretch>
        </p:blipFill>
        <p:spPr>
          <a:xfrm>
            <a:off x="1243584" y="1426464"/>
            <a:ext cx="5010912" cy="4142232"/>
          </a:xfrm>
          <a:prstGeom prst="rect">
            <a:avLst/>
          </a:prstGeom>
        </p:spPr>
      </p:pic>
      <p:sp>
        <p:nvSpPr>
          <p:cNvPr id="6" name="Text 3"/>
          <p:cNvSpPr txBox="1"/>
          <p:nvPr/>
        </p:nvSpPr>
        <p:spPr>
          <a:xfrm>
            <a:off x="1188720" y="5715000"/>
            <a:ext cx="5120640" cy="32004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Bezoeker: kiezen, bekijken, terug</a:t>
            </a:r>
            <a:endParaRPr lang="en-US" sz="1500" dirty="0"/>
          </a:p>
        </p:txBody>
      </p:sp>
      <p:sp>
        <p:nvSpPr>
          <p:cNvPr id="7" name="Beheerdersdiagram lijst"/>
          <p:cNvSpPr/>
          <p:nvPr/>
        </p:nvSpPr>
        <p:spPr>
          <a:xfrm>
            <a:off x="7086600" y="1371600"/>
            <a:ext cx="3886200" cy="425196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8" name="Beheerdersdiagram" descr="Stroomdiagram voor beheerders"/>
          <p:cNvPicPr>
            <a:picLocks noChangeAspect="1"/>
          </p:cNvPicPr>
          <p:nvPr/>
        </p:nvPicPr>
        <p:blipFill>
          <a:blip r:embed="rId4"/>
          <a:stretch>
            <a:fillRect/>
          </a:stretch>
        </p:blipFill>
        <p:spPr>
          <a:xfrm>
            <a:off x="7141464" y="1426464"/>
            <a:ext cx="3776472" cy="4142232"/>
          </a:xfrm>
          <a:prstGeom prst="rect">
            <a:avLst/>
          </a:prstGeom>
        </p:spPr>
      </p:pic>
      <p:sp>
        <p:nvSpPr>
          <p:cNvPr id="9" name="Text 5"/>
          <p:cNvSpPr txBox="1"/>
          <p:nvPr/>
        </p:nvSpPr>
        <p:spPr>
          <a:xfrm>
            <a:off x="7086600" y="5715000"/>
            <a:ext cx="3886200" cy="32004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Beheerder: inloggen, actie, opslaan</a:t>
            </a:r>
            <a:endParaRPr lang="en-US" sz="15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5D52"/>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latin typeface="Calibri" pitchFamily="34" charset="0"/>
                <a:ea typeface="Calibri" pitchFamily="34" charset="-122"/>
                <a:cs typeface="Calibri" pitchFamily="34" charset="-120"/>
              </a:rPr>
              <a:t>DE COLLECTIE</a:t>
            </a:r>
            <a:endParaRPr lang="en-US" sz="1100" dirty="0"/>
          </a:p>
        </p:txBody>
      </p:sp>
      <p:sp>
        <p:nvSpPr>
          <p:cNvPr id="3" name="Text 1"/>
          <p:cNvSpPr>
            <a:spLocks noGrp="1"/>
          </p:cNvSpPr>
          <p:nvPr>
            <p:ph type="title" idx="101" hasCustomPrompt="1"/>
          </p:nvPr>
        </p:nvSpPr>
        <p:spPr>
          <a:xfrm>
            <a:off x="548640" y="411480"/>
            <a:ext cx="11091672"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Echte objecten uit Veenendaal in de app</a:t>
            </a:r>
            <a:endParaRPr lang="en-US" sz="3400" dirty="0"/>
          </a:p>
        </p:txBody>
      </p:sp>
      <p:sp>
        <p:nvSpPr>
          <p:cNvPr id="4" name="Object 1 lijst"/>
          <p:cNvSpPr/>
          <p:nvPr/>
        </p:nvSpPr>
        <p:spPr>
          <a:xfrm>
            <a:off x="548640" y="1417320"/>
            <a:ext cx="1783080" cy="205740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5" name="Object 1" descr="Object uit de collectie"/>
          <p:cNvPicPr>
            <a:picLocks noChangeAspect="1"/>
          </p:cNvPicPr>
          <p:nvPr/>
        </p:nvPicPr>
        <p:blipFill>
          <a:blip r:embed="rId3"/>
          <a:stretch>
            <a:fillRect/>
          </a:stretch>
        </p:blipFill>
        <p:spPr>
          <a:xfrm>
            <a:off x="603504" y="1472184"/>
            <a:ext cx="1673352" cy="1947672"/>
          </a:xfrm>
          <a:prstGeom prst="rect">
            <a:avLst/>
          </a:prstGeom>
        </p:spPr>
      </p:pic>
      <p:sp>
        <p:nvSpPr>
          <p:cNvPr id="6" name="Object 2 lijst"/>
          <p:cNvSpPr/>
          <p:nvPr/>
        </p:nvSpPr>
        <p:spPr>
          <a:xfrm>
            <a:off x="2468880" y="1417320"/>
            <a:ext cx="1783080" cy="205740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7" name="Object 2" descr="Object uit de collectie"/>
          <p:cNvPicPr>
            <a:picLocks noChangeAspect="1"/>
          </p:cNvPicPr>
          <p:nvPr/>
        </p:nvPicPr>
        <p:blipFill>
          <a:blip r:embed="rId4"/>
          <a:stretch>
            <a:fillRect/>
          </a:stretch>
        </p:blipFill>
        <p:spPr>
          <a:xfrm>
            <a:off x="2523744" y="1472184"/>
            <a:ext cx="1673352" cy="1947672"/>
          </a:xfrm>
          <a:prstGeom prst="rect">
            <a:avLst/>
          </a:prstGeom>
        </p:spPr>
      </p:pic>
      <p:sp>
        <p:nvSpPr>
          <p:cNvPr id="8" name="Object 3 lijst"/>
          <p:cNvSpPr/>
          <p:nvPr/>
        </p:nvSpPr>
        <p:spPr>
          <a:xfrm>
            <a:off x="4389120" y="1417320"/>
            <a:ext cx="1783080" cy="205740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9" name="Object 3" descr="Object uit de collectie"/>
          <p:cNvPicPr>
            <a:picLocks noChangeAspect="1"/>
          </p:cNvPicPr>
          <p:nvPr/>
        </p:nvPicPr>
        <p:blipFill>
          <a:blip r:embed="rId5"/>
          <a:stretch>
            <a:fillRect/>
          </a:stretch>
        </p:blipFill>
        <p:spPr>
          <a:xfrm>
            <a:off x="4443984" y="1472184"/>
            <a:ext cx="1673352" cy="1947672"/>
          </a:xfrm>
          <a:prstGeom prst="rect">
            <a:avLst/>
          </a:prstGeom>
        </p:spPr>
      </p:pic>
      <p:sp>
        <p:nvSpPr>
          <p:cNvPr id="10" name="Object 4 lijst"/>
          <p:cNvSpPr/>
          <p:nvPr/>
        </p:nvSpPr>
        <p:spPr>
          <a:xfrm>
            <a:off x="6309360" y="1417320"/>
            <a:ext cx="1783080" cy="205740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11" name="Object 4" descr="Object uit de collectie"/>
          <p:cNvPicPr>
            <a:picLocks noChangeAspect="1"/>
          </p:cNvPicPr>
          <p:nvPr/>
        </p:nvPicPr>
        <p:blipFill>
          <a:blip r:embed="rId6"/>
          <a:stretch>
            <a:fillRect/>
          </a:stretch>
        </p:blipFill>
        <p:spPr>
          <a:xfrm>
            <a:off x="6364224" y="1472184"/>
            <a:ext cx="1673352" cy="1947672"/>
          </a:xfrm>
          <a:prstGeom prst="rect">
            <a:avLst/>
          </a:prstGeom>
        </p:spPr>
      </p:pic>
      <p:sp>
        <p:nvSpPr>
          <p:cNvPr id="12" name="Object 5 lijst"/>
          <p:cNvSpPr/>
          <p:nvPr/>
        </p:nvSpPr>
        <p:spPr>
          <a:xfrm>
            <a:off x="548640" y="3657600"/>
            <a:ext cx="1783080" cy="205740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13" name="Object 5" descr="Object uit de collectie"/>
          <p:cNvPicPr>
            <a:picLocks noChangeAspect="1"/>
          </p:cNvPicPr>
          <p:nvPr/>
        </p:nvPicPr>
        <p:blipFill>
          <a:blip r:embed="rId7"/>
          <a:stretch>
            <a:fillRect/>
          </a:stretch>
        </p:blipFill>
        <p:spPr>
          <a:xfrm>
            <a:off x="603504" y="3712464"/>
            <a:ext cx="1673352" cy="1947672"/>
          </a:xfrm>
          <a:prstGeom prst="rect">
            <a:avLst/>
          </a:prstGeom>
        </p:spPr>
      </p:pic>
      <p:sp>
        <p:nvSpPr>
          <p:cNvPr id="14" name="Object 6 lijst"/>
          <p:cNvSpPr/>
          <p:nvPr/>
        </p:nvSpPr>
        <p:spPr>
          <a:xfrm>
            <a:off x="2468880" y="3657600"/>
            <a:ext cx="1783080" cy="205740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15" name="Object 6" descr="Object uit de collectie"/>
          <p:cNvPicPr>
            <a:picLocks noChangeAspect="1"/>
          </p:cNvPicPr>
          <p:nvPr/>
        </p:nvPicPr>
        <p:blipFill>
          <a:blip r:embed="rId8"/>
          <a:stretch>
            <a:fillRect/>
          </a:stretch>
        </p:blipFill>
        <p:spPr>
          <a:xfrm>
            <a:off x="2523744" y="3712464"/>
            <a:ext cx="1673352" cy="1947672"/>
          </a:xfrm>
          <a:prstGeom prst="rect">
            <a:avLst/>
          </a:prstGeom>
        </p:spPr>
      </p:pic>
      <p:sp>
        <p:nvSpPr>
          <p:cNvPr id="16" name="Object 7 lijst"/>
          <p:cNvSpPr/>
          <p:nvPr/>
        </p:nvSpPr>
        <p:spPr>
          <a:xfrm>
            <a:off x="4389120" y="3657600"/>
            <a:ext cx="1783080" cy="205740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17" name="Object 7" descr="Object uit de collectie"/>
          <p:cNvPicPr>
            <a:picLocks noChangeAspect="1"/>
          </p:cNvPicPr>
          <p:nvPr/>
        </p:nvPicPr>
        <p:blipFill>
          <a:blip r:embed="rId9"/>
          <a:stretch>
            <a:fillRect/>
          </a:stretch>
        </p:blipFill>
        <p:spPr>
          <a:xfrm>
            <a:off x="4443984" y="3712464"/>
            <a:ext cx="1673352" cy="1947672"/>
          </a:xfrm>
          <a:prstGeom prst="rect">
            <a:avLst/>
          </a:prstGeom>
        </p:spPr>
      </p:pic>
      <p:sp>
        <p:nvSpPr>
          <p:cNvPr id="18" name="Object 8 lijst"/>
          <p:cNvSpPr/>
          <p:nvPr/>
        </p:nvSpPr>
        <p:spPr>
          <a:xfrm>
            <a:off x="6309360" y="3657600"/>
            <a:ext cx="1783080" cy="2057400"/>
          </a:xfrm>
          <a:prstGeom prst="rect">
            <a:avLst/>
          </a:prstGeom>
          <a:solidFill>
            <a:schemeClr val="bg1"/>
          </a:solidFill>
          <a:ln w="9525">
            <a:solidFill>
              <a:srgbClr val="D9CFC0"/>
            </a:solidFill>
            <a:prstDash val="solid"/>
          </a:ln>
          <a:effectLst>
            <a:outerShdw blurRad="76200" dist="25400" dir="5400000" algn="bl" rotWithShape="0">
              <a:srgbClr val="000000">
                <a:alpha val="18000"/>
              </a:srgbClr>
            </a:outerShdw>
          </a:effectLst>
        </p:spPr>
        <p:txBody>
          <a:bodyPr/>
          <a:lstStyle/>
          <a:p>
            <a:endParaRPr lang="nl-NL"/>
          </a:p>
        </p:txBody>
      </p:sp>
      <p:pic>
        <p:nvPicPr>
          <p:cNvPr id="19" name="Object 8" descr="Object uit de collectie"/>
          <p:cNvPicPr>
            <a:picLocks noChangeAspect="1"/>
          </p:cNvPicPr>
          <p:nvPr/>
        </p:nvPicPr>
        <p:blipFill>
          <a:blip r:embed="rId10"/>
          <a:stretch>
            <a:fillRect/>
          </a:stretch>
        </p:blipFill>
        <p:spPr>
          <a:xfrm>
            <a:off x="6364224" y="3712464"/>
            <a:ext cx="1673352" cy="1947672"/>
          </a:xfrm>
          <a:prstGeom prst="rect">
            <a:avLst/>
          </a:prstGeom>
        </p:spPr>
      </p:pic>
      <p:sp>
        <p:nvSpPr>
          <p:cNvPr id="20" name="Text 10"/>
          <p:cNvSpPr txBox="1"/>
          <p:nvPr/>
        </p:nvSpPr>
        <p:spPr>
          <a:xfrm>
            <a:off x="8595360" y="1417320"/>
            <a:ext cx="3017520" cy="822960"/>
          </a:xfrm>
          <a:prstGeom prst="rect">
            <a:avLst/>
          </a:prstGeom>
          <a:noFill/>
          <a:ln/>
        </p:spPr>
        <p:txBody>
          <a:bodyPr wrap="square" lIns="0" tIns="0" rIns="0" bIns="0" rtlCol="0" anchor="t"/>
          <a:lstStyle/>
          <a:p>
            <a:pPr marL="0" indent="0">
              <a:buNone/>
            </a:pPr>
            <a:r>
              <a:rPr lang="en-US" sz="5400" b="1" dirty="0">
                <a:solidFill>
                  <a:schemeClr val="accent1"/>
                </a:solidFill>
                <a:latin typeface="Cambria" pitchFamily="34" charset="0"/>
                <a:ea typeface="Cambria" pitchFamily="34" charset="-122"/>
                <a:cs typeface="Cambria" pitchFamily="34" charset="-120"/>
              </a:rPr>
              <a:t>34</a:t>
            </a:r>
            <a:endParaRPr lang="en-US" sz="5400" dirty="0"/>
          </a:p>
        </p:txBody>
      </p:sp>
      <p:sp>
        <p:nvSpPr>
          <p:cNvPr id="21" name="Text 11"/>
          <p:cNvSpPr txBox="1"/>
          <p:nvPr/>
        </p:nvSpPr>
        <p:spPr>
          <a:xfrm>
            <a:off x="8595360" y="2258568"/>
            <a:ext cx="3017520" cy="36576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objecten in de database</a:t>
            </a:r>
            <a:endParaRPr lang="en-US" sz="1400" dirty="0"/>
          </a:p>
        </p:txBody>
      </p:sp>
      <p:sp>
        <p:nvSpPr>
          <p:cNvPr id="22" name="Text 12"/>
          <p:cNvSpPr txBox="1"/>
          <p:nvPr/>
        </p:nvSpPr>
        <p:spPr>
          <a:xfrm>
            <a:off x="8595360" y="2880360"/>
            <a:ext cx="3017520" cy="822960"/>
          </a:xfrm>
          <a:prstGeom prst="rect">
            <a:avLst/>
          </a:prstGeom>
          <a:noFill/>
          <a:ln/>
        </p:spPr>
        <p:txBody>
          <a:bodyPr wrap="square" lIns="0" tIns="0" rIns="0" bIns="0" rtlCol="0" anchor="t"/>
          <a:lstStyle/>
          <a:p>
            <a:pPr marL="0" indent="0">
              <a:buNone/>
            </a:pPr>
            <a:r>
              <a:rPr lang="en-US" sz="5400" b="1" dirty="0">
                <a:solidFill>
                  <a:schemeClr val="accent1"/>
                </a:solidFill>
                <a:latin typeface="Cambria" pitchFamily="34" charset="0"/>
                <a:ea typeface="Cambria" pitchFamily="34" charset="-122"/>
                <a:cs typeface="Cambria" pitchFamily="34" charset="-120"/>
              </a:rPr>
              <a:t>46</a:t>
            </a:r>
            <a:endParaRPr lang="en-US" sz="5400" dirty="0"/>
          </a:p>
        </p:txBody>
      </p:sp>
      <p:sp>
        <p:nvSpPr>
          <p:cNvPr id="23" name="Text 13"/>
          <p:cNvSpPr txBox="1"/>
          <p:nvPr/>
        </p:nvSpPr>
        <p:spPr>
          <a:xfrm>
            <a:off x="8595360" y="3721608"/>
            <a:ext cx="3017520" cy="36576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foto's gekoppeld aan objecten</a:t>
            </a:r>
            <a:endParaRPr lang="en-US" sz="1400" dirty="0"/>
          </a:p>
        </p:txBody>
      </p:sp>
      <p:sp>
        <p:nvSpPr>
          <p:cNvPr id="24" name="Text 14"/>
          <p:cNvSpPr txBox="1"/>
          <p:nvPr/>
        </p:nvSpPr>
        <p:spPr>
          <a:xfrm>
            <a:off x="8595360" y="4343400"/>
            <a:ext cx="3017520" cy="822960"/>
          </a:xfrm>
          <a:prstGeom prst="rect">
            <a:avLst/>
          </a:prstGeom>
          <a:noFill/>
          <a:ln/>
        </p:spPr>
        <p:txBody>
          <a:bodyPr wrap="square" lIns="0" tIns="0" rIns="0" bIns="0" rtlCol="0" anchor="t"/>
          <a:lstStyle/>
          <a:p>
            <a:pPr marL="0" indent="0">
              <a:buNone/>
            </a:pPr>
            <a:r>
              <a:rPr lang="en-US" sz="5400" b="1" dirty="0">
                <a:solidFill>
                  <a:schemeClr val="accent2"/>
                </a:solidFill>
                <a:latin typeface="Cambria" pitchFamily="34" charset="0"/>
                <a:ea typeface="Cambria" pitchFamily="34" charset="-122"/>
                <a:cs typeface="Cambria" pitchFamily="34" charset="-120"/>
              </a:rPr>
              <a:t>33</a:t>
            </a:r>
            <a:endParaRPr lang="en-US" sz="5400" dirty="0"/>
          </a:p>
        </p:txBody>
      </p:sp>
      <p:sp>
        <p:nvSpPr>
          <p:cNvPr id="25" name="Text 15"/>
          <p:cNvSpPr txBox="1"/>
          <p:nvPr/>
        </p:nvSpPr>
        <p:spPr>
          <a:xfrm>
            <a:off x="8595360" y="5184648"/>
            <a:ext cx="3017520" cy="36576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objecten met een eigen tekst</a:t>
            </a:r>
            <a:endParaRPr lang="en-US" sz="1400" dirty="0"/>
          </a:p>
        </p:txBody>
      </p:sp>
      <p:sp>
        <p:nvSpPr>
          <p:cNvPr id="26"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5D52"/>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Stadsmuseum Veenendaal">
  <a:themeElements>
    <a:clrScheme name="Stadsmuseum Veenendaal">
      <a:dk1>
        <a:srgbClr val="111111"/>
      </a:dk1>
      <a:lt1>
        <a:srgbClr val="FFFFFF"/>
      </a:lt1>
      <a:dk2>
        <a:srgbClr val="4A3728"/>
      </a:dk2>
      <a:lt2>
        <a:srgbClr val="EFE8DC"/>
      </a:lt2>
      <a:accent1>
        <a:srgbClr val="8B4A3C"/>
      </a:accent1>
      <a:accent2>
        <a:srgbClr val="009CAD"/>
      </a:accent2>
      <a:accent3>
        <a:srgbClr val="C9A66B"/>
      </a:accent3>
      <a:accent4>
        <a:srgbClr val="6B5D52"/>
      </a:accent4>
      <a:accent5>
        <a:srgbClr val="6E8B74"/>
      </a:accent5>
      <a:accent6>
        <a:srgbClr val="2F3C7E"/>
      </a:accent6>
      <a:hlink>
        <a:srgbClr val="009CAD"/>
      </a:hlink>
      <a:folHlink>
        <a:srgbClr val="8B4A3C"/>
      </a:folHlink>
    </a:clrScheme>
    <a:fontScheme name="Stadsmuseum Veenenda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2090</Words>
  <Application>Microsoft Office PowerPoint</Application>
  <PresentationFormat>Breedbeeld</PresentationFormat>
  <Paragraphs>291</Paragraphs>
  <Slides>18</Slides>
  <Notes>18</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18</vt:i4>
      </vt:variant>
    </vt:vector>
  </HeadingPairs>
  <TitlesOfParts>
    <vt:vector size="22" baseType="lpstr">
      <vt:lpstr>Arial</vt:lpstr>
      <vt:lpstr>Calibri</vt:lpstr>
      <vt:lpstr>Cambria</vt:lpstr>
      <vt:lpstr>Stadsmuseum Veenendaal</vt:lpstr>
      <vt:lpstr>PowerPoint-presentatie</vt:lpstr>
      <vt:lpstr>Wat we vandaag laten zien</vt:lpstr>
      <vt:lpstr>Losse papieren geven bezoekers weinig overzicht</vt:lpstr>
      <vt:lpstr>Zo gebruikt een bezoeker de app</vt:lpstr>
      <vt:lpstr>Het museum beheert de objecten zelf</vt:lpstr>
      <vt:lpstr>Van eerste e-mail tot werkende app</vt:lpstr>
      <vt:lpstr>Huisstijl van het museum, kleuren uit de collectie</vt:lpstr>
      <vt:lpstr>Eerst geschetst, daarna gebouwd</vt:lpstr>
      <vt:lpstr>Gebouwd met Python, Kivy en SQLite</vt:lpstr>
      <vt:lpstr>Een nieuw framework, betere Python-code</vt:lpstr>
      <vt:lpstr>Duidelijke taken, elkaar helpen</vt:lpstr>
      <vt:lpstr>Wat we nog van jullie nodig hebben</vt:lpstr>
      <vt:lpstr>PowerPoint-presentatie</vt:lpstr>
      <vt:lpstr>PowerPoint-presentatie</vt:lpstr>
      <vt:lpstr>Voor elke bezoeker, zonder uitleg</vt:lpstr>
      <vt:lpstr>Het verhaal bij elk object</vt:lpstr>
      <vt:lpstr>De navigatie in twee diagrammen</vt:lpstr>
      <vt:lpstr>Echte objecten uit Veenendaal in de app</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Interactieve objectenwand – Stadsmuseum Veenendaal</dc:title>
  <dc:subject>PptxGenJS Presentation</dc:subject>
  <dc:creator>Efe Kahveci, Ufuk Durmus</dc:creator>
  <cp:lastModifiedBy>Ufuk Durmuş (student)</cp:lastModifiedBy>
  <cp:revision>1</cp:revision>
  <dcterms:created xsi:type="dcterms:W3CDTF">2026-10-30T12:28:22Z</dcterms:created>
  <dcterms:modified xsi:type="dcterms:W3CDTF">2026-10-30T12:34:27Z</dcterms:modified>
</cp:coreProperties>
</file>